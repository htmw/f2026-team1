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0287000" cx="18288000"/>
  <p:notesSz cx="10287000" cy="18288000"/>
  <p:embeddedFontLst>
    <p:embeddedFont>
      <p:font typeface="Montserrat SemiBold"/>
      <p:regular r:id="rId24"/>
      <p:bold r:id="rId25"/>
      <p:italic r:id="rId26"/>
      <p:boldItalic r:id="rId27"/>
    </p:embeddedFont>
    <p:embeddedFont>
      <p:font typeface="Montserrat"/>
      <p:regular r:id="rId28"/>
      <p:bold r:id="rId29"/>
      <p:italic r:id="rId30"/>
      <p:boldItalic r:id="rId31"/>
    </p:embeddedFont>
    <p:embeddedFont>
      <p:font typeface="Inter"/>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MontserratSemiBold-regular.fntdata"/><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MontserratSemiBold-italic.fntdata"/><Relationship Id="rId25" Type="http://schemas.openxmlformats.org/officeDocument/2006/relationships/font" Target="fonts/MontserratSemiBold-bold.fntdata"/><Relationship Id="rId28" Type="http://schemas.openxmlformats.org/officeDocument/2006/relationships/font" Target="fonts/Montserrat-regular.fntdata"/><Relationship Id="rId27" Type="http://schemas.openxmlformats.org/officeDocument/2006/relationships/font" Target="fonts/Montserrat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6.xml"/><Relationship Id="rId33" Type="http://schemas.openxmlformats.org/officeDocument/2006/relationships/font" Target="fonts/Inter-bold.fntdata"/><Relationship Id="rId10" Type="http://schemas.openxmlformats.org/officeDocument/2006/relationships/slide" Target="slides/slide5.xml"/><Relationship Id="rId32" Type="http://schemas.openxmlformats.org/officeDocument/2006/relationships/font" Target="fonts/Inter-regular.fntdata"/><Relationship Id="rId13" Type="http://schemas.openxmlformats.org/officeDocument/2006/relationships/slide" Target="slides/slide8.xml"/><Relationship Id="rId35" Type="http://schemas.openxmlformats.org/officeDocument/2006/relationships/font" Target="fonts/Inter-boldItalic.fntdata"/><Relationship Id="rId12" Type="http://schemas.openxmlformats.org/officeDocument/2006/relationships/slide" Target="slides/slide7.xml"/><Relationship Id="rId34" Type="http://schemas.openxmlformats.org/officeDocument/2006/relationships/font" Target="fonts/Inter-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Sprint 0 cover.</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Agenda — matches the Sprint 0 checklist order.</a:t>
            </a:r>
            <a:endParaRPr/>
          </a:p>
        </p:txBody>
      </p:sp>
      <p:sp>
        <p:nvSpPr>
          <p:cNvPr id="49" name="Google Shape;4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Seven team members. Fill in role and responsibilities for each.</a:t>
            </a:r>
            <a:endParaRPr/>
          </a:p>
        </p:txBody>
      </p:sp>
      <p:sp>
        <p:nvSpPr>
          <p:cNvPr id="85" name="Google Shape;8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Problem statement plus hypothesis, with cited evidence.</a:t>
            </a:r>
            <a:endParaRPr/>
          </a:p>
        </p:txBody>
      </p:sp>
      <p:sp>
        <p:nvSpPr>
          <p:cNvPr id="129" name="Google Shape;12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Hypothesis — what we believe and how we will know we are right.</a:t>
            </a:r>
            <a:endParaRPr/>
          </a:p>
        </p:txBody>
      </p:sp>
      <p:sp>
        <p:nvSpPr>
          <p:cNvPr id="151" name="Google Shape;1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Project description — what the project IS.</a:t>
            </a:r>
            <a:endParaRPr/>
          </a:p>
        </p:txBody>
      </p:sp>
      <p:sp>
        <p:nvSpPr>
          <p:cNvPr id="170" name="Google Shape;17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Steps 3 and 4 of the screening flow, plus scope boundary.</a:t>
            </a:r>
            <a:endParaRPr/>
          </a:p>
        </p:txBody>
      </p:sp>
      <p:sp>
        <p:nvSpPr>
          <p:cNvPr id="194" name="Google Shape;19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Persona 1 of 3 — Helen Whitfield, at-risk older adult.</a:t>
            </a:r>
            <a:endParaRPr/>
          </a:p>
        </p:txBody>
      </p:sp>
      <p:sp>
        <p:nvSpPr>
          <p:cNvPr id="219" name="Google Shape;21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Persona 2 of 3 — Arun Desai, screening technician.</a:t>
            </a:r>
            <a:endParaRPr/>
          </a:p>
        </p:txBody>
      </p:sp>
      <p:sp>
        <p:nvSpPr>
          <p:cNvPr id="258" name="Google Shape;2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Persona 3 of 3 — Dr. Maya Rao, primary care physician.</a:t>
            </a:r>
            <a:endParaRPr/>
          </a:p>
        </p:txBody>
      </p:sp>
      <p:sp>
        <p:nvSpPr>
          <p:cNvPr id="299" name="Google Shape;29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Walkthrough: capture, screen, review, next step.</a:t>
            </a:r>
            <a:endParaRPr/>
          </a:p>
        </p:txBody>
      </p:sp>
      <p:sp>
        <p:nvSpPr>
          <p:cNvPr id="340" name="Google Shape;34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f8e9b3d3a5_25_2:notes"/>
          <p:cNvSpPr/>
          <p:nvPr>
            <p:ph idx="2" type="sldImg"/>
          </p:nvPr>
        </p:nvSpPr>
        <p:spPr>
          <a:xfrm>
            <a:off x="0" y="0"/>
            <a:ext cx="4500000" cy="45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g3f8e9b3d3a5_25_2:notes"/>
          <p:cNvSpPr txBox="1"/>
          <p:nvPr>
            <p:ph idx="1" type="body"/>
          </p:nvPr>
        </p:nvSpPr>
        <p:spPr>
          <a:xfrm>
            <a:off x="0" y="0"/>
            <a:ext cx="4500000" cy="4500000"/>
          </a:xfrm>
          <a:prstGeom prst="rect">
            <a:avLst/>
          </a:prstGeom>
          <a:no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9" name="Google Shape;389;g3f8e9b3d3a5_25_2:notes"/>
          <p:cNvSpPr txBox="1"/>
          <p:nvPr>
            <p:ph idx="12" type="sldNum"/>
          </p:nvPr>
        </p:nvSpPr>
        <p:spPr>
          <a:xfrm>
            <a:off x="0" y="0"/>
            <a:ext cx="4500000" cy="4500000"/>
          </a:xfrm>
          <a:prstGeom prst="rect">
            <a:avLst/>
          </a:prstGeom>
          <a:noFill/>
          <a:ln>
            <a:noFill/>
          </a:ln>
        </p:spPr>
        <p:txBody>
          <a:bodyPr anchorCtr="0" anchor="t" bIns="68550" lIns="137150" spcFirstLastPara="1" rIns="137150" wrap="square" tIns="68550">
            <a:noAutofit/>
          </a:bodyPr>
          <a:lstStyle/>
          <a:p>
            <a:pPr indent="0" lvl="0" marL="0" marR="0" rtl="0" algn="l">
              <a:spcBef>
                <a:spcPts val="0"/>
              </a:spcBef>
              <a:spcAft>
                <a:spcPts val="0"/>
              </a:spcAft>
              <a:buNone/>
            </a:pPr>
            <a:fld id="{00000000-1234-1234-1234-123412341234}" type="slidenum">
              <a:rPr lang="en-US" sz="2700">
                <a:solidFill>
                  <a:schemeClr val="dk1"/>
                </a:solidFill>
                <a:latin typeface="Arial"/>
                <a:ea typeface="Arial"/>
                <a:cs typeface="Arial"/>
                <a:sym typeface="Arial"/>
              </a:rPr>
              <a:t>‹#›</a:t>
            </a:fld>
            <a:endParaRPr sz="27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Algorithms and evaluation plan.</a:t>
            </a:r>
            <a:endParaRPr/>
          </a:p>
        </p:txBody>
      </p:sp>
      <p:sp>
        <p:nvSpPr>
          <p:cNvPr id="481" name="Google Shape;48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Project schedule, cadence, and sprint deliverables.</a:t>
            </a:r>
            <a:endParaRPr/>
          </a:p>
        </p:txBody>
      </p:sp>
      <p:sp>
        <p:nvSpPr>
          <p:cNvPr id="530" name="Google Shape;53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Team working agreement.</a:t>
            </a:r>
            <a:endParaRPr/>
          </a:p>
        </p:txBody>
      </p:sp>
      <p:sp>
        <p:nvSpPr>
          <p:cNvPr id="560" name="Google Shape;56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Sprint 0 retrospective. Two actions feed the Sprint 1 backlog.</a:t>
            </a:r>
            <a:endParaRPr/>
          </a:p>
        </p:txBody>
      </p:sp>
      <p:sp>
        <p:nvSpPr>
          <p:cNvPr id="581" name="Google Shape;58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Group wiki link on its own slide, per the checklist.</a:t>
            </a:r>
            <a:endParaRPr/>
          </a:p>
        </p:txBody>
      </p:sp>
      <p:sp>
        <p:nvSpPr>
          <p:cNvPr id="608" name="Google Shape;60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slide.</a:t>
            </a:r>
            <a:endParaRPr/>
          </a:p>
        </p:txBody>
      </p:sp>
      <p:sp>
        <p:nvSpPr>
          <p:cNvPr id="622" name="Google Shape;62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3.jpg"/><Relationship Id="rId11" Type="http://schemas.openxmlformats.org/officeDocument/2006/relationships/image" Target="../media/image4.jpg"/><Relationship Id="rId10" Type="http://schemas.openxmlformats.org/officeDocument/2006/relationships/image" Target="../media/image31.jpg"/><Relationship Id="rId12" Type="http://schemas.openxmlformats.org/officeDocument/2006/relationships/image" Target="../media/image6.jpg"/><Relationship Id="rId9" Type="http://schemas.openxmlformats.org/officeDocument/2006/relationships/image" Target="../media/image1.jpg"/><Relationship Id="rId5" Type="http://schemas.openxmlformats.org/officeDocument/2006/relationships/image" Target="../media/image44.jpg"/><Relationship Id="rId6" Type="http://schemas.openxmlformats.org/officeDocument/2006/relationships/image" Target="../media/image30.jpg"/><Relationship Id="rId7" Type="http://schemas.openxmlformats.org/officeDocument/2006/relationships/image" Target="../media/image38.jpg"/><Relationship Id="rId8"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3.png"/><Relationship Id="rId10" Type="http://schemas.openxmlformats.org/officeDocument/2006/relationships/image" Target="../media/image16.png"/><Relationship Id="rId9" Type="http://schemas.openxmlformats.org/officeDocument/2006/relationships/image" Target="../media/image17.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40.png"/><Relationship Id="rId8"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32.jpg"/><Relationship Id="rId5" Type="http://schemas.openxmlformats.org/officeDocument/2006/relationships/image" Target="../media/image4.jpg"/><Relationship Id="rId6" Type="http://schemas.openxmlformats.org/officeDocument/2006/relationships/image" Target="../media/image30.jpg"/><Relationship Id="rId7" Type="http://schemas.openxmlformats.org/officeDocument/2006/relationships/image" Target="../media/image3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48.png"/><Relationship Id="rId5"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22.png"/><Relationship Id="rId5"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0.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50.png"/><Relationship Id="rId5" Type="http://schemas.openxmlformats.org/officeDocument/2006/relationships/image" Target="../media/image29.png"/><Relationship Id="rId6" Type="http://schemas.openxmlformats.org/officeDocument/2006/relationships/image" Target="../media/image5.jpg"/><Relationship Id="rId7" Type="http://schemas.openxmlformats.org/officeDocument/2006/relationships/image" Target="../media/image5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3.jpg"/><Relationship Id="rId5"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 name="Shape 17"/>
        <p:cNvGrpSpPr/>
        <p:nvPr/>
      </p:nvGrpSpPr>
      <p:grpSpPr>
        <a:xfrm>
          <a:off x="0" y="0"/>
          <a:ext cx="0" cy="0"/>
          <a:chOff x="0" y="0"/>
          <a:chExt cx="0" cy="0"/>
        </a:xfrm>
      </p:grpSpPr>
      <p:pic>
        <p:nvPicPr>
          <p:cNvPr descr="preencoded.png" id="18" name="Google Shape;18;p5"/>
          <p:cNvPicPr preferRelativeResize="0"/>
          <p:nvPr/>
        </p:nvPicPr>
        <p:blipFill rotWithShape="1">
          <a:blip r:embed="rId3">
            <a:alphaModFix/>
          </a:blip>
          <a:srcRect b="-3807" l="0" r="0" t="-3807"/>
          <a:stretch/>
        </p:blipFill>
        <p:spPr>
          <a:xfrm>
            <a:off x="952500" y="2687985"/>
            <a:ext cx="1143000" cy="1143000"/>
          </a:xfrm>
          <a:prstGeom prst="rect">
            <a:avLst/>
          </a:prstGeom>
          <a:noFill/>
          <a:ln>
            <a:noFill/>
          </a:ln>
        </p:spPr>
      </p:pic>
      <p:sp>
        <p:nvSpPr>
          <p:cNvPr id="19" name="Google Shape;19;p5"/>
          <p:cNvSpPr/>
          <p:nvPr/>
        </p:nvSpPr>
        <p:spPr>
          <a:xfrm>
            <a:off x="2343150" y="2861816"/>
            <a:ext cx="9525" cy="795338"/>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5"/>
          <p:cNvSpPr/>
          <p:nvPr/>
        </p:nvSpPr>
        <p:spPr>
          <a:xfrm>
            <a:off x="2600325" y="2861816"/>
            <a:ext cx="1164654"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TEAM</a:t>
            </a:r>
            <a:endParaRPr b="0" i="0" sz="1800" u="none" cap="none" strike="noStrike">
              <a:solidFill>
                <a:schemeClr val="dk1"/>
              </a:solidFill>
              <a:latin typeface="Calibri"/>
              <a:ea typeface="Calibri"/>
              <a:cs typeface="Calibri"/>
              <a:sym typeface="Calibri"/>
            </a:endParaRPr>
          </a:p>
        </p:txBody>
      </p:sp>
      <p:sp>
        <p:nvSpPr>
          <p:cNvPr id="21" name="Google Shape;21;p5"/>
          <p:cNvSpPr/>
          <p:nvPr/>
        </p:nvSpPr>
        <p:spPr>
          <a:xfrm>
            <a:off x="2600325" y="3195191"/>
            <a:ext cx="1164654" cy="500063"/>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3000"/>
              <a:buFont typeface="Montserrat"/>
              <a:buNone/>
            </a:pPr>
            <a:r>
              <a:rPr b="1" i="0" lang="en-US" sz="3000" u="none" cap="none" strike="noStrike">
                <a:solidFill>
                  <a:srgbClr val="111111"/>
                </a:solidFill>
                <a:latin typeface="Montserrat"/>
                <a:ea typeface="Montserrat"/>
                <a:cs typeface="Montserrat"/>
                <a:sym typeface="Montserrat"/>
              </a:rPr>
              <a:t>EyeQ</a:t>
            </a:r>
            <a:endParaRPr b="0" i="0" sz="3000" u="none" cap="none" strike="noStrike">
              <a:solidFill>
                <a:schemeClr val="dk1"/>
              </a:solidFill>
              <a:latin typeface="Calibri"/>
              <a:ea typeface="Calibri"/>
              <a:cs typeface="Calibri"/>
              <a:sym typeface="Calibri"/>
            </a:endParaRPr>
          </a:p>
        </p:txBody>
      </p:sp>
      <p:sp>
        <p:nvSpPr>
          <p:cNvPr id="22" name="Google Shape;22;p5"/>
          <p:cNvSpPr/>
          <p:nvPr/>
        </p:nvSpPr>
        <p:spPr>
          <a:xfrm>
            <a:off x="952500" y="4364385"/>
            <a:ext cx="8664647" cy="328613"/>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75"/>
              <a:buFont typeface="Montserrat"/>
              <a:buNone/>
            </a:pPr>
            <a:r>
              <a:rPr b="1" i="0" lang="en-US" sz="1875" u="none" cap="none" strike="noStrike">
                <a:solidFill>
                  <a:srgbClr val="1E6FBF"/>
                </a:solidFill>
                <a:latin typeface="Montserrat"/>
                <a:ea typeface="Montserrat"/>
                <a:cs typeface="Montserrat"/>
                <a:sym typeface="Montserrat"/>
              </a:rPr>
              <a:t>SPRINT 0</a:t>
            </a:r>
            <a:endParaRPr b="0" i="0" sz="1875" u="none" cap="none" strike="noStrike">
              <a:solidFill>
                <a:schemeClr val="dk1"/>
              </a:solidFill>
              <a:latin typeface="Calibri"/>
              <a:ea typeface="Calibri"/>
              <a:cs typeface="Calibri"/>
              <a:sym typeface="Calibri"/>
            </a:endParaRPr>
          </a:p>
        </p:txBody>
      </p:sp>
      <p:sp>
        <p:nvSpPr>
          <p:cNvPr id="23" name="Google Shape;23;p5"/>
          <p:cNvSpPr/>
          <p:nvPr/>
        </p:nvSpPr>
        <p:spPr>
          <a:xfrm>
            <a:off x="952500" y="4883497"/>
            <a:ext cx="8664647" cy="838200"/>
          </a:xfrm>
          <a:prstGeom prst="rect">
            <a:avLst/>
          </a:prstGeom>
          <a:noFill/>
          <a:ln>
            <a:noFill/>
          </a:ln>
        </p:spPr>
        <p:txBody>
          <a:bodyPr anchorCtr="0" anchor="t" bIns="25400" lIns="25400" spcFirstLastPara="1" rIns="25400" wrap="square" tIns="25400">
            <a:noAutofit/>
          </a:bodyPr>
          <a:lstStyle/>
          <a:p>
            <a:pPr indent="0" lvl="0" marL="0" marR="0" rtl="0" algn="l">
              <a:lnSpc>
                <a:spcPct val="81951"/>
              </a:lnSpc>
              <a:spcBef>
                <a:spcPts val="0"/>
              </a:spcBef>
              <a:spcAft>
                <a:spcPts val="0"/>
              </a:spcAft>
              <a:buClr>
                <a:srgbClr val="111111"/>
              </a:buClr>
              <a:buSzPts val="6300"/>
              <a:buFont typeface="Montserrat"/>
              <a:buNone/>
            </a:pPr>
            <a:r>
              <a:rPr b="1" i="0" lang="en-US" sz="6300" u="none" cap="none" strike="noStrike">
                <a:solidFill>
                  <a:srgbClr val="111111"/>
                </a:solidFill>
                <a:latin typeface="Montserrat"/>
                <a:ea typeface="Montserrat"/>
                <a:cs typeface="Montserrat"/>
                <a:sym typeface="Montserrat"/>
              </a:rPr>
              <a:t>DUAL</a:t>
            </a:r>
            <a:endParaRPr b="0" i="0" sz="6300" u="none" cap="none" strike="noStrike">
              <a:solidFill>
                <a:schemeClr val="dk1"/>
              </a:solidFill>
              <a:latin typeface="Calibri"/>
              <a:ea typeface="Calibri"/>
              <a:cs typeface="Calibri"/>
              <a:sym typeface="Calibri"/>
            </a:endParaRPr>
          </a:p>
        </p:txBody>
      </p:sp>
      <p:sp>
        <p:nvSpPr>
          <p:cNvPr id="24" name="Google Shape;24;p5"/>
          <p:cNvSpPr/>
          <p:nvPr/>
        </p:nvSpPr>
        <p:spPr>
          <a:xfrm>
            <a:off x="952500" y="5912197"/>
            <a:ext cx="8664647" cy="385763"/>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2250"/>
              <a:buFont typeface="Montserrat"/>
              <a:buNone/>
            </a:pPr>
            <a:r>
              <a:rPr b="0" i="0" lang="en-US" sz="2250" u="none" cap="none" strike="noStrike">
                <a:solidFill>
                  <a:srgbClr val="3D3D3D"/>
                </a:solidFill>
                <a:latin typeface="Montserrat"/>
                <a:ea typeface="Montserrat"/>
                <a:cs typeface="Montserrat"/>
                <a:sym typeface="Montserrat"/>
              </a:rPr>
              <a:t>OCULAR DISEASE SCREENER</a:t>
            </a:r>
            <a:endParaRPr b="0" i="0" sz="2250" u="none" cap="none" strike="noStrike">
              <a:solidFill>
                <a:schemeClr val="dk1"/>
              </a:solidFill>
              <a:latin typeface="Calibri"/>
              <a:ea typeface="Calibri"/>
              <a:cs typeface="Calibri"/>
              <a:sym typeface="Calibri"/>
            </a:endParaRPr>
          </a:p>
        </p:txBody>
      </p:sp>
      <p:sp>
        <p:nvSpPr>
          <p:cNvPr id="25" name="Google Shape;25;p5"/>
          <p:cNvSpPr/>
          <p:nvPr/>
        </p:nvSpPr>
        <p:spPr>
          <a:xfrm>
            <a:off x="952500" y="6488460"/>
            <a:ext cx="762000" cy="28575"/>
          </a:xfrm>
          <a:prstGeom prst="rect">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952500" y="6745635"/>
            <a:ext cx="7456170" cy="891480"/>
          </a:xfrm>
          <a:prstGeom prst="rect">
            <a:avLst/>
          </a:prstGeom>
          <a:noFill/>
          <a:ln>
            <a:noFill/>
          </a:ln>
        </p:spPr>
        <p:txBody>
          <a:bodyPr anchorCtr="0" anchor="t" bIns="25400" lIns="25400" spcFirstLastPara="1" rIns="25400" wrap="square" tIns="25400">
            <a:noAutofit/>
          </a:bodyPr>
          <a:lstStyle/>
          <a:p>
            <a:pPr indent="0" lvl="0" marL="0" marR="0" rtl="0" algn="l">
              <a:lnSpc>
                <a:spcPct val="131765"/>
              </a:lnSpc>
              <a:spcBef>
                <a:spcPts val="0"/>
              </a:spcBef>
              <a:spcAft>
                <a:spcPts val="0"/>
              </a:spcAft>
              <a:buClr>
                <a:srgbClr val="3D3D3D"/>
              </a:buClr>
              <a:buSzPts val="2100"/>
              <a:buFont typeface="Montserrat"/>
              <a:buNone/>
            </a:pPr>
            <a:r>
              <a:rPr b="0" i="0" lang="en-US" sz="2100" u="none" cap="none" strike="noStrike">
                <a:solidFill>
                  <a:srgbClr val="3D3D3D"/>
                </a:solidFill>
                <a:latin typeface="Montserrat"/>
                <a:ea typeface="Montserrat"/>
                <a:cs typeface="Montserrat"/>
                <a:sym typeface="Montserrat"/>
              </a:rPr>
              <a:t>AI-assisted screening for cataract and glaucoma from a single retinal photograph per eye.</a:t>
            </a:r>
            <a:endParaRPr b="0" i="0" sz="2100" u="none" cap="none" strike="noStrike">
              <a:solidFill>
                <a:schemeClr val="dk1"/>
              </a:solidFill>
              <a:latin typeface="Calibri"/>
              <a:ea typeface="Calibri"/>
              <a:cs typeface="Calibri"/>
              <a:sym typeface="Calibri"/>
            </a:endParaRPr>
          </a:p>
        </p:txBody>
      </p:sp>
      <p:sp>
        <p:nvSpPr>
          <p:cNvPr id="27" name="Google Shape;27;p5"/>
          <p:cNvSpPr/>
          <p:nvPr/>
        </p:nvSpPr>
        <p:spPr>
          <a:xfrm>
            <a:off x="9781952" y="0"/>
            <a:ext cx="8505974" cy="10287000"/>
          </a:xfrm>
          <a:prstGeom prst="rect">
            <a:avLst/>
          </a:prstGeom>
          <a:solidFill>
            <a:srgbClr val="11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p:nvPr/>
        </p:nvSpPr>
        <p:spPr>
          <a:xfrm>
            <a:off x="10825014" y="18764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5"/>
          <p:cNvPicPr preferRelativeResize="0"/>
          <p:nvPr/>
        </p:nvPicPr>
        <p:blipFill rotWithShape="1">
          <a:blip r:embed="rId4">
            <a:alphaModFix/>
          </a:blip>
          <a:srcRect b="0" l="0" r="0" t="0"/>
          <a:stretch/>
        </p:blipFill>
        <p:spPr>
          <a:xfrm>
            <a:off x="10844064" y="1895475"/>
            <a:ext cx="2000250" cy="2000250"/>
          </a:xfrm>
          <a:prstGeom prst="rect">
            <a:avLst/>
          </a:prstGeom>
          <a:noFill/>
          <a:ln>
            <a:noFill/>
          </a:ln>
        </p:spPr>
      </p:pic>
      <p:sp>
        <p:nvSpPr>
          <p:cNvPr id="30" name="Google Shape;30;p5"/>
          <p:cNvSpPr/>
          <p:nvPr/>
        </p:nvSpPr>
        <p:spPr>
          <a:xfrm>
            <a:off x="13034814" y="18764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 name="Google Shape;31;p5"/>
          <p:cNvPicPr preferRelativeResize="0"/>
          <p:nvPr/>
        </p:nvPicPr>
        <p:blipFill rotWithShape="1">
          <a:blip r:embed="rId5">
            <a:alphaModFix/>
          </a:blip>
          <a:srcRect b="0" l="1601" r="1601" t="0"/>
          <a:stretch/>
        </p:blipFill>
        <p:spPr>
          <a:xfrm>
            <a:off x="13053864" y="1895475"/>
            <a:ext cx="2000250" cy="2000250"/>
          </a:xfrm>
          <a:prstGeom prst="rect">
            <a:avLst/>
          </a:prstGeom>
          <a:noFill/>
          <a:ln>
            <a:noFill/>
          </a:ln>
        </p:spPr>
      </p:pic>
      <p:sp>
        <p:nvSpPr>
          <p:cNvPr id="32" name="Google Shape;32;p5"/>
          <p:cNvSpPr/>
          <p:nvPr/>
        </p:nvSpPr>
        <p:spPr>
          <a:xfrm>
            <a:off x="15244614" y="18764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5"/>
          <p:cNvPicPr preferRelativeResize="0"/>
          <p:nvPr/>
        </p:nvPicPr>
        <p:blipFill rotWithShape="1">
          <a:blip r:embed="rId6">
            <a:alphaModFix/>
          </a:blip>
          <a:srcRect b="0" l="0" r="0" t="0"/>
          <a:stretch/>
        </p:blipFill>
        <p:spPr>
          <a:xfrm>
            <a:off x="15263664" y="1895475"/>
            <a:ext cx="2000250" cy="2000250"/>
          </a:xfrm>
          <a:prstGeom prst="rect">
            <a:avLst/>
          </a:prstGeom>
          <a:noFill/>
          <a:ln>
            <a:noFill/>
          </a:ln>
        </p:spPr>
      </p:pic>
      <p:sp>
        <p:nvSpPr>
          <p:cNvPr id="34" name="Google Shape;34;p5"/>
          <p:cNvSpPr/>
          <p:nvPr/>
        </p:nvSpPr>
        <p:spPr>
          <a:xfrm>
            <a:off x="10825014" y="41243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 name="Google Shape;35;p5"/>
          <p:cNvPicPr preferRelativeResize="0"/>
          <p:nvPr/>
        </p:nvPicPr>
        <p:blipFill rotWithShape="1">
          <a:blip r:embed="rId7">
            <a:alphaModFix/>
          </a:blip>
          <a:srcRect b="0" l="1601" r="1601" t="0"/>
          <a:stretch/>
        </p:blipFill>
        <p:spPr>
          <a:xfrm>
            <a:off x="10844064" y="4143375"/>
            <a:ext cx="2000250" cy="2000250"/>
          </a:xfrm>
          <a:prstGeom prst="rect">
            <a:avLst/>
          </a:prstGeom>
          <a:noFill/>
          <a:ln>
            <a:noFill/>
          </a:ln>
        </p:spPr>
      </p:pic>
      <p:sp>
        <p:nvSpPr>
          <p:cNvPr id="36" name="Google Shape;36;p5"/>
          <p:cNvSpPr/>
          <p:nvPr/>
        </p:nvSpPr>
        <p:spPr>
          <a:xfrm>
            <a:off x="13034814" y="41243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5"/>
          <p:cNvPicPr preferRelativeResize="0"/>
          <p:nvPr/>
        </p:nvPicPr>
        <p:blipFill rotWithShape="1">
          <a:blip r:embed="rId8">
            <a:alphaModFix/>
          </a:blip>
          <a:srcRect b="0" l="0" r="0" t="0"/>
          <a:stretch/>
        </p:blipFill>
        <p:spPr>
          <a:xfrm>
            <a:off x="13053864" y="4143375"/>
            <a:ext cx="2000250" cy="2000250"/>
          </a:xfrm>
          <a:prstGeom prst="rect">
            <a:avLst/>
          </a:prstGeom>
          <a:noFill/>
          <a:ln>
            <a:noFill/>
          </a:ln>
        </p:spPr>
      </p:pic>
      <p:sp>
        <p:nvSpPr>
          <p:cNvPr id="38" name="Google Shape;38;p5"/>
          <p:cNvSpPr/>
          <p:nvPr/>
        </p:nvSpPr>
        <p:spPr>
          <a:xfrm>
            <a:off x="15244614" y="41243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 name="Google Shape;39;p5"/>
          <p:cNvPicPr preferRelativeResize="0"/>
          <p:nvPr/>
        </p:nvPicPr>
        <p:blipFill rotWithShape="1">
          <a:blip r:embed="rId9">
            <a:alphaModFix/>
          </a:blip>
          <a:srcRect b="0" l="0" r="0" t="0"/>
          <a:stretch/>
        </p:blipFill>
        <p:spPr>
          <a:xfrm>
            <a:off x="15263664" y="4143375"/>
            <a:ext cx="2000250" cy="2000250"/>
          </a:xfrm>
          <a:prstGeom prst="rect">
            <a:avLst/>
          </a:prstGeom>
          <a:noFill/>
          <a:ln>
            <a:noFill/>
          </a:ln>
        </p:spPr>
      </p:pic>
      <p:sp>
        <p:nvSpPr>
          <p:cNvPr id="40" name="Google Shape;40;p5"/>
          <p:cNvSpPr/>
          <p:nvPr/>
        </p:nvSpPr>
        <p:spPr>
          <a:xfrm>
            <a:off x="10825014" y="63722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5"/>
          <p:cNvPicPr preferRelativeResize="0"/>
          <p:nvPr/>
        </p:nvPicPr>
        <p:blipFill rotWithShape="1">
          <a:blip r:embed="rId10">
            <a:alphaModFix/>
          </a:blip>
          <a:srcRect b="0" l="0" r="0" t="0"/>
          <a:stretch/>
        </p:blipFill>
        <p:spPr>
          <a:xfrm>
            <a:off x="10844064" y="6391275"/>
            <a:ext cx="2000250" cy="2000250"/>
          </a:xfrm>
          <a:prstGeom prst="rect">
            <a:avLst/>
          </a:prstGeom>
          <a:noFill/>
          <a:ln>
            <a:noFill/>
          </a:ln>
        </p:spPr>
      </p:pic>
      <p:sp>
        <p:nvSpPr>
          <p:cNvPr id="42" name="Google Shape;42;p5"/>
          <p:cNvSpPr/>
          <p:nvPr/>
        </p:nvSpPr>
        <p:spPr>
          <a:xfrm>
            <a:off x="13034814" y="63722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 name="Google Shape;43;p5"/>
          <p:cNvPicPr preferRelativeResize="0"/>
          <p:nvPr/>
        </p:nvPicPr>
        <p:blipFill rotWithShape="1">
          <a:blip r:embed="rId11">
            <a:alphaModFix/>
          </a:blip>
          <a:srcRect b="0" l="422" r="422" t="0"/>
          <a:stretch/>
        </p:blipFill>
        <p:spPr>
          <a:xfrm>
            <a:off x="13053864" y="6391275"/>
            <a:ext cx="2000250" cy="2000250"/>
          </a:xfrm>
          <a:prstGeom prst="rect">
            <a:avLst/>
          </a:prstGeom>
          <a:noFill/>
          <a:ln>
            <a:noFill/>
          </a:ln>
        </p:spPr>
      </p:pic>
      <p:sp>
        <p:nvSpPr>
          <p:cNvPr id="44" name="Google Shape;44;p5"/>
          <p:cNvSpPr/>
          <p:nvPr/>
        </p:nvSpPr>
        <p:spPr>
          <a:xfrm>
            <a:off x="15244614" y="63722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5"/>
          <p:cNvPicPr preferRelativeResize="0"/>
          <p:nvPr/>
        </p:nvPicPr>
        <p:blipFill rotWithShape="1">
          <a:blip r:embed="rId12">
            <a:alphaModFix/>
          </a:blip>
          <a:srcRect b="41" l="0" r="0" t="41"/>
          <a:stretch/>
        </p:blipFill>
        <p:spPr>
          <a:xfrm>
            <a:off x="15263664" y="6391275"/>
            <a:ext cx="2000250" cy="2000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6"/>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p:nvPr/>
        </p:nvSpPr>
        <p:spPr>
          <a:xfrm>
            <a:off x="1047750" y="857250"/>
            <a:ext cx="499613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02 · AGENDA</a:t>
            </a:r>
            <a:endParaRPr b="0" i="0" sz="1800" u="none" cap="none" strike="noStrike">
              <a:solidFill>
                <a:schemeClr val="dk1"/>
              </a:solidFill>
              <a:latin typeface="Calibri"/>
              <a:ea typeface="Calibri"/>
              <a:cs typeface="Calibri"/>
              <a:sym typeface="Calibri"/>
            </a:endParaRPr>
          </a:p>
        </p:txBody>
      </p:sp>
      <p:sp>
        <p:nvSpPr>
          <p:cNvPr id="53" name="Google Shape;53;p6"/>
          <p:cNvSpPr/>
          <p:nvPr/>
        </p:nvSpPr>
        <p:spPr>
          <a:xfrm>
            <a:off x="1047750" y="1266825"/>
            <a:ext cx="4996130"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What we'll cover</a:t>
            </a:r>
            <a:endParaRPr b="0" i="0" sz="4200" u="none" cap="none" strike="noStrike">
              <a:solidFill>
                <a:schemeClr val="dk1"/>
              </a:solidFill>
              <a:latin typeface="Calibri"/>
              <a:ea typeface="Calibri"/>
              <a:cs typeface="Calibri"/>
              <a:sym typeface="Calibri"/>
            </a:endParaRPr>
          </a:p>
        </p:txBody>
      </p:sp>
      <p:pic>
        <p:nvPicPr>
          <p:cNvPr descr="preencoded.png" id="54" name="Google Shape;54;p6"/>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55" name="Google Shape;55;p6"/>
          <p:cNvSpPr/>
          <p:nvPr/>
        </p:nvSpPr>
        <p:spPr>
          <a:xfrm>
            <a:off x="1047750" y="4774406"/>
            <a:ext cx="7762875"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a:off x="1047750" y="4331494"/>
            <a:ext cx="49530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01</a:t>
            </a:r>
            <a:endParaRPr b="0" i="0" sz="1800" u="none" cap="none" strike="noStrike">
              <a:solidFill>
                <a:schemeClr val="dk1"/>
              </a:solidFill>
              <a:latin typeface="Calibri"/>
              <a:ea typeface="Calibri"/>
              <a:cs typeface="Calibri"/>
              <a:sym typeface="Calibri"/>
            </a:endParaRPr>
          </a:p>
        </p:txBody>
      </p:sp>
      <p:sp>
        <p:nvSpPr>
          <p:cNvPr id="57" name="Google Shape;57;p6"/>
          <p:cNvSpPr/>
          <p:nvPr/>
        </p:nvSpPr>
        <p:spPr>
          <a:xfrm>
            <a:off x="1676400" y="4283869"/>
            <a:ext cx="4658968" cy="3762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75"/>
              <a:buFont typeface="Montserrat"/>
              <a:buNone/>
            </a:pPr>
            <a:r>
              <a:rPr b="0" i="0" lang="en-US" sz="2175" u="none" cap="none" strike="noStrike">
                <a:solidFill>
                  <a:srgbClr val="111111"/>
                </a:solidFill>
                <a:latin typeface="Montserrat"/>
                <a:ea typeface="Montserrat"/>
                <a:cs typeface="Montserrat"/>
                <a:sym typeface="Montserrat"/>
              </a:rPr>
              <a:t>Team roles and responsibilities</a:t>
            </a:r>
            <a:endParaRPr b="0" i="0" sz="2175" u="none" cap="none" strike="noStrike">
              <a:solidFill>
                <a:schemeClr val="dk1"/>
              </a:solidFill>
              <a:latin typeface="Calibri"/>
              <a:ea typeface="Calibri"/>
              <a:cs typeface="Calibri"/>
              <a:sym typeface="Calibri"/>
            </a:endParaRPr>
          </a:p>
        </p:txBody>
      </p:sp>
      <p:sp>
        <p:nvSpPr>
          <p:cNvPr id="58" name="Google Shape;58;p6"/>
          <p:cNvSpPr/>
          <p:nvPr/>
        </p:nvSpPr>
        <p:spPr>
          <a:xfrm>
            <a:off x="1047750" y="5484019"/>
            <a:ext cx="7762875"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1047750" y="5041106"/>
            <a:ext cx="49530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02</a:t>
            </a:r>
            <a:endParaRPr b="0" i="0" sz="1800" u="none" cap="none" strike="noStrike">
              <a:solidFill>
                <a:schemeClr val="dk1"/>
              </a:solidFill>
              <a:latin typeface="Calibri"/>
              <a:ea typeface="Calibri"/>
              <a:cs typeface="Calibri"/>
              <a:sym typeface="Calibri"/>
            </a:endParaRPr>
          </a:p>
        </p:txBody>
      </p:sp>
      <p:sp>
        <p:nvSpPr>
          <p:cNvPr id="60" name="Google Shape;60;p6"/>
          <p:cNvSpPr/>
          <p:nvPr/>
        </p:nvSpPr>
        <p:spPr>
          <a:xfrm>
            <a:off x="1676400" y="4993481"/>
            <a:ext cx="5376103" cy="3762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75"/>
              <a:buFont typeface="Montserrat"/>
              <a:buNone/>
            </a:pPr>
            <a:r>
              <a:rPr b="0" i="0" lang="en-US" sz="2175" u="none" cap="none" strike="noStrike">
                <a:solidFill>
                  <a:srgbClr val="111111"/>
                </a:solidFill>
                <a:latin typeface="Montserrat"/>
                <a:ea typeface="Montserrat"/>
                <a:cs typeface="Montserrat"/>
                <a:sym typeface="Montserrat"/>
              </a:rPr>
              <a:t>Problem statement and hypothesis</a:t>
            </a:r>
            <a:endParaRPr b="0" i="0" sz="2175" u="none" cap="none" strike="noStrike">
              <a:solidFill>
                <a:schemeClr val="dk1"/>
              </a:solidFill>
              <a:latin typeface="Calibri"/>
              <a:ea typeface="Calibri"/>
              <a:cs typeface="Calibri"/>
              <a:sym typeface="Calibri"/>
            </a:endParaRPr>
          </a:p>
        </p:txBody>
      </p:sp>
      <p:sp>
        <p:nvSpPr>
          <p:cNvPr id="61" name="Google Shape;61;p6"/>
          <p:cNvSpPr/>
          <p:nvPr/>
        </p:nvSpPr>
        <p:spPr>
          <a:xfrm>
            <a:off x="1047750" y="6193631"/>
            <a:ext cx="7762875"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1047750" y="5750719"/>
            <a:ext cx="49530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03</a:t>
            </a:r>
            <a:endParaRPr b="0" i="0" sz="1800" u="none" cap="none" strike="noStrike">
              <a:solidFill>
                <a:schemeClr val="dk1"/>
              </a:solidFill>
              <a:latin typeface="Calibri"/>
              <a:ea typeface="Calibri"/>
              <a:cs typeface="Calibri"/>
              <a:sym typeface="Calibri"/>
            </a:endParaRPr>
          </a:p>
        </p:txBody>
      </p:sp>
      <p:sp>
        <p:nvSpPr>
          <p:cNvPr id="63" name="Google Shape;63;p6"/>
          <p:cNvSpPr/>
          <p:nvPr/>
        </p:nvSpPr>
        <p:spPr>
          <a:xfrm>
            <a:off x="1676400" y="5703094"/>
            <a:ext cx="2879184" cy="3762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75"/>
              <a:buFont typeface="Montserrat"/>
              <a:buNone/>
            </a:pPr>
            <a:r>
              <a:rPr b="0" i="0" lang="en-US" sz="2175" u="none" cap="none" strike="noStrike">
                <a:solidFill>
                  <a:srgbClr val="111111"/>
                </a:solidFill>
                <a:latin typeface="Montserrat"/>
                <a:ea typeface="Montserrat"/>
                <a:cs typeface="Montserrat"/>
                <a:sym typeface="Montserrat"/>
              </a:rPr>
              <a:t>Project description</a:t>
            </a:r>
            <a:endParaRPr b="0" i="0" sz="2175" u="none" cap="none" strike="noStrike">
              <a:solidFill>
                <a:schemeClr val="dk1"/>
              </a:solidFill>
              <a:latin typeface="Calibri"/>
              <a:ea typeface="Calibri"/>
              <a:cs typeface="Calibri"/>
              <a:sym typeface="Calibri"/>
            </a:endParaRPr>
          </a:p>
        </p:txBody>
      </p:sp>
      <p:sp>
        <p:nvSpPr>
          <p:cNvPr id="64" name="Google Shape;64;p6"/>
          <p:cNvSpPr/>
          <p:nvPr/>
        </p:nvSpPr>
        <p:spPr>
          <a:xfrm>
            <a:off x="1047750" y="6903244"/>
            <a:ext cx="7762875"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1047750" y="6460331"/>
            <a:ext cx="49530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04</a:t>
            </a:r>
            <a:endParaRPr b="0" i="0" sz="1800" u="none" cap="none" strike="noStrike">
              <a:solidFill>
                <a:schemeClr val="dk1"/>
              </a:solidFill>
              <a:latin typeface="Calibri"/>
              <a:ea typeface="Calibri"/>
              <a:cs typeface="Calibri"/>
              <a:sym typeface="Calibri"/>
            </a:endParaRPr>
          </a:p>
        </p:txBody>
      </p:sp>
      <p:sp>
        <p:nvSpPr>
          <p:cNvPr id="66" name="Google Shape;66;p6"/>
          <p:cNvSpPr/>
          <p:nvPr/>
        </p:nvSpPr>
        <p:spPr>
          <a:xfrm>
            <a:off x="1676400" y="6412706"/>
            <a:ext cx="1391216" cy="3762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75"/>
              <a:buFont typeface="Montserrat"/>
              <a:buNone/>
            </a:pPr>
            <a:r>
              <a:rPr b="0" i="0" lang="en-US" sz="2175" u="none" cap="none" strike="noStrike">
                <a:solidFill>
                  <a:srgbClr val="111111"/>
                </a:solidFill>
                <a:latin typeface="Montserrat"/>
                <a:ea typeface="Montserrat"/>
                <a:cs typeface="Montserrat"/>
                <a:sym typeface="Montserrat"/>
              </a:rPr>
              <a:t>Personas</a:t>
            </a:r>
            <a:endParaRPr b="0" i="0" sz="2175" u="none" cap="none" strike="noStrike">
              <a:solidFill>
                <a:schemeClr val="dk1"/>
              </a:solidFill>
              <a:latin typeface="Calibri"/>
              <a:ea typeface="Calibri"/>
              <a:cs typeface="Calibri"/>
              <a:sym typeface="Calibri"/>
            </a:endParaRPr>
          </a:p>
        </p:txBody>
      </p:sp>
      <p:sp>
        <p:nvSpPr>
          <p:cNvPr id="67" name="Google Shape;67;p6"/>
          <p:cNvSpPr/>
          <p:nvPr/>
        </p:nvSpPr>
        <p:spPr>
          <a:xfrm>
            <a:off x="1047750" y="7612856"/>
            <a:ext cx="7762875"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1047750" y="7169944"/>
            <a:ext cx="49530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05</a:t>
            </a:r>
            <a:endParaRPr b="0" i="0" sz="1800" u="none" cap="none" strike="noStrike">
              <a:solidFill>
                <a:schemeClr val="dk1"/>
              </a:solidFill>
              <a:latin typeface="Calibri"/>
              <a:ea typeface="Calibri"/>
              <a:cs typeface="Calibri"/>
              <a:sym typeface="Calibri"/>
            </a:endParaRPr>
          </a:p>
        </p:txBody>
      </p:sp>
      <p:sp>
        <p:nvSpPr>
          <p:cNvPr id="69" name="Google Shape;69;p6"/>
          <p:cNvSpPr/>
          <p:nvPr/>
        </p:nvSpPr>
        <p:spPr>
          <a:xfrm>
            <a:off x="1676400" y="7122319"/>
            <a:ext cx="2005868" cy="3762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75"/>
              <a:buFont typeface="Montserrat"/>
              <a:buNone/>
            </a:pPr>
            <a:r>
              <a:rPr b="0" i="0" lang="en-US" sz="2175" u="none" cap="none" strike="noStrike">
                <a:solidFill>
                  <a:srgbClr val="111111"/>
                </a:solidFill>
                <a:latin typeface="Montserrat"/>
                <a:ea typeface="Montserrat"/>
                <a:cs typeface="Montserrat"/>
                <a:sym typeface="Montserrat"/>
              </a:rPr>
              <a:t>Technologies</a:t>
            </a:r>
            <a:endParaRPr b="0" i="0" sz="2175" u="none" cap="none" strike="noStrike">
              <a:solidFill>
                <a:schemeClr val="dk1"/>
              </a:solidFill>
              <a:latin typeface="Calibri"/>
              <a:ea typeface="Calibri"/>
              <a:cs typeface="Calibri"/>
              <a:sym typeface="Calibri"/>
            </a:endParaRPr>
          </a:p>
        </p:txBody>
      </p:sp>
      <p:sp>
        <p:nvSpPr>
          <p:cNvPr id="70" name="Google Shape;70;p6"/>
          <p:cNvSpPr/>
          <p:nvPr/>
        </p:nvSpPr>
        <p:spPr>
          <a:xfrm>
            <a:off x="9477375" y="4774406"/>
            <a:ext cx="7762875"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9477375" y="4331494"/>
            <a:ext cx="49530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06</a:t>
            </a:r>
            <a:endParaRPr b="0" i="0" sz="1800" u="none" cap="none" strike="noStrike">
              <a:solidFill>
                <a:schemeClr val="dk1"/>
              </a:solidFill>
              <a:latin typeface="Calibri"/>
              <a:ea typeface="Calibri"/>
              <a:cs typeface="Calibri"/>
              <a:sym typeface="Calibri"/>
            </a:endParaRPr>
          </a:p>
        </p:txBody>
      </p:sp>
      <p:sp>
        <p:nvSpPr>
          <p:cNvPr id="72" name="Google Shape;72;p6"/>
          <p:cNvSpPr/>
          <p:nvPr/>
        </p:nvSpPr>
        <p:spPr>
          <a:xfrm>
            <a:off x="10106025" y="4283869"/>
            <a:ext cx="1696864" cy="3762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75"/>
              <a:buFont typeface="Montserrat"/>
              <a:buNone/>
            </a:pPr>
            <a:r>
              <a:rPr b="0" i="0" lang="en-US" sz="2175" u="none" cap="none" strike="noStrike">
                <a:solidFill>
                  <a:srgbClr val="111111"/>
                </a:solidFill>
                <a:latin typeface="Montserrat"/>
                <a:ea typeface="Montserrat"/>
                <a:cs typeface="Montserrat"/>
                <a:sym typeface="Montserrat"/>
              </a:rPr>
              <a:t>Algorithms</a:t>
            </a:r>
            <a:endParaRPr b="0" i="0" sz="2175" u="none" cap="none" strike="noStrike">
              <a:solidFill>
                <a:schemeClr val="dk1"/>
              </a:solidFill>
              <a:latin typeface="Calibri"/>
              <a:ea typeface="Calibri"/>
              <a:cs typeface="Calibri"/>
              <a:sym typeface="Calibri"/>
            </a:endParaRPr>
          </a:p>
        </p:txBody>
      </p:sp>
      <p:sp>
        <p:nvSpPr>
          <p:cNvPr id="73" name="Google Shape;73;p6"/>
          <p:cNvSpPr/>
          <p:nvPr/>
        </p:nvSpPr>
        <p:spPr>
          <a:xfrm>
            <a:off x="9477375" y="5484019"/>
            <a:ext cx="7762875"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9477375" y="5041106"/>
            <a:ext cx="49530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07</a:t>
            </a:r>
            <a:endParaRPr b="0" i="0" sz="1800" u="none" cap="none" strike="noStrike">
              <a:solidFill>
                <a:schemeClr val="dk1"/>
              </a:solidFill>
              <a:latin typeface="Calibri"/>
              <a:ea typeface="Calibri"/>
              <a:cs typeface="Calibri"/>
              <a:sym typeface="Calibri"/>
            </a:endParaRPr>
          </a:p>
        </p:txBody>
      </p:sp>
      <p:sp>
        <p:nvSpPr>
          <p:cNvPr id="75" name="Google Shape;75;p6"/>
          <p:cNvSpPr/>
          <p:nvPr/>
        </p:nvSpPr>
        <p:spPr>
          <a:xfrm>
            <a:off x="10106025" y="4993481"/>
            <a:ext cx="2543495" cy="3762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75"/>
              <a:buFont typeface="Montserrat"/>
              <a:buNone/>
            </a:pPr>
            <a:r>
              <a:rPr b="0" i="0" lang="en-US" sz="2175" u="none" cap="none" strike="noStrike">
                <a:solidFill>
                  <a:srgbClr val="111111"/>
                </a:solidFill>
                <a:latin typeface="Montserrat"/>
                <a:ea typeface="Montserrat"/>
                <a:cs typeface="Montserrat"/>
                <a:sym typeface="Montserrat"/>
              </a:rPr>
              <a:t>Project schedule</a:t>
            </a:r>
            <a:endParaRPr b="0" i="0" sz="2175" u="none" cap="none" strike="noStrike">
              <a:solidFill>
                <a:schemeClr val="dk1"/>
              </a:solidFill>
              <a:latin typeface="Calibri"/>
              <a:ea typeface="Calibri"/>
              <a:cs typeface="Calibri"/>
              <a:sym typeface="Calibri"/>
            </a:endParaRPr>
          </a:p>
        </p:txBody>
      </p:sp>
      <p:sp>
        <p:nvSpPr>
          <p:cNvPr id="76" name="Google Shape;76;p6"/>
          <p:cNvSpPr/>
          <p:nvPr/>
        </p:nvSpPr>
        <p:spPr>
          <a:xfrm>
            <a:off x="9477375" y="6193631"/>
            <a:ext cx="7762875"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9477375" y="5750719"/>
            <a:ext cx="49530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08</a:t>
            </a:r>
            <a:endParaRPr b="0" i="0" sz="1800" u="none" cap="none" strike="noStrike">
              <a:solidFill>
                <a:schemeClr val="dk1"/>
              </a:solidFill>
              <a:latin typeface="Calibri"/>
              <a:ea typeface="Calibri"/>
              <a:cs typeface="Calibri"/>
              <a:sym typeface="Calibri"/>
            </a:endParaRPr>
          </a:p>
        </p:txBody>
      </p:sp>
      <p:sp>
        <p:nvSpPr>
          <p:cNvPr id="78" name="Google Shape;78;p6"/>
          <p:cNvSpPr/>
          <p:nvPr/>
        </p:nvSpPr>
        <p:spPr>
          <a:xfrm>
            <a:off x="10106025" y="5703094"/>
            <a:ext cx="3954683" cy="3762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75"/>
              <a:buFont typeface="Montserrat"/>
              <a:buNone/>
            </a:pPr>
            <a:r>
              <a:rPr b="0" i="0" lang="en-US" sz="2175" u="none" cap="none" strike="noStrike">
                <a:solidFill>
                  <a:srgbClr val="111111"/>
                </a:solidFill>
                <a:latin typeface="Montserrat"/>
                <a:ea typeface="Montserrat"/>
                <a:cs typeface="Montserrat"/>
                <a:sym typeface="Montserrat"/>
              </a:rPr>
              <a:t>Team working agreement</a:t>
            </a:r>
            <a:endParaRPr b="0" i="0" sz="2175" u="none" cap="none" strike="noStrike">
              <a:solidFill>
                <a:schemeClr val="dk1"/>
              </a:solidFill>
              <a:latin typeface="Calibri"/>
              <a:ea typeface="Calibri"/>
              <a:cs typeface="Calibri"/>
              <a:sym typeface="Calibri"/>
            </a:endParaRPr>
          </a:p>
        </p:txBody>
      </p:sp>
      <p:sp>
        <p:nvSpPr>
          <p:cNvPr id="79" name="Google Shape;79;p6"/>
          <p:cNvSpPr/>
          <p:nvPr/>
        </p:nvSpPr>
        <p:spPr>
          <a:xfrm>
            <a:off x="9477375" y="6903244"/>
            <a:ext cx="7762875"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9477375" y="6460331"/>
            <a:ext cx="49530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09</a:t>
            </a:r>
            <a:endParaRPr b="0" i="0" sz="1800" u="none" cap="none" strike="noStrike">
              <a:solidFill>
                <a:schemeClr val="dk1"/>
              </a:solidFill>
              <a:latin typeface="Calibri"/>
              <a:ea typeface="Calibri"/>
              <a:cs typeface="Calibri"/>
              <a:sym typeface="Calibri"/>
            </a:endParaRPr>
          </a:p>
        </p:txBody>
      </p:sp>
      <p:sp>
        <p:nvSpPr>
          <p:cNvPr id="81" name="Google Shape;81;p6"/>
          <p:cNvSpPr/>
          <p:nvPr/>
        </p:nvSpPr>
        <p:spPr>
          <a:xfrm>
            <a:off x="10106025" y="6412706"/>
            <a:ext cx="3457329" cy="3762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75"/>
              <a:buFont typeface="Montserrat"/>
              <a:buNone/>
            </a:pPr>
            <a:r>
              <a:rPr b="0" i="0" lang="en-US" sz="2175" u="none" cap="none" strike="noStrike">
                <a:solidFill>
                  <a:srgbClr val="111111"/>
                </a:solidFill>
                <a:latin typeface="Montserrat"/>
                <a:ea typeface="Montserrat"/>
                <a:cs typeface="Montserrat"/>
                <a:sym typeface="Montserrat"/>
              </a:rPr>
              <a:t>Retrospective and wiki</a:t>
            </a:r>
            <a:endParaRPr b="0" i="0" sz="2175"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sp>
        <p:nvSpPr>
          <p:cNvPr id="87" name="Google Shape;87;p7"/>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1047750" y="857250"/>
            <a:ext cx="6943308"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03 · TEAM</a:t>
            </a:r>
            <a:endParaRPr b="0" i="0" sz="1800" u="none" cap="none" strike="noStrike">
              <a:solidFill>
                <a:schemeClr val="dk1"/>
              </a:solidFill>
              <a:latin typeface="Calibri"/>
              <a:ea typeface="Calibri"/>
              <a:cs typeface="Calibri"/>
              <a:sym typeface="Calibri"/>
            </a:endParaRPr>
          </a:p>
        </p:txBody>
      </p:sp>
      <p:sp>
        <p:nvSpPr>
          <p:cNvPr id="89" name="Google Shape;89;p7"/>
          <p:cNvSpPr/>
          <p:nvPr/>
        </p:nvSpPr>
        <p:spPr>
          <a:xfrm>
            <a:off x="1047750" y="1266825"/>
            <a:ext cx="6943308"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Roles &amp; responsibilities</a:t>
            </a:r>
            <a:endParaRPr b="0" i="0" sz="4200" u="none" cap="none" strike="noStrike">
              <a:solidFill>
                <a:schemeClr val="dk1"/>
              </a:solidFill>
              <a:latin typeface="Calibri"/>
              <a:ea typeface="Calibri"/>
              <a:cs typeface="Calibri"/>
              <a:sym typeface="Calibri"/>
            </a:endParaRPr>
          </a:p>
        </p:txBody>
      </p:sp>
      <p:pic>
        <p:nvPicPr>
          <p:cNvPr descr="preencoded.png" id="90" name="Google Shape;90;p7"/>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91" name="Google Shape;91;p7"/>
          <p:cNvSpPr/>
          <p:nvPr/>
        </p:nvSpPr>
        <p:spPr>
          <a:xfrm>
            <a:off x="1047750" y="2457450"/>
            <a:ext cx="3905250" cy="3409950"/>
          </a:xfrm>
          <a:prstGeom prst="roundRect">
            <a:avLst>
              <a:gd fmla="val 4469"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1219200" y="262890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7"/>
          <p:cNvPicPr preferRelativeResize="0"/>
          <p:nvPr/>
        </p:nvPicPr>
        <p:blipFill rotWithShape="1">
          <a:blip r:embed="rId4">
            <a:alphaModFix/>
          </a:blip>
          <a:srcRect b="0" l="0" r="0" t="0"/>
          <a:stretch/>
        </p:blipFill>
        <p:spPr>
          <a:xfrm>
            <a:off x="1219200" y="2628900"/>
            <a:ext cx="1600200" cy="1600200"/>
          </a:xfrm>
          <a:prstGeom prst="rect">
            <a:avLst/>
          </a:prstGeom>
          <a:noFill/>
          <a:ln>
            <a:noFill/>
          </a:ln>
        </p:spPr>
      </p:pic>
      <p:sp>
        <p:nvSpPr>
          <p:cNvPr id="94" name="Google Shape;94;p7"/>
          <p:cNvSpPr/>
          <p:nvPr/>
        </p:nvSpPr>
        <p:spPr>
          <a:xfrm>
            <a:off x="1219200" y="4343400"/>
            <a:ext cx="3918585" cy="34669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Anel Bazarbayeva</a:t>
            </a:r>
            <a:endParaRPr b="0" i="0" sz="2025" u="none" cap="none" strike="noStrike">
              <a:solidFill>
                <a:schemeClr val="dk1"/>
              </a:solidFill>
              <a:latin typeface="Calibri"/>
              <a:ea typeface="Calibri"/>
              <a:cs typeface="Calibri"/>
              <a:sym typeface="Calibri"/>
            </a:endParaRPr>
          </a:p>
        </p:txBody>
      </p:sp>
      <p:sp>
        <p:nvSpPr>
          <p:cNvPr id="95" name="Google Shape;95;p7"/>
          <p:cNvSpPr/>
          <p:nvPr/>
        </p:nvSpPr>
        <p:spPr>
          <a:xfrm>
            <a:off x="1236225" y="4838704"/>
            <a:ext cx="3421500" cy="60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lang="en-US" sz="1800">
                <a:solidFill>
                  <a:srgbClr val="3D3D3D"/>
                </a:solidFill>
                <a:latin typeface="Montserrat"/>
                <a:ea typeface="Montserrat"/>
                <a:cs typeface="Montserrat"/>
                <a:sym typeface="Montserrat"/>
              </a:rPr>
              <a:t>Scrum Master, MLOps/ Integration Developer</a:t>
            </a:r>
            <a:endParaRPr b="0" i="0" sz="1800" u="none" cap="none" strike="noStrike">
              <a:solidFill>
                <a:schemeClr val="dk1"/>
              </a:solidFill>
              <a:latin typeface="Calibri"/>
              <a:ea typeface="Calibri"/>
              <a:cs typeface="Calibri"/>
              <a:sym typeface="Calibri"/>
            </a:endParaRPr>
          </a:p>
        </p:txBody>
      </p:sp>
      <p:sp>
        <p:nvSpPr>
          <p:cNvPr id="96" name="Google Shape;96;p7"/>
          <p:cNvSpPr/>
          <p:nvPr/>
        </p:nvSpPr>
        <p:spPr>
          <a:xfrm>
            <a:off x="5143500" y="2457450"/>
            <a:ext cx="3905250" cy="3409950"/>
          </a:xfrm>
          <a:prstGeom prst="roundRect">
            <a:avLst>
              <a:gd fmla="val 4469"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5314950" y="262890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 name="Google Shape;98;p7"/>
          <p:cNvPicPr preferRelativeResize="0"/>
          <p:nvPr/>
        </p:nvPicPr>
        <p:blipFill rotWithShape="1">
          <a:blip r:embed="rId5">
            <a:alphaModFix/>
          </a:blip>
          <a:srcRect b="0" l="0" r="0" t="0"/>
          <a:stretch/>
        </p:blipFill>
        <p:spPr>
          <a:xfrm>
            <a:off x="5314950" y="2628900"/>
            <a:ext cx="1600200" cy="1600200"/>
          </a:xfrm>
          <a:prstGeom prst="rect">
            <a:avLst/>
          </a:prstGeom>
          <a:noFill/>
          <a:ln>
            <a:noFill/>
          </a:ln>
        </p:spPr>
      </p:pic>
      <p:sp>
        <p:nvSpPr>
          <p:cNvPr id="99" name="Google Shape;99;p7"/>
          <p:cNvSpPr/>
          <p:nvPr/>
        </p:nvSpPr>
        <p:spPr>
          <a:xfrm>
            <a:off x="5314950" y="4324350"/>
            <a:ext cx="3918585" cy="34669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Negar Kamvij</a:t>
            </a:r>
            <a:endParaRPr b="0" i="0" sz="2025" u="none" cap="none" strike="noStrike">
              <a:solidFill>
                <a:schemeClr val="dk1"/>
              </a:solidFill>
              <a:latin typeface="Calibri"/>
              <a:ea typeface="Calibri"/>
              <a:cs typeface="Calibri"/>
              <a:sym typeface="Calibri"/>
            </a:endParaRPr>
          </a:p>
        </p:txBody>
      </p:sp>
      <p:sp>
        <p:nvSpPr>
          <p:cNvPr id="100" name="Google Shape;100;p7"/>
          <p:cNvSpPr/>
          <p:nvPr/>
        </p:nvSpPr>
        <p:spPr>
          <a:xfrm>
            <a:off x="5325652" y="4844045"/>
            <a:ext cx="3421500" cy="60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lang="en-US" sz="1800">
                <a:solidFill>
                  <a:srgbClr val="3D3D3D"/>
                </a:solidFill>
                <a:latin typeface="Montserrat"/>
                <a:ea typeface="Montserrat"/>
                <a:cs typeface="Montserrat"/>
                <a:sym typeface="Montserrat"/>
              </a:rPr>
              <a:t>ML Developer, External Validation &amp; Calibration</a:t>
            </a:r>
            <a:endParaRPr b="0" i="0" sz="1800" u="none" cap="none" strike="noStrike">
              <a:solidFill>
                <a:schemeClr val="dk1"/>
              </a:solidFill>
              <a:latin typeface="Calibri"/>
              <a:ea typeface="Calibri"/>
              <a:cs typeface="Calibri"/>
              <a:sym typeface="Calibri"/>
            </a:endParaRPr>
          </a:p>
        </p:txBody>
      </p:sp>
      <p:sp>
        <p:nvSpPr>
          <p:cNvPr id="101" name="Google Shape;101;p7"/>
          <p:cNvSpPr/>
          <p:nvPr/>
        </p:nvSpPr>
        <p:spPr>
          <a:xfrm>
            <a:off x="9239250" y="2457450"/>
            <a:ext cx="3905250" cy="3409950"/>
          </a:xfrm>
          <a:prstGeom prst="roundRect">
            <a:avLst>
              <a:gd fmla="val 4469"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9410700" y="262890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 name="Google Shape;103;p7"/>
          <p:cNvPicPr preferRelativeResize="0"/>
          <p:nvPr/>
        </p:nvPicPr>
        <p:blipFill rotWithShape="1">
          <a:blip r:embed="rId6">
            <a:alphaModFix/>
          </a:blip>
          <a:srcRect b="0" l="0" r="0" t="0"/>
          <a:stretch/>
        </p:blipFill>
        <p:spPr>
          <a:xfrm>
            <a:off x="9410700" y="2628900"/>
            <a:ext cx="1600200" cy="1600200"/>
          </a:xfrm>
          <a:prstGeom prst="rect">
            <a:avLst/>
          </a:prstGeom>
          <a:noFill/>
          <a:ln>
            <a:noFill/>
          </a:ln>
        </p:spPr>
      </p:pic>
      <p:sp>
        <p:nvSpPr>
          <p:cNvPr id="104" name="Google Shape;104;p7"/>
          <p:cNvSpPr/>
          <p:nvPr/>
        </p:nvSpPr>
        <p:spPr>
          <a:xfrm>
            <a:off x="9410700" y="4324350"/>
            <a:ext cx="3918585" cy="34669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Shridhi Patel</a:t>
            </a:r>
            <a:endParaRPr b="0" i="0" sz="2025" u="none" cap="none" strike="noStrike">
              <a:solidFill>
                <a:schemeClr val="dk1"/>
              </a:solidFill>
              <a:latin typeface="Calibri"/>
              <a:ea typeface="Calibri"/>
              <a:cs typeface="Calibri"/>
              <a:sym typeface="Calibri"/>
            </a:endParaRPr>
          </a:p>
        </p:txBody>
      </p:sp>
      <p:sp>
        <p:nvSpPr>
          <p:cNvPr id="105" name="Google Shape;105;p7"/>
          <p:cNvSpPr/>
          <p:nvPr/>
        </p:nvSpPr>
        <p:spPr>
          <a:xfrm>
            <a:off x="9395396" y="4851381"/>
            <a:ext cx="3421500" cy="856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lang="en-US" sz="1800">
                <a:solidFill>
                  <a:srgbClr val="3D3D3D"/>
                </a:solidFill>
                <a:latin typeface="Montserrat"/>
                <a:ea typeface="Montserrat"/>
                <a:cs typeface="Montserrat"/>
                <a:sym typeface="Montserrat"/>
              </a:rPr>
              <a:t>Team Leader, ML Developer, Glaucoma Lead &amp; Data Pipeline Developer</a:t>
            </a:r>
            <a:endParaRPr b="0" i="0" sz="1800" u="none" cap="none" strike="noStrike">
              <a:solidFill>
                <a:schemeClr val="dk1"/>
              </a:solidFill>
              <a:latin typeface="Calibri"/>
              <a:ea typeface="Calibri"/>
              <a:cs typeface="Calibri"/>
              <a:sym typeface="Calibri"/>
            </a:endParaRPr>
          </a:p>
        </p:txBody>
      </p:sp>
      <p:sp>
        <p:nvSpPr>
          <p:cNvPr id="106" name="Google Shape;106;p7"/>
          <p:cNvSpPr/>
          <p:nvPr/>
        </p:nvSpPr>
        <p:spPr>
          <a:xfrm>
            <a:off x="13335000" y="2457450"/>
            <a:ext cx="3905250" cy="3409950"/>
          </a:xfrm>
          <a:prstGeom prst="roundRect">
            <a:avLst>
              <a:gd fmla="val 4469"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13506450" y="262890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 name="Google Shape;108;p7"/>
          <p:cNvPicPr preferRelativeResize="0"/>
          <p:nvPr/>
        </p:nvPicPr>
        <p:blipFill rotWithShape="1">
          <a:blip r:embed="rId7">
            <a:alphaModFix/>
          </a:blip>
          <a:srcRect b="0" l="0" r="0" t="0"/>
          <a:stretch/>
        </p:blipFill>
        <p:spPr>
          <a:xfrm>
            <a:off x="13506450" y="2628900"/>
            <a:ext cx="1600200" cy="1600200"/>
          </a:xfrm>
          <a:prstGeom prst="rect">
            <a:avLst/>
          </a:prstGeom>
          <a:noFill/>
          <a:ln>
            <a:noFill/>
          </a:ln>
        </p:spPr>
      </p:pic>
      <p:sp>
        <p:nvSpPr>
          <p:cNvPr id="109" name="Google Shape;109;p7"/>
          <p:cNvSpPr/>
          <p:nvPr/>
        </p:nvSpPr>
        <p:spPr>
          <a:xfrm>
            <a:off x="13506450" y="4324350"/>
            <a:ext cx="3918585" cy="34669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Bhoami Khona</a:t>
            </a:r>
            <a:endParaRPr b="0" i="0" sz="2025" u="none" cap="none" strike="noStrike">
              <a:solidFill>
                <a:schemeClr val="dk1"/>
              </a:solidFill>
              <a:latin typeface="Calibri"/>
              <a:ea typeface="Calibri"/>
              <a:cs typeface="Calibri"/>
              <a:sym typeface="Calibri"/>
            </a:endParaRPr>
          </a:p>
        </p:txBody>
      </p:sp>
      <p:sp>
        <p:nvSpPr>
          <p:cNvPr id="110" name="Google Shape;110;p7"/>
          <p:cNvSpPr/>
          <p:nvPr/>
        </p:nvSpPr>
        <p:spPr>
          <a:xfrm>
            <a:off x="13630275" y="4813920"/>
            <a:ext cx="3421571"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lang="en-US" sz="1800">
                <a:solidFill>
                  <a:srgbClr val="3D3D3D"/>
                </a:solidFill>
                <a:latin typeface="Montserrat"/>
                <a:ea typeface="Montserrat"/>
                <a:cs typeface="Montserrat"/>
                <a:sym typeface="Montserrat"/>
              </a:rPr>
              <a:t>Frontend Developer</a:t>
            </a:r>
            <a:endParaRPr b="0" i="0" sz="1800" u="none" cap="none" strike="noStrike">
              <a:solidFill>
                <a:schemeClr val="dk1"/>
              </a:solidFill>
              <a:latin typeface="Calibri"/>
              <a:ea typeface="Calibri"/>
              <a:cs typeface="Calibri"/>
              <a:sym typeface="Calibri"/>
            </a:endParaRPr>
          </a:p>
        </p:txBody>
      </p:sp>
      <p:sp>
        <p:nvSpPr>
          <p:cNvPr id="111" name="Google Shape;111;p7"/>
          <p:cNvSpPr/>
          <p:nvPr/>
        </p:nvSpPr>
        <p:spPr>
          <a:xfrm>
            <a:off x="1047750" y="6057900"/>
            <a:ext cx="3905250" cy="3371850"/>
          </a:xfrm>
          <a:prstGeom prst="roundRect">
            <a:avLst>
              <a:gd fmla="val 4520"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1219200" y="622935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7"/>
          <p:cNvPicPr preferRelativeResize="0"/>
          <p:nvPr/>
        </p:nvPicPr>
        <p:blipFill rotWithShape="1">
          <a:blip r:embed="rId8">
            <a:alphaModFix/>
          </a:blip>
          <a:srcRect b="0" l="0" r="0" t="0"/>
          <a:stretch/>
        </p:blipFill>
        <p:spPr>
          <a:xfrm>
            <a:off x="1219200" y="6229350"/>
            <a:ext cx="1600200" cy="1600200"/>
          </a:xfrm>
          <a:prstGeom prst="rect">
            <a:avLst/>
          </a:prstGeom>
          <a:noFill/>
          <a:ln>
            <a:noFill/>
          </a:ln>
        </p:spPr>
      </p:pic>
      <p:sp>
        <p:nvSpPr>
          <p:cNvPr id="114" name="Google Shape;114;p7"/>
          <p:cNvSpPr/>
          <p:nvPr/>
        </p:nvSpPr>
        <p:spPr>
          <a:xfrm>
            <a:off x="1219200" y="7924800"/>
            <a:ext cx="3918585" cy="34669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Krushiben Patel</a:t>
            </a:r>
            <a:endParaRPr b="0" i="0" sz="2025" u="none" cap="none" strike="noStrike">
              <a:solidFill>
                <a:schemeClr val="dk1"/>
              </a:solidFill>
              <a:latin typeface="Calibri"/>
              <a:ea typeface="Calibri"/>
              <a:cs typeface="Calibri"/>
              <a:sym typeface="Calibri"/>
            </a:endParaRPr>
          </a:p>
        </p:txBody>
      </p:sp>
      <p:sp>
        <p:nvSpPr>
          <p:cNvPr id="115" name="Google Shape;115;p7"/>
          <p:cNvSpPr/>
          <p:nvPr/>
        </p:nvSpPr>
        <p:spPr>
          <a:xfrm>
            <a:off x="1214598" y="8414370"/>
            <a:ext cx="3421500" cy="3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lang="en-US" sz="1800">
                <a:solidFill>
                  <a:srgbClr val="3D3D3D"/>
                </a:solidFill>
                <a:latin typeface="Montserrat"/>
                <a:ea typeface="Montserrat"/>
                <a:cs typeface="Montserrat"/>
                <a:sym typeface="Montserrat"/>
              </a:rPr>
              <a:t>Data Pipeline Developer</a:t>
            </a:r>
            <a:endParaRPr b="0" i="0" sz="1800" u="none" cap="none" strike="noStrike">
              <a:solidFill>
                <a:schemeClr val="dk1"/>
              </a:solidFill>
              <a:latin typeface="Calibri"/>
              <a:ea typeface="Calibri"/>
              <a:cs typeface="Calibri"/>
              <a:sym typeface="Calibri"/>
            </a:endParaRPr>
          </a:p>
        </p:txBody>
      </p:sp>
      <p:sp>
        <p:nvSpPr>
          <p:cNvPr id="116" name="Google Shape;116;p7"/>
          <p:cNvSpPr/>
          <p:nvPr/>
        </p:nvSpPr>
        <p:spPr>
          <a:xfrm>
            <a:off x="5143500" y="6057900"/>
            <a:ext cx="3905250" cy="3371850"/>
          </a:xfrm>
          <a:prstGeom prst="roundRect">
            <a:avLst>
              <a:gd fmla="val 4520"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5314950" y="622935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 name="Google Shape;118;p7"/>
          <p:cNvPicPr preferRelativeResize="0"/>
          <p:nvPr/>
        </p:nvPicPr>
        <p:blipFill rotWithShape="1">
          <a:blip r:embed="rId9">
            <a:alphaModFix/>
          </a:blip>
          <a:srcRect b="0" l="0" r="0" t="0"/>
          <a:stretch/>
        </p:blipFill>
        <p:spPr>
          <a:xfrm>
            <a:off x="5314950" y="6229350"/>
            <a:ext cx="1600200" cy="1600200"/>
          </a:xfrm>
          <a:prstGeom prst="rect">
            <a:avLst/>
          </a:prstGeom>
          <a:noFill/>
          <a:ln>
            <a:noFill/>
          </a:ln>
        </p:spPr>
      </p:pic>
      <p:sp>
        <p:nvSpPr>
          <p:cNvPr id="119" name="Google Shape;119;p7"/>
          <p:cNvSpPr/>
          <p:nvPr/>
        </p:nvSpPr>
        <p:spPr>
          <a:xfrm>
            <a:off x="5347057" y="7924800"/>
            <a:ext cx="3918600" cy="346800"/>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Ansh Kevadiya</a:t>
            </a:r>
            <a:endParaRPr b="0" i="0" sz="2025" u="none" cap="none" strike="noStrike">
              <a:solidFill>
                <a:schemeClr val="dk1"/>
              </a:solidFill>
              <a:latin typeface="Calibri"/>
              <a:ea typeface="Calibri"/>
              <a:cs typeface="Calibri"/>
              <a:sym typeface="Calibri"/>
            </a:endParaRPr>
          </a:p>
        </p:txBody>
      </p:sp>
      <p:sp>
        <p:nvSpPr>
          <p:cNvPr id="120" name="Google Shape;120;p7"/>
          <p:cNvSpPr/>
          <p:nvPr/>
        </p:nvSpPr>
        <p:spPr>
          <a:xfrm>
            <a:off x="5330997" y="8414370"/>
            <a:ext cx="3421500" cy="3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lang="en-US" sz="1800">
                <a:solidFill>
                  <a:srgbClr val="3D3D3D"/>
                </a:solidFill>
                <a:latin typeface="Montserrat"/>
                <a:ea typeface="Montserrat"/>
                <a:cs typeface="Montserrat"/>
                <a:sym typeface="Montserrat"/>
              </a:rPr>
              <a:t>ML Developer, </a:t>
            </a:r>
            <a:endParaRPr b="1" sz="1800">
              <a:solidFill>
                <a:srgbClr val="3D3D3D"/>
              </a:solidFill>
              <a:latin typeface="Montserrat"/>
              <a:ea typeface="Montserrat"/>
              <a:cs typeface="Montserrat"/>
              <a:sym typeface="Montserrat"/>
            </a:endParaRPr>
          </a:p>
          <a:p>
            <a:pPr indent="0" lvl="0" marL="0" marR="0" rtl="0" algn="l">
              <a:spcBef>
                <a:spcPts val="0"/>
              </a:spcBef>
              <a:spcAft>
                <a:spcPts val="0"/>
              </a:spcAft>
              <a:buClr>
                <a:srgbClr val="3D3D3D"/>
              </a:buClr>
              <a:buSzPts val="1800"/>
              <a:buFont typeface="Montserrat"/>
              <a:buNone/>
            </a:pPr>
            <a:r>
              <a:rPr b="1" lang="en-US" sz="1800">
                <a:solidFill>
                  <a:srgbClr val="3D3D3D"/>
                </a:solidFill>
                <a:latin typeface="Montserrat"/>
                <a:ea typeface="Montserrat"/>
                <a:cs typeface="Montserrat"/>
                <a:sym typeface="Montserrat"/>
              </a:rPr>
              <a:t>Cataract Lead</a:t>
            </a:r>
            <a:endParaRPr b="0" i="0" sz="1800" u="none" cap="none" strike="noStrike">
              <a:solidFill>
                <a:schemeClr val="dk1"/>
              </a:solidFill>
              <a:latin typeface="Calibri"/>
              <a:ea typeface="Calibri"/>
              <a:cs typeface="Calibri"/>
              <a:sym typeface="Calibri"/>
            </a:endParaRPr>
          </a:p>
        </p:txBody>
      </p:sp>
      <p:sp>
        <p:nvSpPr>
          <p:cNvPr id="121" name="Google Shape;121;p7"/>
          <p:cNvSpPr/>
          <p:nvPr/>
        </p:nvSpPr>
        <p:spPr>
          <a:xfrm>
            <a:off x="9239250" y="6057900"/>
            <a:ext cx="3905250" cy="3371850"/>
          </a:xfrm>
          <a:prstGeom prst="roundRect">
            <a:avLst>
              <a:gd fmla="val 4520"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9410700" y="622935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3" name="Google Shape;123;p7"/>
          <p:cNvPicPr preferRelativeResize="0"/>
          <p:nvPr/>
        </p:nvPicPr>
        <p:blipFill rotWithShape="1">
          <a:blip r:embed="rId10">
            <a:alphaModFix/>
          </a:blip>
          <a:srcRect b="0" l="0" r="0" t="0"/>
          <a:stretch/>
        </p:blipFill>
        <p:spPr>
          <a:xfrm>
            <a:off x="9410700" y="6229350"/>
            <a:ext cx="1600200" cy="1600200"/>
          </a:xfrm>
          <a:prstGeom prst="rect">
            <a:avLst/>
          </a:prstGeom>
          <a:noFill/>
          <a:ln>
            <a:noFill/>
          </a:ln>
        </p:spPr>
      </p:pic>
      <p:sp>
        <p:nvSpPr>
          <p:cNvPr id="124" name="Google Shape;124;p7"/>
          <p:cNvSpPr/>
          <p:nvPr/>
        </p:nvSpPr>
        <p:spPr>
          <a:xfrm>
            <a:off x="9410700" y="7924800"/>
            <a:ext cx="3918585" cy="34669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Smit Meghapara</a:t>
            </a:r>
            <a:endParaRPr b="0" i="0" sz="2025" u="none" cap="none" strike="noStrike">
              <a:solidFill>
                <a:schemeClr val="dk1"/>
              </a:solidFill>
              <a:latin typeface="Calibri"/>
              <a:ea typeface="Calibri"/>
              <a:cs typeface="Calibri"/>
              <a:sym typeface="Calibri"/>
            </a:endParaRPr>
          </a:p>
        </p:txBody>
      </p:sp>
      <p:sp>
        <p:nvSpPr>
          <p:cNvPr id="125" name="Google Shape;125;p7"/>
          <p:cNvSpPr/>
          <p:nvPr/>
        </p:nvSpPr>
        <p:spPr>
          <a:xfrm>
            <a:off x="9411597" y="8420586"/>
            <a:ext cx="3421500" cy="60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lang="en-US" sz="1800">
                <a:solidFill>
                  <a:srgbClr val="3D3D3D"/>
                </a:solidFill>
                <a:latin typeface="Montserrat"/>
                <a:ea typeface="Montserrat"/>
                <a:cs typeface="Montserrat"/>
                <a:sym typeface="Montserrat"/>
              </a:rPr>
              <a:t>ML Developer, Interpretability &amp; Safety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8"/>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1047750" y="857250"/>
            <a:ext cx="588720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04 · THE PROBLEM</a:t>
            </a:r>
            <a:endParaRPr b="0" i="0" sz="1800" u="none" cap="none" strike="noStrike">
              <a:solidFill>
                <a:schemeClr val="dk1"/>
              </a:solidFill>
              <a:latin typeface="Calibri"/>
              <a:ea typeface="Calibri"/>
              <a:cs typeface="Calibri"/>
              <a:sym typeface="Calibri"/>
            </a:endParaRPr>
          </a:p>
        </p:txBody>
      </p:sp>
      <p:sp>
        <p:nvSpPr>
          <p:cNvPr id="133" name="Google Shape;133;p8"/>
          <p:cNvSpPr/>
          <p:nvPr/>
        </p:nvSpPr>
        <p:spPr>
          <a:xfrm>
            <a:off x="1047750" y="1266825"/>
            <a:ext cx="5887209"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Problem statement</a:t>
            </a:r>
            <a:endParaRPr b="0" i="0" sz="4200" u="none" cap="none" strike="noStrike">
              <a:solidFill>
                <a:schemeClr val="dk1"/>
              </a:solidFill>
              <a:latin typeface="Calibri"/>
              <a:ea typeface="Calibri"/>
              <a:cs typeface="Calibri"/>
              <a:sym typeface="Calibri"/>
            </a:endParaRPr>
          </a:p>
        </p:txBody>
      </p:sp>
      <p:pic>
        <p:nvPicPr>
          <p:cNvPr descr="preencoded.png" id="134" name="Google Shape;134;p8"/>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135" name="Google Shape;135;p8"/>
          <p:cNvSpPr/>
          <p:nvPr/>
        </p:nvSpPr>
        <p:spPr>
          <a:xfrm>
            <a:off x="1047750" y="2495550"/>
            <a:ext cx="9604348"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PROBLEM STATEMENT</a:t>
            </a:r>
            <a:endParaRPr b="0" i="0" sz="1800" u="none" cap="none" strike="noStrike">
              <a:solidFill>
                <a:schemeClr val="dk1"/>
              </a:solidFill>
              <a:latin typeface="Calibri"/>
              <a:ea typeface="Calibri"/>
              <a:cs typeface="Calibri"/>
              <a:sym typeface="Calibri"/>
            </a:endParaRPr>
          </a:p>
        </p:txBody>
      </p:sp>
      <p:sp>
        <p:nvSpPr>
          <p:cNvPr id="136" name="Google Shape;136;p8"/>
          <p:cNvSpPr/>
          <p:nvPr/>
        </p:nvSpPr>
        <p:spPr>
          <a:xfrm>
            <a:off x="1047750" y="2905125"/>
            <a:ext cx="8731225" cy="3267075"/>
          </a:xfrm>
          <a:prstGeom prst="roundRect">
            <a:avLst>
              <a:gd fmla="val 4665"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1352550" y="3209925"/>
            <a:ext cx="8383562" cy="2695575"/>
          </a:xfrm>
          <a:prstGeom prst="rect">
            <a:avLst/>
          </a:prstGeom>
          <a:noFill/>
          <a:ln>
            <a:noFill/>
          </a:ln>
        </p:spPr>
        <p:txBody>
          <a:bodyPr anchorCtr="0" anchor="t" bIns="25400" lIns="25400" spcFirstLastPara="1" rIns="25400" wrap="square" tIns="25400">
            <a:noAutofit/>
          </a:bodyPr>
          <a:lstStyle/>
          <a:p>
            <a:pPr indent="0" lvl="0" marL="0" marR="0" rtl="0" algn="l">
              <a:lnSpc>
                <a:spcPct val="122368"/>
              </a:lnSpc>
              <a:spcBef>
                <a:spcPts val="0"/>
              </a:spcBef>
              <a:spcAft>
                <a:spcPts val="0"/>
              </a:spcAft>
              <a:buClr>
                <a:srgbClr val="3D3D3D"/>
              </a:buClr>
              <a:buSzPts val="2325"/>
              <a:buFont typeface="Montserrat"/>
              <a:buNone/>
            </a:pPr>
            <a:r>
              <a:rPr b="0" i="0" lang="en-US" sz="2325" u="none" cap="none" strike="noStrike">
                <a:solidFill>
                  <a:srgbClr val="3D3D3D"/>
                </a:solidFill>
                <a:latin typeface="Montserrat"/>
                <a:ea typeface="Montserrat"/>
                <a:cs typeface="Montserrat"/>
                <a:sym typeface="Montserrat"/>
              </a:rPr>
              <a:t>Cataract and glaucoma cause a large share of the world's vision loss, but they fail patients in opposite ways: cataract is treatable if caught, glaucoma has no symptoms until the damage is already permanent. Both require routine screening that many at-risk patients never get.</a:t>
            </a:r>
            <a:endParaRPr b="0" i="0" sz="2325" u="none" cap="none" strike="noStrike">
              <a:solidFill>
                <a:schemeClr val="dk1"/>
              </a:solidFill>
              <a:latin typeface="Calibri"/>
              <a:ea typeface="Calibri"/>
              <a:cs typeface="Calibri"/>
              <a:sym typeface="Calibri"/>
            </a:endParaRPr>
          </a:p>
        </p:txBody>
      </p:sp>
      <p:sp>
        <p:nvSpPr>
          <p:cNvPr id="138" name="Google Shape;138;p8"/>
          <p:cNvSpPr/>
          <p:nvPr/>
        </p:nvSpPr>
        <p:spPr>
          <a:xfrm>
            <a:off x="10255225" y="2495550"/>
            <a:ext cx="768344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EVIDENCE TO CITE</a:t>
            </a:r>
            <a:endParaRPr b="0" i="0" sz="1800" u="none" cap="none" strike="noStrike">
              <a:solidFill>
                <a:schemeClr val="dk1"/>
              </a:solidFill>
              <a:latin typeface="Calibri"/>
              <a:ea typeface="Calibri"/>
              <a:cs typeface="Calibri"/>
              <a:sym typeface="Calibri"/>
            </a:endParaRPr>
          </a:p>
        </p:txBody>
      </p:sp>
      <p:sp>
        <p:nvSpPr>
          <p:cNvPr id="139" name="Google Shape;139;p8"/>
          <p:cNvSpPr/>
          <p:nvPr/>
        </p:nvSpPr>
        <p:spPr>
          <a:xfrm>
            <a:off x="10255225" y="2943225"/>
            <a:ext cx="6984950" cy="5171926"/>
          </a:xfrm>
          <a:prstGeom prst="roundRect">
            <a:avLst>
              <a:gd fmla="val 2947"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10521925" y="3209925"/>
            <a:ext cx="7096705" cy="647700"/>
          </a:xfrm>
          <a:prstGeom prst="rect">
            <a:avLst/>
          </a:prstGeom>
          <a:noFill/>
          <a:ln>
            <a:noFill/>
          </a:ln>
        </p:spPr>
        <p:txBody>
          <a:bodyPr anchorCtr="0" anchor="t" bIns="25400" lIns="25400" spcFirstLastPara="1" rIns="25400" wrap="square" tIns="25400">
            <a:noAutofit/>
          </a:bodyPr>
          <a:lstStyle/>
          <a:p>
            <a:pPr indent="0" lvl="0" marL="0" marR="0" rtl="0" algn="l">
              <a:lnSpc>
                <a:spcPct val="82051"/>
              </a:lnSpc>
              <a:spcBef>
                <a:spcPts val="0"/>
              </a:spcBef>
              <a:spcAft>
                <a:spcPts val="0"/>
              </a:spcAft>
              <a:buClr>
                <a:srgbClr val="1E6FBF"/>
              </a:buClr>
              <a:buSzPts val="4800"/>
              <a:buFont typeface="Montserrat"/>
              <a:buNone/>
            </a:pPr>
            <a:r>
              <a:rPr b="1" i="0" lang="en-US" sz="4800" u="none" cap="none" strike="noStrike">
                <a:solidFill>
                  <a:srgbClr val="1E6FBF"/>
                </a:solidFill>
                <a:latin typeface="Montserrat"/>
                <a:ea typeface="Montserrat"/>
                <a:cs typeface="Montserrat"/>
                <a:sym typeface="Montserrat"/>
              </a:rPr>
              <a:t>45%</a:t>
            </a:r>
            <a:endParaRPr b="0" i="0" sz="4800" u="none" cap="none" strike="noStrike">
              <a:solidFill>
                <a:schemeClr val="dk1"/>
              </a:solidFill>
              <a:latin typeface="Calibri"/>
              <a:ea typeface="Calibri"/>
              <a:cs typeface="Calibri"/>
              <a:sym typeface="Calibri"/>
            </a:endParaRPr>
          </a:p>
        </p:txBody>
      </p:sp>
      <p:sp>
        <p:nvSpPr>
          <p:cNvPr id="141" name="Google Shape;141;p8"/>
          <p:cNvSpPr/>
          <p:nvPr/>
        </p:nvSpPr>
        <p:spPr>
          <a:xfrm>
            <a:off x="10521925" y="3895725"/>
            <a:ext cx="6645097"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11111"/>
              </a:buClr>
              <a:buSzPts val="2025"/>
              <a:buFont typeface="Montserrat"/>
              <a:buNone/>
            </a:pPr>
            <a:r>
              <a:rPr b="0" i="0" lang="en-US" sz="2025" u="none" cap="none" strike="noStrike">
                <a:solidFill>
                  <a:srgbClr val="111111"/>
                </a:solidFill>
                <a:latin typeface="Montserrat"/>
                <a:ea typeface="Montserrat"/>
                <a:cs typeface="Montserrat"/>
                <a:sym typeface="Montserrat"/>
              </a:rPr>
              <a:t>of global blindness caused by cataract </a:t>
            </a:r>
            <a:r>
              <a:rPr b="0" i="0" lang="en-US" sz="2025" u="none" cap="none" strike="noStrike">
                <a:solidFill>
                  <a:srgbClr val="3D3D3D"/>
                </a:solidFill>
                <a:latin typeface="Montserrat"/>
                <a:ea typeface="Montserrat"/>
                <a:cs typeface="Montserrat"/>
                <a:sym typeface="Montserrat"/>
              </a:rPr>
              <a:t>(WHO / GBD 2020)</a:t>
            </a:r>
            <a:endParaRPr b="0" i="0" sz="2025" u="none" cap="none" strike="noStrike">
              <a:solidFill>
                <a:schemeClr val="dk1"/>
              </a:solidFill>
              <a:latin typeface="Calibri"/>
              <a:ea typeface="Calibri"/>
              <a:cs typeface="Calibri"/>
              <a:sym typeface="Calibri"/>
            </a:endParaRPr>
          </a:p>
        </p:txBody>
      </p:sp>
      <p:sp>
        <p:nvSpPr>
          <p:cNvPr id="142" name="Google Shape;142;p8"/>
          <p:cNvSpPr/>
          <p:nvPr/>
        </p:nvSpPr>
        <p:spPr>
          <a:xfrm>
            <a:off x="10521925" y="4806255"/>
            <a:ext cx="645155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10521925" y="5006280"/>
            <a:ext cx="7096705" cy="647700"/>
          </a:xfrm>
          <a:prstGeom prst="rect">
            <a:avLst/>
          </a:prstGeom>
          <a:noFill/>
          <a:ln>
            <a:noFill/>
          </a:ln>
        </p:spPr>
        <p:txBody>
          <a:bodyPr anchorCtr="0" anchor="t" bIns="25400" lIns="25400" spcFirstLastPara="1" rIns="25400" wrap="square" tIns="25400">
            <a:noAutofit/>
          </a:bodyPr>
          <a:lstStyle/>
          <a:p>
            <a:pPr indent="0" lvl="0" marL="0" marR="0" rtl="0" algn="l">
              <a:lnSpc>
                <a:spcPct val="82051"/>
              </a:lnSpc>
              <a:spcBef>
                <a:spcPts val="0"/>
              </a:spcBef>
              <a:spcAft>
                <a:spcPts val="0"/>
              </a:spcAft>
              <a:buClr>
                <a:srgbClr val="1E6FBF"/>
              </a:buClr>
              <a:buSzPts val="4800"/>
              <a:buFont typeface="Montserrat"/>
              <a:buNone/>
            </a:pPr>
            <a:r>
              <a:rPr b="1" i="0" lang="en-US" sz="4800" u="none" cap="none" strike="noStrike">
                <a:solidFill>
                  <a:srgbClr val="1E6FBF"/>
                </a:solidFill>
                <a:latin typeface="Montserrat"/>
                <a:ea typeface="Montserrat"/>
                <a:cs typeface="Montserrat"/>
                <a:sym typeface="Montserrat"/>
              </a:rPr>
              <a:t>Half</a:t>
            </a:r>
            <a:endParaRPr b="0" i="0" sz="4800" u="none" cap="none" strike="noStrike">
              <a:solidFill>
                <a:schemeClr val="dk1"/>
              </a:solidFill>
              <a:latin typeface="Calibri"/>
              <a:ea typeface="Calibri"/>
              <a:cs typeface="Calibri"/>
              <a:sym typeface="Calibri"/>
            </a:endParaRPr>
          </a:p>
        </p:txBody>
      </p:sp>
      <p:sp>
        <p:nvSpPr>
          <p:cNvPr id="144" name="Google Shape;144;p8"/>
          <p:cNvSpPr/>
          <p:nvPr/>
        </p:nvSpPr>
        <p:spPr>
          <a:xfrm>
            <a:off x="10521925" y="5692080"/>
            <a:ext cx="7096705"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11111"/>
              </a:buClr>
              <a:buSzPts val="2025"/>
              <a:buFont typeface="Montserrat"/>
              <a:buNone/>
            </a:pPr>
            <a:r>
              <a:rPr b="0" i="0" lang="en-US" sz="2025" u="none" cap="none" strike="noStrike">
                <a:solidFill>
                  <a:srgbClr val="111111"/>
                </a:solidFill>
                <a:latin typeface="Montserrat"/>
                <a:ea typeface="Montserrat"/>
                <a:cs typeface="Montserrat"/>
                <a:sym typeface="Montserrat"/>
              </a:rPr>
              <a:t>of US glaucoma cases go undiagnosed </a:t>
            </a:r>
            <a:r>
              <a:rPr b="0" i="0" lang="en-US" sz="2025" u="none" cap="none" strike="noStrike">
                <a:solidFill>
                  <a:srgbClr val="3D3D3D"/>
                </a:solidFill>
                <a:latin typeface="Montserrat"/>
                <a:ea typeface="Montserrat"/>
                <a:cs typeface="Montserrat"/>
                <a:sym typeface="Montserrat"/>
              </a:rPr>
              <a:t>(CDC)</a:t>
            </a:r>
            <a:endParaRPr b="0" i="0" sz="2025" u="none" cap="none" strike="noStrike">
              <a:solidFill>
                <a:schemeClr val="dk1"/>
              </a:solidFill>
              <a:latin typeface="Calibri"/>
              <a:ea typeface="Calibri"/>
              <a:cs typeface="Calibri"/>
              <a:sym typeface="Calibri"/>
            </a:endParaRPr>
          </a:p>
        </p:txBody>
      </p:sp>
      <p:sp>
        <p:nvSpPr>
          <p:cNvPr id="145" name="Google Shape;145;p8"/>
          <p:cNvSpPr/>
          <p:nvPr/>
        </p:nvSpPr>
        <p:spPr>
          <a:xfrm>
            <a:off x="10521925" y="6242596"/>
            <a:ext cx="645155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10521925" y="6442621"/>
            <a:ext cx="7096705" cy="647700"/>
          </a:xfrm>
          <a:prstGeom prst="rect">
            <a:avLst/>
          </a:prstGeom>
          <a:noFill/>
          <a:ln>
            <a:noFill/>
          </a:ln>
        </p:spPr>
        <p:txBody>
          <a:bodyPr anchorCtr="0" anchor="t" bIns="25400" lIns="25400" spcFirstLastPara="1" rIns="25400" wrap="square" tIns="25400">
            <a:noAutofit/>
          </a:bodyPr>
          <a:lstStyle/>
          <a:p>
            <a:pPr indent="0" lvl="0" marL="0" marR="0" rtl="0" algn="l">
              <a:lnSpc>
                <a:spcPct val="82051"/>
              </a:lnSpc>
              <a:spcBef>
                <a:spcPts val="0"/>
              </a:spcBef>
              <a:spcAft>
                <a:spcPts val="0"/>
              </a:spcAft>
              <a:buClr>
                <a:srgbClr val="B5573F"/>
              </a:buClr>
              <a:buSzPts val="4800"/>
              <a:buFont typeface="Montserrat"/>
              <a:buNone/>
            </a:pPr>
            <a:r>
              <a:rPr b="1" i="0" lang="en-US" sz="4800" u="none" cap="none" strike="noStrike">
                <a:solidFill>
                  <a:srgbClr val="B5573F"/>
                </a:solidFill>
                <a:latin typeface="Montserrat"/>
                <a:ea typeface="Montserrat"/>
                <a:cs typeface="Montserrat"/>
                <a:sym typeface="Montserrat"/>
              </a:rPr>
              <a:t>0.90 → 0.58</a:t>
            </a:r>
            <a:endParaRPr b="0" i="0" sz="4800" u="none" cap="none" strike="noStrike">
              <a:solidFill>
                <a:schemeClr val="dk1"/>
              </a:solidFill>
              <a:latin typeface="Calibri"/>
              <a:ea typeface="Calibri"/>
              <a:cs typeface="Calibri"/>
              <a:sym typeface="Calibri"/>
            </a:endParaRPr>
          </a:p>
        </p:txBody>
      </p:sp>
      <p:sp>
        <p:nvSpPr>
          <p:cNvPr id="147" name="Google Shape;147;p8"/>
          <p:cNvSpPr/>
          <p:nvPr/>
        </p:nvSpPr>
        <p:spPr>
          <a:xfrm>
            <a:off x="10521925" y="7128421"/>
            <a:ext cx="6645097"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11111"/>
              </a:buClr>
              <a:buSzPts val="2025"/>
              <a:buFont typeface="Montserrat"/>
              <a:buNone/>
            </a:pPr>
            <a:r>
              <a:rPr b="0" i="0" lang="en-US" sz="2025" u="none" cap="none" strike="noStrike">
                <a:solidFill>
                  <a:srgbClr val="111111"/>
                </a:solidFill>
                <a:latin typeface="Montserrat"/>
                <a:ea typeface="Montserrat"/>
                <a:cs typeface="Montserrat"/>
                <a:sym typeface="Montserrat"/>
              </a:rPr>
              <a:t>AI screeners: AUC in-house drops across sites </a:t>
            </a:r>
            <a:r>
              <a:rPr b="0" i="0" lang="en-US" sz="2025" u="none" cap="none" strike="noStrike">
                <a:solidFill>
                  <a:srgbClr val="3D3D3D"/>
                </a:solidFill>
                <a:latin typeface="Montserrat"/>
                <a:ea typeface="Montserrat"/>
                <a:cs typeface="Montserrat"/>
                <a:sym typeface="Montserrat"/>
              </a:rPr>
              <a:t>(J Clin Med, 2026)</a:t>
            </a:r>
            <a:endParaRPr b="0" i="0" sz="2025"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9"/>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1047750" y="857250"/>
            <a:ext cx="3386606"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04 · THE PROBLEM</a:t>
            </a:r>
            <a:endParaRPr b="0" i="0" sz="1800" u="none" cap="none" strike="noStrike">
              <a:solidFill>
                <a:schemeClr val="dk1"/>
              </a:solidFill>
              <a:latin typeface="Calibri"/>
              <a:ea typeface="Calibri"/>
              <a:cs typeface="Calibri"/>
              <a:sym typeface="Calibri"/>
            </a:endParaRPr>
          </a:p>
        </p:txBody>
      </p:sp>
      <p:sp>
        <p:nvSpPr>
          <p:cNvPr id="155" name="Google Shape;155;p9"/>
          <p:cNvSpPr/>
          <p:nvPr/>
        </p:nvSpPr>
        <p:spPr>
          <a:xfrm>
            <a:off x="1047750" y="1266825"/>
            <a:ext cx="3386606"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Hypothesis</a:t>
            </a:r>
            <a:endParaRPr b="0" i="0" sz="4200" u="none" cap="none" strike="noStrike">
              <a:solidFill>
                <a:schemeClr val="dk1"/>
              </a:solidFill>
              <a:latin typeface="Calibri"/>
              <a:ea typeface="Calibri"/>
              <a:cs typeface="Calibri"/>
              <a:sym typeface="Calibri"/>
            </a:endParaRPr>
          </a:p>
        </p:txBody>
      </p:sp>
      <p:pic>
        <p:nvPicPr>
          <p:cNvPr descr="preencoded.png" id="156" name="Google Shape;156;p9"/>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157" name="Google Shape;157;p9"/>
          <p:cNvSpPr/>
          <p:nvPr/>
        </p:nvSpPr>
        <p:spPr>
          <a:xfrm>
            <a:off x="1047750" y="2495550"/>
            <a:ext cx="9028435" cy="2476500"/>
          </a:xfrm>
          <a:prstGeom prst="roundRect">
            <a:avLst>
              <a:gd fmla="val 6154"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1047750" y="2495550"/>
            <a:ext cx="38100" cy="2476500"/>
          </a:xfrm>
          <a:prstGeom prst="rect">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1409700" y="2819400"/>
            <a:ext cx="8613488" cy="1866900"/>
          </a:xfrm>
          <a:prstGeom prst="rect">
            <a:avLst/>
          </a:prstGeom>
          <a:noFill/>
          <a:ln>
            <a:noFill/>
          </a:ln>
        </p:spPr>
        <p:txBody>
          <a:bodyPr anchorCtr="0" anchor="t" bIns="25400" lIns="25400" spcFirstLastPara="1" rIns="25400" wrap="square" tIns="25400">
            <a:noAutofit/>
          </a:bodyPr>
          <a:lstStyle/>
          <a:p>
            <a:pPr indent="0" lvl="0" marL="0" marR="0" rtl="0" algn="l">
              <a:lnSpc>
                <a:spcPct val="123077"/>
              </a:lnSpc>
              <a:spcBef>
                <a:spcPts val="0"/>
              </a:spcBef>
              <a:spcAft>
                <a:spcPts val="0"/>
              </a:spcAft>
              <a:buClr>
                <a:srgbClr val="3D3D3D"/>
              </a:buClr>
              <a:buSzPts val="2400"/>
              <a:buFont typeface="Montserrat"/>
              <a:buNone/>
            </a:pPr>
            <a:r>
              <a:rPr b="0" i="0" lang="en-US" sz="2400" u="none" cap="none" strike="noStrike">
                <a:solidFill>
                  <a:srgbClr val="3D3D3D"/>
                </a:solidFill>
                <a:latin typeface="Montserrat"/>
                <a:ea typeface="Montserrat"/>
                <a:cs typeface="Montserrat"/>
                <a:sym typeface="Montserrat"/>
              </a:rPr>
              <a:t>We believe that giving primary care and community screening sites a single-photo AI tool that flags both cataract and glaucoma risk will result in more at-risk patients getting referred before damage is done.</a:t>
            </a:r>
            <a:endParaRPr b="0" i="0" sz="2400" u="none" cap="none" strike="noStrike">
              <a:solidFill>
                <a:schemeClr val="dk1"/>
              </a:solidFill>
              <a:latin typeface="Calibri"/>
              <a:ea typeface="Calibri"/>
              <a:cs typeface="Calibri"/>
              <a:sym typeface="Calibri"/>
            </a:endParaRPr>
          </a:p>
        </p:txBody>
      </p:sp>
      <p:sp>
        <p:nvSpPr>
          <p:cNvPr id="160" name="Google Shape;160;p9"/>
          <p:cNvSpPr/>
          <p:nvPr/>
        </p:nvSpPr>
        <p:spPr>
          <a:xfrm>
            <a:off x="1047750" y="5219700"/>
            <a:ext cx="9028435" cy="2362200"/>
          </a:xfrm>
          <a:prstGeom prst="roundRect">
            <a:avLst>
              <a:gd fmla="val 6452" name="adj"/>
            </a:avLst>
          </a:prstGeom>
          <a:solidFill>
            <a:srgbClr val="FDF4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1047750" y="5219700"/>
            <a:ext cx="38100" cy="2362200"/>
          </a:xfrm>
          <a:prstGeom prst="rect">
            <a:avLst/>
          </a:prstGeom>
          <a:solidFill>
            <a:srgbClr val="B557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1409700" y="5543550"/>
            <a:ext cx="8613488" cy="1752600"/>
          </a:xfrm>
          <a:prstGeom prst="rect">
            <a:avLst/>
          </a:prstGeom>
          <a:noFill/>
          <a:ln>
            <a:noFill/>
          </a:ln>
        </p:spPr>
        <p:txBody>
          <a:bodyPr anchorCtr="0" anchor="t" bIns="25400" lIns="25400" spcFirstLastPara="1" rIns="25400" wrap="square" tIns="25400">
            <a:noAutofit/>
          </a:bodyPr>
          <a:lstStyle/>
          <a:p>
            <a:pPr indent="0" lvl="0" marL="0" marR="0" rtl="0" algn="l">
              <a:lnSpc>
                <a:spcPct val="123288"/>
              </a:lnSpc>
              <a:spcBef>
                <a:spcPts val="0"/>
              </a:spcBef>
              <a:spcAft>
                <a:spcPts val="0"/>
              </a:spcAft>
              <a:buClr>
                <a:srgbClr val="3D3D3D"/>
              </a:buClr>
              <a:buSzPts val="2250"/>
              <a:buFont typeface="Montserrat"/>
              <a:buNone/>
            </a:pPr>
            <a:r>
              <a:rPr b="0" i="0" lang="en-US" sz="2250" u="none" cap="none" strike="noStrike">
                <a:solidFill>
                  <a:srgbClr val="3D3D3D"/>
                </a:solidFill>
                <a:latin typeface="Montserrat"/>
                <a:ea typeface="Montserrat"/>
                <a:cs typeface="Montserrat"/>
                <a:sym typeface="Montserrat"/>
              </a:rPr>
              <a:t>We will know we are right when the model holds up not just on our own test data, but on photos from different fundus cameras and patient populations it never trained on.</a:t>
            </a:r>
            <a:endParaRPr b="0" i="0" sz="2250" u="none" cap="none" strike="noStrike">
              <a:solidFill>
                <a:schemeClr val="dk1"/>
              </a:solidFill>
              <a:latin typeface="Calibri"/>
              <a:ea typeface="Calibri"/>
              <a:cs typeface="Calibri"/>
              <a:sym typeface="Calibri"/>
            </a:endParaRPr>
          </a:p>
        </p:txBody>
      </p:sp>
      <p:pic>
        <p:nvPicPr>
          <p:cNvPr descr="preencoded.png" id="163" name="Google Shape;163;p9"/>
          <p:cNvPicPr preferRelativeResize="0"/>
          <p:nvPr/>
        </p:nvPicPr>
        <p:blipFill rotWithShape="1">
          <a:blip r:embed="rId4">
            <a:alphaModFix/>
          </a:blip>
          <a:srcRect b="0" l="0" r="0" t="0"/>
          <a:stretch/>
        </p:blipFill>
        <p:spPr>
          <a:xfrm>
            <a:off x="10552435" y="2495550"/>
            <a:ext cx="3248620" cy="3248620"/>
          </a:xfrm>
          <a:prstGeom prst="rect">
            <a:avLst/>
          </a:prstGeom>
          <a:noFill/>
          <a:ln>
            <a:noFill/>
          </a:ln>
        </p:spPr>
      </p:pic>
      <p:pic>
        <p:nvPicPr>
          <p:cNvPr descr="preencoded.png" id="164" name="Google Shape;164;p9"/>
          <p:cNvPicPr preferRelativeResize="0"/>
          <p:nvPr/>
        </p:nvPicPr>
        <p:blipFill rotWithShape="1">
          <a:blip r:embed="rId5">
            <a:alphaModFix/>
          </a:blip>
          <a:srcRect b="0" l="422" r="422" t="0"/>
          <a:stretch/>
        </p:blipFill>
        <p:spPr>
          <a:xfrm>
            <a:off x="13991555" y="2495550"/>
            <a:ext cx="3248695" cy="3248695"/>
          </a:xfrm>
          <a:prstGeom prst="rect">
            <a:avLst/>
          </a:prstGeom>
          <a:noFill/>
          <a:ln>
            <a:noFill/>
          </a:ln>
        </p:spPr>
      </p:pic>
      <p:pic>
        <p:nvPicPr>
          <p:cNvPr descr="preencoded.png" id="165" name="Google Shape;165;p9"/>
          <p:cNvPicPr preferRelativeResize="0"/>
          <p:nvPr/>
        </p:nvPicPr>
        <p:blipFill rotWithShape="1">
          <a:blip r:embed="rId6">
            <a:alphaModFix/>
          </a:blip>
          <a:srcRect b="0" l="0" r="0" t="0"/>
          <a:stretch/>
        </p:blipFill>
        <p:spPr>
          <a:xfrm>
            <a:off x="10552435" y="5934745"/>
            <a:ext cx="3248620" cy="3248620"/>
          </a:xfrm>
          <a:prstGeom prst="rect">
            <a:avLst/>
          </a:prstGeom>
          <a:noFill/>
          <a:ln>
            <a:noFill/>
          </a:ln>
        </p:spPr>
      </p:pic>
      <p:pic>
        <p:nvPicPr>
          <p:cNvPr descr="preencoded.png" id="166" name="Google Shape;166;p9"/>
          <p:cNvPicPr preferRelativeResize="0"/>
          <p:nvPr/>
        </p:nvPicPr>
        <p:blipFill rotWithShape="1">
          <a:blip r:embed="rId7">
            <a:alphaModFix/>
          </a:blip>
          <a:srcRect b="0" l="0" r="0" t="0"/>
          <a:stretch/>
        </p:blipFill>
        <p:spPr>
          <a:xfrm>
            <a:off x="13991555" y="5934745"/>
            <a:ext cx="3248695" cy="324869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10"/>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
          <p:cNvSpPr/>
          <p:nvPr/>
        </p:nvSpPr>
        <p:spPr>
          <a:xfrm>
            <a:off x="1047750" y="857250"/>
            <a:ext cx="653951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05 · PROJECT DESCRIPTION</a:t>
            </a:r>
            <a:endParaRPr b="0" i="0" sz="1800" u="none" cap="none" strike="noStrike">
              <a:solidFill>
                <a:schemeClr val="dk1"/>
              </a:solidFill>
              <a:latin typeface="Calibri"/>
              <a:ea typeface="Calibri"/>
              <a:cs typeface="Calibri"/>
              <a:sym typeface="Calibri"/>
            </a:endParaRPr>
          </a:p>
        </p:txBody>
      </p:sp>
      <p:sp>
        <p:nvSpPr>
          <p:cNvPr id="174" name="Google Shape;174;p10"/>
          <p:cNvSpPr/>
          <p:nvPr/>
        </p:nvSpPr>
        <p:spPr>
          <a:xfrm>
            <a:off x="1047750" y="1266825"/>
            <a:ext cx="6539515"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What we are building</a:t>
            </a:r>
            <a:endParaRPr b="0" i="0" sz="4200" u="none" cap="none" strike="noStrike">
              <a:solidFill>
                <a:schemeClr val="dk1"/>
              </a:solidFill>
              <a:latin typeface="Calibri"/>
              <a:ea typeface="Calibri"/>
              <a:cs typeface="Calibri"/>
              <a:sym typeface="Calibri"/>
            </a:endParaRPr>
          </a:p>
        </p:txBody>
      </p:sp>
      <p:pic>
        <p:nvPicPr>
          <p:cNvPr descr="preencoded.png" id="175" name="Google Shape;175;p10"/>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176" name="Google Shape;176;p10"/>
          <p:cNvSpPr/>
          <p:nvPr/>
        </p:nvSpPr>
        <p:spPr>
          <a:xfrm>
            <a:off x="1047750" y="2457450"/>
            <a:ext cx="16192500" cy="1776413"/>
          </a:xfrm>
          <a:prstGeom prst="roundRect">
            <a:avLst>
              <a:gd fmla="val 8579"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
          <p:cNvSpPr/>
          <p:nvPr/>
        </p:nvSpPr>
        <p:spPr>
          <a:xfrm>
            <a:off x="1047750" y="2457450"/>
            <a:ext cx="38100" cy="1776413"/>
          </a:xfrm>
          <a:prstGeom prst="rect">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p:nvPr/>
        </p:nvSpPr>
        <p:spPr>
          <a:xfrm>
            <a:off x="1390650" y="2724150"/>
            <a:ext cx="16030575" cy="1281113"/>
          </a:xfrm>
          <a:prstGeom prst="rect">
            <a:avLst/>
          </a:prstGeom>
          <a:noFill/>
          <a:ln>
            <a:noFill/>
          </a:ln>
        </p:spPr>
        <p:txBody>
          <a:bodyPr anchorCtr="0" anchor="t" bIns="25400" lIns="25400" spcFirstLastPara="1" rIns="25400" wrap="square" tIns="25400">
            <a:noAutofit/>
          </a:bodyPr>
          <a:lstStyle/>
          <a:p>
            <a:pPr indent="0" lvl="0" marL="0" marR="0" rtl="0" algn="l">
              <a:lnSpc>
                <a:spcPct val="122535"/>
              </a:lnSpc>
              <a:spcBef>
                <a:spcPts val="0"/>
              </a:spcBef>
              <a:spcAft>
                <a:spcPts val="0"/>
              </a:spcAft>
              <a:buClr>
                <a:srgbClr val="111111"/>
              </a:buClr>
              <a:buSzPts val="2175"/>
              <a:buFont typeface="Montserrat"/>
              <a:buNone/>
            </a:pPr>
            <a:r>
              <a:rPr b="1" i="0" lang="en-US" sz="2175" u="none" cap="none" strike="noStrike">
                <a:solidFill>
                  <a:srgbClr val="111111"/>
                </a:solidFill>
                <a:latin typeface="Montserrat"/>
                <a:ea typeface="Montserrat"/>
                <a:cs typeface="Montserrat"/>
                <a:sym typeface="Montserrat"/>
              </a:rPr>
              <a:t>Dual </a:t>
            </a:r>
            <a:r>
              <a:rPr b="0" i="0" lang="en-US" sz="2175" u="none" cap="none" strike="noStrike">
                <a:solidFill>
                  <a:srgbClr val="3D3D3D"/>
                </a:solidFill>
                <a:highlight>
                  <a:srgbClr val="F7F9FB"/>
                </a:highlight>
                <a:latin typeface="Montserrat"/>
                <a:ea typeface="Montserrat"/>
                <a:cs typeface="Montserrat"/>
                <a:sym typeface="Montserrat"/>
              </a:rPr>
              <a:t>is a web-based AI screening application that analyzes a fundus photograph of the eye and provides separate risk results for </a:t>
            </a:r>
            <a:r>
              <a:rPr b="1" i="0" lang="en-US" sz="2175" u="none" cap="none" strike="noStrike">
                <a:solidFill>
                  <a:srgbClr val="111111"/>
                </a:solidFill>
                <a:latin typeface="Montserrat"/>
                <a:ea typeface="Montserrat"/>
                <a:cs typeface="Montserrat"/>
                <a:sym typeface="Montserrat"/>
              </a:rPr>
              <a:t>cataract and glaucoma </a:t>
            </a:r>
            <a:r>
              <a:rPr b="0" i="0" lang="en-US" sz="2175" u="none" cap="none" strike="noStrike">
                <a:solidFill>
                  <a:srgbClr val="3D3D3D"/>
                </a:solidFill>
                <a:highlight>
                  <a:srgbClr val="F7F9FB"/>
                </a:highlight>
                <a:latin typeface="Montserrat"/>
                <a:ea typeface="Montserrat"/>
                <a:cs typeface="Montserrat"/>
                <a:sym typeface="Montserrat"/>
              </a:rPr>
              <a:t>, with confidence information and a referral recommendation when the image or prediction is uncertain.</a:t>
            </a:r>
            <a:endParaRPr b="0" i="0" sz="2175" u="none" cap="none" strike="noStrike">
              <a:solidFill>
                <a:schemeClr val="dk1"/>
              </a:solidFill>
              <a:latin typeface="Calibri"/>
              <a:ea typeface="Calibri"/>
              <a:cs typeface="Calibri"/>
              <a:sym typeface="Calibri"/>
            </a:endParaRPr>
          </a:p>
        </p:txBody>
      </p:sp>
      <p:sp>
        <p:nvSpPr>
          <p:cNvPr id="179" name="Google Shape;179;p10"/>
          <p:cNvSpPr/>
          <p:nvPr/>
        </p:nvSpPr>
        <p:spPr>
          <a:xfrm>
            <a:off x="1047750" y="4519613"/>
            <a:ext cx="7934325" cy="4910138"/>
          </a:xfrm>
          <a:prstGeom prst="roundRect">
            <a:avLst>
              <a:gd fmla="val 3104"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1314450" y="4824413"/>
            <a:ext cx="336798"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01</a:t>
            </a:r>
            <a:endParaRPr b="0" i="0" sz="1950" u="none" cap="none" strike="noStrike">
              <a:solidFill>
                <a:schemeClr val="dk1"/>
              </a:solidFill>
              <a:latin typeface="Calibri"/>
              <a:ea typeface="Calibri"/>
              <a:cs typeface="Calibri"/>
              <a:sym typeface="Calibri"/>
            </a:endParaRPr>
          </a:p>
        </p:txBody>
      </p:sp>
      <p:sp>
        <p:nvSpPr>
          <p:cNvPr id="181" name="Google Shape;181;p10"/>
          <p:cNvSpPr/>
          <p:nvPr/>
        </p:nvSpPr>
        <p:spPr>
          <a:xfrm>
            <a:off x="1708398" y="4786313"/>
            <a:ext cx="3589035" cy="385763"/>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250"/>
              <a:buFont typeface="Montserrat"/>
              <a:buNone/>
            </a:pPr>
            <a:r>
              <a:rPr b="1" i="0" lang="en-US" sz="2250" u="none" cap="none" strike="noStrike">
                <a:solidFill>
                  <a:srgbClr val="111111"/>
                </a:solidFill>
                <a:latin typeface="Montserrat"/>
                <a:ea typeface="Montserrat"/>
                <a:cs typeface="Montserrat"/>
                <a:sym typeface="Montserrat"/>
              </a:rPr>
              <a:t>Upload Fundus Image</a:t>
            </a:r>
            <a:endParaRPr b="0" i="0" sz="2250" u="none" cap="none" strike="noStrike">
              <a:solidFill>
                <a:schemeClr val="dk1"/>
              </a:solidFill>
              <a:latin typeface="Calibri"/>
              <a:ea typeface="Calibri"/>
              <a:cs typeface="Calibri"/>
              <a:sym typeface="Calibri"/>
            </a:endParaRPr>
          </a:p>
        </p:txBody>
      </p:sp>
      <p:sp>
        <p:nvSpPr>
          <p:cNvPr id="182" name="Google Shape;182;p10"/>
          <p:cNvSpPr/>
          <p:nvPr/>
        </p:nvSpPr>
        <p:spPr>
          <a:xfrm>
            <a:off x="1314450" y="5305425"/>
            <a:ext cx="7400925" cy="3314700"/>
          </a:xfrm>
          <a:prstGeom prst="roundRect">
            <a:avLst>
              <a:gd fmla="val 344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3" name="Google Shape;183;p10"/>
          <p:cNvPicPr preferRelativeResize="0"/>
          <p:nvPr/>
        </p:nvPicPr>
        <p:blipFill rotWithShape="1">
          <a:blip r:embed="rId4">
            <a:alphaModFix/>
          </a:blip>
          <a:srcRect b="0" l="0" r="0" t="0"/>
          <a:stretch/>
        </p:blipFill>
        <p:spPr>
          <a:xfrm>
            <a:off x="3729558" y="5457825"/>
            <a:ext cx="2570634" cy="3009826"/>
          </a:xfrm>
          <a:prstGeom prst="rect">
            <a:avLst/>
          </a:prstGeom>
          <a:noFill/>
          <a:ln>
            <a:noFill/>
          </a:ln>
        </p:spPr>
      </p:pic>
      <p:sp>
        <p:nvSpPr>
          <p:cNvPr id="184" name="Google Shape;184;p10"/>
          <p:cNvSpPr/>
          <p:nvPr/>
        </p:nvSpPr>
        <p:spPr>
          <a:xfrm>
            <a:off x="1314450" y="8791575"/>
            <a:ext cx="8141017" cy="409575"/>
          </a:xfrm>
          <a:prstGeom prst="rect">
            <a:avLst/>
          </a:prstGeom>
          <a:noFill/>
          <a:ln>
            <a:noFill/>
          </a:ln>
        </p:spPr>
        <p:txBody>
          <a:bodyPr anchorCtr="0" anchor="t" bIns="25400" lIns="25400" spcFirstLastPara="1" rIns="25400" wrap="square" tIns="25400">
            <a:noAutofit/>
          </a:bodyPr>
          <a:lstStyle/>
          <a:p>
            <a:pPr indent="0" lvl="0" marL="0" marR="0" rtl="0" algn="l">
              <a:lnSpc>
                <a:spcPct val="123810"/>
              </a:lnSpc>
              <a:spcBef>
                <a:spcPts val="0"/>
              </a:spcBef>
              <a:spcAft>
                <a:spcPts val="0"/>
              </a:spcAft>
              <a:buClr>
                <a:srgbClr val="3D3D3D"/>
              </a:buClr>
              <a:buSzPts val="1950"/>
              <a:buFont typeface="Montserrat"/>
              <a:buNone/>
            </a:pPr>
            <a:r>
              <a:rPr b="0" i="0" lang="en-US" sz="1950" u="none" cap="none" strike="noStrike">
                <a:solidFill>
                  <a:srgbClr val="3D3D3D"/>
                </a:solidFill>
                <a:latin typeface="Montserrat"/>
                <a:ea typeface="Montserrat"/>
                <a:cs typeface="Montserrat"/>
                <a:sym typeface="Montserrat"/>
              </a:rPr>
              <a:t>One retinal photograph per eye is uploaded to Dual.</a:t>
            </a:r>
            <a:endParaRPr b="0" i="0" sz="1950" u="none" cap="none" strike="noStrike">
              <a:solidFill>
                <a:schemeClr val="dk1"/>
              </a:solidFill>
              <a:latin typeface="Calibri"/>
              <a:ea typeface="Calibri"/>
              <a:cs typeface="Calibri"/>
              <a:sym typeface="Calibri"/>
            </a:endParaRPr>
          </a:p>
        </p:txBody>
      </p:sp>
      <p:sp>
        <p:nvSpPr>
          <p:cNvPr id="185" name="Google Shape;185;p10"/>
          <p:cNvSpPr/>
          <p:nvPr/>
        </p:nvSpPr>
        <p:spPr>
          <a:xfrm>
            <a:off x="9305925" y="4519613"/>
            <a:ext cx="7934325" cy="4910138"/>
          </a:xfrm>
          <a:prstGeom prst="roundRect">
            <a:avLst>
              <a:gd fmla="val 3104"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9572625" y="4824413"/>
            <a:ext cx="386655"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02</a:t>
            </a:r>
            <a:endParaRPr b="0" i="0" sz="1950" u="none" cap="none" strike="noStrike">
              <a:solidFill>
                <a:schemeClr val="dk1"/>
              </a:solidFill>
              <a:latin typeface="Calibri"/>
              <a:ea typeface="Calibri"/>
              <a:cs typeface="Calibri"/>
              <a:sym typeface="Calibri"/>
            </a:endParaRPr>
          </a:p>
        </p:txBody>
      </p:sp>
      <p:sp>
        <p:nvSpPr>
          <p:cNvPr id="187" name="Google Shape;187;p10"/>
          <p:cNvSpPr/>
          <p:nvPr/>
        </p:nvSpPr>
        <p:spPr>
          <a:xfrm>
            <a:off x="10016430" y="4786313"/>
            <a:ext cx="1748842" cy="385763"/>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250"/>
              <a:buFont typeface="Montserrat"/>
              <a:buNone/>
            </a:pPr>
            <a:r>
              <a:rPr b="1" i="0" lang="en-US" sz="2250" u="none" cap="none" strike="noStrike">
                <a:solidFill>
                  <a:srgbClr val="111111"/>
                </a:solidFill>
                <a:latin typeface="Montserrat"/>
                <a:ea typeface="Montserrat"/>
                <a:cs typeface="Montserrat"/>
                <a:sym typeface="Montserrat"/>
              </a:rPr>
              <a:t>AI Analysis</a:t>
            </a:r>
            <a:endParaRPr b="0" i="0" sz="2250" u="none" cap="none" strike="noStrike">
              <a:solidFill>
                <a:schemeClr val="dk1"/>
              </a:solidFill>
              <a:latin typeface="Calibri"/>
              <a:ea typeface="Calibri"/>
              <a:cs typeface="Calibri"/>
              <a:sym typeface="Calibri"/>
            </a:endParaRPr>
          </a:p>
        </p:txBody>
      </p:sp>
      <p:sp>
        <p:nvSpPr>
          <p:cNvPr id="188" name="Google Shape;188;p10"/>
          <p:cNvSpPr/>
          <p:nvPr/>
        </p:nvSpPr>
        <p:spPr>
          <a:xfrm>
            <a:off x="9572625" y="5305425"/>
            <a:ext cx="7400925" cy="2943225"/>
          </a:xfrm>
          <a:prstGeom prst="roundRect">
            <a:avLst>
              <a:gd fmla="val 388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9" name="Google Shape;189;p10"/>
          <p:cNvPicPr preferRelativeResize="0"/>
          <p:nvPr/>
        </p:nvPicPr>
        <p:blipFill rotWithShape="1">
          <a:blip r:embed="rId5">
            <a:alphaModFix/>
          </a:blip>
          <a:srcRect b="0" l="-1" r="-1" t="0"/>
          <a:stretch/>
        </p:blipFill>
        <p:spPr>
          <a:xfrm>
            <a:off x="11015960" y="5457825"/>
            <a:ext cx="4514255" cy="2638351"/>
          </a:xfrm>
          <a:prstGeom prst="rect">
            <a:avLst/>
          </a:prstGeom>
          <a:noFill/>
          <a:ln>
            <a:noFill/>
          </a:ln>
        </p:spPr>
      </p:pic>
      <p:sp>
        <p:nvSpPr>
          <p:cNvPr id="190" name="Google Shape;190;p10"/>
          <p:cNvSpPr/>
          <p:nvPr/>
        </p:nvSpPr>
        <p:spPr>
          <a:xfrm>
            <a:off x="9572625" y="8420100"/>
            <a:ext cx="7622953" cy="781050"/>
          </a:xfrm>
          <a:prstGeom prst="rect">
            <a:avLst/>
          </a:prstGeom>
          <a:noFill/>
          <a:ln>
            <a:noFill/>
          </a:ln>
        </p:spPr>
        <p:txBody>
          <a:bodyPr anchorCtr="0" anchor="t" bIns="25400" lIns="25400" spcFirstLastPara="1" rIns="25400" wrap="square" tIns="25400">
            <a:noAutofit/>
          </a:bodyPr>
          <a:lstStyle/>
          <a:p>
            <a:pPr indent="0" lvl="0" marL="0" marR="0" rtl="0" algn="l">
              <a:lnSpc>
                <a:spcPct val="123810"/>
              </a:lnSpc>
              <a:spcBef>
                <a:spcPts val="0"/>
              </a:spcBef>
              <a:spcAft>
                <a:spcPts val="0"/>
              </a:spcAft>
              <a:buClr>
                <a:srgbClr val="3D3D3D"/>
              </a:buClr>
              <a:buSzPts val="1950"/>
              <a:buFont typeface="Montserrat"/>
              <a:buNone/>
            </a:pPr>
            <a:r>
              <a:rPr b="0" i="0" lang="en-US" sz="1950" u="none" cap="none" strike="noStrike">
                <a:solidFill>
                  <a:srgbClr val="3D3D3D"/>
                </a:solidFill>
                <a:latin typeface="Montserrat"/>
                <a:ea typeface="Montserrat"/>
                <a:cs typeface="Montserrat"/>
                <a:sym typeface="Montserrat"/>
              </a:rPr>
              <a:t>One shared deep learning model analyzes the image for both cataract and glaucoma.</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11"/>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1047750" y="857250"/>
            <a:ext cx="6711084"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05 · PROJECT DESCRIPTION</a:t>
            </a:r>
            <a:endParaRPr b="0" i="0" sz="1800" u="none" cap="none" strike="noStrike">
              <a:solidFill>
                <a:schemeClr val="dk1"/>
              </a:solidFill>
              <a:latin typeface="Calibri"/>
              <a:ea typeface="Calibri"/>
              <a:cs typeface="Calibri"/>
              <a:sym typeface="Calibri"/>
            </a:endParaRPr>
          </a:p>
        </p:txBody>
      </p:sp>
      <p:sp>
        <p:nvSpPr>
          <p:cNvPr id="198" name="Google Shape;198;p11"/>
          <p:cNvSpPr/>
          <p:nvPr/>
        </p:nvSpPr>
        <p:spPr>
          <a:xfrm>
            <a:off x="1047750" y="1266825"/>
            <a:ext cx="6711084"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Dual Screening Result</a:t>
            </a:r>
            <a:endParaRPr b="0" i="0" sz="4200" u="none" cap="none" strike="noStrike">
              <a:solidFill>
                <a:schemeClr val="dk1"/>
              </a:solidFill>
              <a:latin typeface="Calibri"/>
              <a:ea typeface="Calibri"/>
              <a:cs typeface="Calibri"/>
              <a:sym typeface="Calibri"/>
            </a:endParaRPr>
          </a:p>
        </p:txBody>
      </p:sp>
      <p:pic>
        <p:nvPicPr>
          <p:cNvPr descr="preencoded.png" id="199" name="Google Shape;199;p11"/>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200" name="Google Shape;200;p11"/>
          <p:cNvSpPr/>
          <p:nvPr/>
        </p:nvSpPr>
        <p:spPr>
          <a:xfrm>
            <a:off x="1047750" y="2457450"/>
            <a:ext cx="7934325" cy="5614988"/>
          </a:xfrm>
          <a:prstGeom prst="roundRect">
            <a:avLst>
              <a:gd fmla="val 2714"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1314450" y="2762250"/>
            <a:ext cx="384497"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03</a:t>
            </a:r>
            <a:endParaRPr b="0" i="0" sz="1950" u="none" cap="none" strike="noStrike">
              <a:solidFill>
                <a:schemeClr val="dk1"/>
              </a:solidFill>
              <a:latin typeface="Calibri"/>
              <a:ea typeface="Calibri"/>
              <a:cs typeface="Calibri"/>
              <a:sym typeface="Calibri"/>
            </a:endParaRPr>
          </a:p>
        </p:txBody>
      </p:sp>
      <p:sp>
        <p:nvSpPr>
          <p:cNvPr id="202" name="Google Shape;202;p11"/>
          <p:cNvSpPr/>
          <p:nvPr/>
        </p:nvSpPr>
        <p:spPr>
          <a:xfrm>
            <a:off x="1756097" y="2724150"/>
            <a:ext cx="1956673" cy="385763"/>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250"/>
              <a:buFont typeface="Montserrat"/>
              <a:buNone/>
            </a:pPr>
            <a:r>
              <a:rPr b="1" i="0" lang="en-US" sz="2250" u="none" cap="none" strike="noStrike">
                <a:solidFill>
                  <a:srgbClr val="111111"/>
                </a:solidFill>
                <a:latin typeface="Montserrat"/>
                <a:ea typeface="Montserrat"/>
                <a:cs typeface="Montserrat"/>
                <a:sym typeface="Montserrat"/>
              </a:rPr>
              <a:t>Risk Results</a:t>
            </a:r>
            <a:endParaRPr b="0" i="0" sz="2250" u="none" cap="none" strike="noStrike">
              <a:solidFill>
                <a:schemeClr val="dk1"/>
              </a:solidFill>
              <a:latin typeface="Calibri"/>
              <a:ea typeface="Calibri"/>
              <a:cs typeface="Calibri"/>
              <a:sym typeface="Calibri"/>
            </a:endParaRPr>
          </a:p>
        </p:txBody>
      </p:sp>
      <p:sp>
        <p:nvSpPr>
          <p:cNvPr id="203" name="Google Shape;203;p11"/>
          <p:cNvSpPr/>
          <p:nvPr/>
        </p:nvSpPr>
        <p:spPr>
          <a:xfrm>
            <a:off x="1314450" y="3243263"/>
            <a:ext cx="7400925" cy="3648075"/>
          </a:xfrm>
          <a:prstGeom prst="roundRect">
            <a:avLst>
              <a:gd fmla="val 31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 name="Google Shape;204;p11"/>
          <p:cNvPicPr preferRelativeResize="0"/>
          <p:nvPr/>
        </p:nvPicPr>
        <p:blipFill rotWithShape="1">
          <a:blip r:embed="rId4">
            <a:alphaModFix/>
          </a:blip>
          <a:srcRect b="0" l="0" r="0" t="0"/>
          <a:stretch/>
        </p:blipFill>
        <p:spPr>
          <a:xfrm>
            <a:off x="3281065" y="3395663"/>
            <a:ext cx="3467621" cy="3343201"/>
          </a:xfrm>
          <a:prstGeom prst="rect">
            <a:avLst/>
          </a:prstGeom>
          <a:noFill/>
          <a:ln>
            <a:noFill/>
          </a:ln>
        </p:spPr>
      </p:pic>
      <p:sp>
        <p:nvSpPr>
          <p:cNvPr id="205" name="Google Shape;205;p11"/>
          <p:cNvSpPr/>
          <p:nvPr/>
        </p:nvSpPr>
        <p:spPr>
          <a:xfrm>
            <a:off x="1314450" y="7062788"/>
            <a:ext cx="7622953" cy="781050"/>
          </a:xfrm>
          <a:prstGeom prst="rect">
            <a:avLst/>
          </a:prstGeom>
          <a:noFill/>
          <a:ln>
            <a:noFill/>
          </a:ln>
        </p:spPr>
        <p:txBody>
          <a:bodyPr anchorCtr="0" anchor="t" bIns="25400" lIns="25400" spcFirstLastPara="1" rIns="25400" wrap="square" tIns="25400">
            <a:noAutofit/>
          </a:bodyPr>
          <a:lstStyle/>
          <a:p>
            <a:pPr indent="0" lvl="0" marL="0" marR="0" rtl="0" algn="l">
              <a:lnSpc>
                <a:spcPct val="123810"/>
              </a:lnSpc>
              <a:spcBef>
                <a:spcPts val="0"/>
              </a:spcBef>
              <a:spcAft>
                <a:spcPts val="0"/>
              </a:spcAft>
              <a:buClr>
                <a:srgbClr val="3D3D3D"/>
              </a:buClr>
              <a:buSzPts val="1950"/>
              <a:buFont typeface="Montserrat"/>
              <a:buNone/>
            </a:pPr>
            <a:r>
              <a:rPr b="0" i="0" lang="en-US" sz="1950" u="none" cap="none" strike="noStrike">
                <a:solidFill>
                  <a:srgbClr val="3D3D3D"/>
                </a:solidFill>
                <a:latin typeface="Montserrat"/>
                <a:ea typeface="Montserrat"/>
                <a:cs typeface="Montserrat"/>
                <a:sym typeface="Montserrat"/>
              </a:rPr>
              <a:t>Dual provides separate risk results with confidence levels and highlighted regions in the image.</a:t>
            </a:r>
            <a:endParaRPr b="0" i="0" sz="1950" u="none" cap="none" strike="noStrike">
              <a:solidFill>
                <a:schemeClr val="dk1"/>
              </a:solidFill>
              <a:latin typeface="Calibri"/>
              <a:ea typeface="Calibri"/>
              <a:cs typeface="Calibri"/>
              <a:sym typeface="Calibri"/>
            </a:endParaRPr>
          </a:p>
        </p:txBody>
      </p:sp>
      <p:sp>
        <p:nvSpPr>
          <p:cNvPr id="206" name="Google Shape;206;p11"/>
          <p:cNvSpPr/>
          <p:nvPr/>
        </p:nvSpPr>
        <p:spPr>
          <a:xfrm>
            <a:off x="9305925" y="2457450"/>
            <a:ext cx="7934325" cy="5614988"/>
          </a:xfrm>
          <a:prstGeom prst="roundRect">
            <a:avLst>
              <a:gd fmla="val 2714" name="adj"/>
            </a:avLst>
          </a:prstGeom>
          <a:solidFill>
            <a:srgbClr val="FDF4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9572625" y="2762250"/>
            <a:ext cx="410989"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5573F"/>
              </a:buClr>
              <a:buSzPts val="1950"/>
              <a:buFont typeface="Montserrat"/>
              <a:buNone/>
            </a:pPr>
            <a:r>
              <a:rPr b="1" i="0" lang="en-US" sz="1950" u="none" cap="none" strike="noStrike">
                <a:solidFill>
                  <a:srgbClr val="B5573F"/>
                </a:solidFill>
                <a:latin typeface="Montserrat"/>
                <a:ea typeface="Montserrat"/>
                <a:cs typeface="Montserrat"/>
                <a:sym typeface="Montserrat"/>
              </a:rPr>
              <a:t>04</a:t>
            </a:r>
            <a:endParaRPr b="0" i="0" sz="1950" u="none" cap="none" strike="noStrike">
              <a:solidFill>
                <a:schemeClr val="dk1"/>
              </a:solidFill>
              <a:latin typeface="Calibri"/>
              <a:ea typeface="Calibri"/>
              <a:cs typeface="Calibri"/>
              <a:sym typeface="Calibri"/>
            </a:endParaRPr>
          </a:p>
        </p:txBody>
      </p:sp>
      <p:sp>
        <p:nvSpPr>
          <p:cNvPr id="208" name="Google Shape;208;p11"/>
          <p:cNvSpPr/>
          <p:nvPr/>
        </p:nvSpPr>
        <p:spPr>
          <a:xfrm>
            <a:off x="10040764" y="2724150"/>
            <a:ext cx="4282678" cy="385763"/>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250"/>
              <a:buFont typeface="Montserrat"/>
              <a:buNone/>
            </a:pPr>
            <a:r>
              <a:rPr b="1" i="0" lang="en-US" sz="2250" u="none" cap="none" strike="noStrike">
                <a:solidFill>
                  <a:srgbClr val="111111"/>
                </a:solidFill>
                <a:latin typeface="Montserrat"/>
                <a:ea typeface="Montserrat"/>
                <a:cs typeface="Montserrat"/>
                <a:sym typeface="Montserrat"/>
              </a:rPr>
              <a:t>Referral Recommendation</a:t>
            </a:r>
            <a:endParaRPr b="0" i="0" sz="2250" u="none" cap="none" strike="noStrike">
              <a:solidFill>
                <a:schemeClr val="dk1"/>
              </a:solidFill>
              <a:latin typeface="Calibri"/>
              <a:ea typeface="Calibri"/>
              <a:cs typeface="Calibri"/>
              <a:sym typeface="Calibri"/>
            </a:endParaRPr>
          </a:p>
        </p:txBody>
      </p:sp>
      <p:sp>
        <p:nvSpPr>
          <p:cNvPr id="209" name="Google Shape;209;p11"/>
          <p:cNvSpPr/>
          <p:nvPr/>
        </p:nvSpPr>
        <p:spPr>
          <a:xfrm>
            <a:off x="9572625" y="3243263"/>
            <a:ext cx="7400925" cy="3648075"/>
          </a:xfrm>
          <a:prstGeom prst="roundRect">
            <a:avLst>
              <a:gd fmla="val 31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0" name="Google Shape;210;p11"/>
          <p:cNvPicPr preferRelativeResize="0"/>
          <p:nvPr/>
        </p:nvPicPr>
        <p:blipFill rotWithShape="1">
          <a:blip r:embed="rId5">
            <a:alphaModFix/>
          </a:blip>
          <a:srcRect b="0" l="0" r="0" t="0"/>
          <a:stretch/>
        </p:blipFill>
        <p:spPr>
          <a:xfrm>
            <a:off x="11608743" y="3395663"/>
            <a:ext cx="3328615" cy="3343201"/>
          </a:xfrm>
          <a:prstGeom prst="rect">
            <a:avLst/>
          </a:prstGeom>
          <a:noFill/>
          <a:ln>
            <a:noFill/>
          </a:ln>
        </p:spPr>
      </p:pic>
      <p:sp>
        <p:nvSpPr>
          <p:cNvPr id="211" name="Google Shape;211;p11"/>
          <p:cNvSpPr/>
          <p:nvPr/>
        </p:nvSpPr>
        <p:spPr>
          <a:xfrm>
            <a:off x="9572625" y="7062788"/>
            <a:ext cx="7622953" cy="781050"/>
          </a:xfrm>
          <a:prstGeom prst="rect">
            <a:avLst/>
          </a:prstGeom>
          <a:noFill/>
          <a:ln>
            <a:noFill/>
          </a:ln>
        </p:spPr>
        <p:txBody>
          <a:bodyPr anchorCtr="0" anchor="t" bIns="25400" lIns="25400" spcFirstLastPara="1" rIns="25400" wrap="square" tIns="25400">
            <a:noAutofit/>
          </a:bodyPr>
          <a:lstStyle/>
          <a:p>
            <a:pPr indent="0" lvl="0" marL="0" marR="0" rtl="0" algn="l">
              <a:lnSpc>
                <a:spcPct val="123810"/>
              </a:lnSpc>
              <a:spcBef>
                <a:spcPts val="0"/>
              </a:spcBef>
              <a:spcAft>
                <a:spcPts val="0"/>
              </a:spcAft>
              <a:buClr>
                <a:srgbClr val="3D3D3D"/>
              </a:buClr>
              <a:buSzPts val="1950"/>
              <a:buFont typeface="Montserrat"/>
              <a:buNone/>
            </a:pPr>
            <a:r>
              <a:rPr b="0" i="0" lang="en-US" sz="1950" u="none" cap="none" strike="noStrike">
                <a:solidFill>
                  <a:srgbClr val="3D3D3D"/>
                </a:solidFill>
                <a:latin typeface="Montserrat"/>
                <a:ea typeface="Montserrat"/>
                <a:cs typeface="Montserrat"/>
                <a:sym typeface="Montserrat"/>
              </a:rPr>
              <a:t>Dual provides separate risk results with confidence levels and highlighted regions in the image.</a:t>
            </a:r>
            <a:endParaRPr b="0" i="0" sz="1950" u="none" cap="none" strike="noStrike">
              <a:solidFill>
                <a:schemeClr val="dk1"/>
              </a:solidFill>
              <a:latin typeface="Calibri"/>
              <a:ea typeface="Calibri"/>
              <a:cs typeface="Calibri"/>
              <a:sym typeface="Calibri"/>
            </a:endParaRPr>
          </a:p>
        </p:txBody>
      </p:sp>
      <p:sp>
        <p:nvSpPr>
          <p:cNvPr id="212" name="Google Shape;212;p11"/>
          <p:cNvSpPr/>
          <p:nvPr/>
        </p:nvSpPr>
        <p:spPr>
          <a:xfrm>
            <a:off x="1047750" y="8358188"/>
            <a:ext cx="16192500" cy="1071563"/>
          </a:xfrm>
          <a:prstGeom prst="roundRect">
            <a:avLst>
              <a:gd fmla="val 10667"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a:off x="1295400" y="8548688"/>
            <a:ext cx="13020628"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Scope: Dual supports screening and referral decisions. It does not provide medical diagnosis, treatment advice, EHR integration, or other eye conditions.</a:t>
            </a:r>
            <a:endParaRPr b="0" i="0" sz="1875" u="none" cap="none" strike="noStrike">
              <a:solidFill>
                <a:schemeClr val="dk1"/>
              </a:solidFill>
              <a:latin typeface="Calibri"/>
              <a:ea typeface="Calibri"/>
              <a:cs typeface="Calibri"/>
              <a:sym typeface="Calibri"/>
            </a:endParaRPr>
          </a:p>
        </p:txBody>
      </p:sp>
      <p:sp>
        <p:nvSpPr>
          <p:cNvPr id="214" name="Google Shape;214;p11"/>
          <p:cNvSpPr/>
          <p:nvPr/>
        </p:nvSpPr>
        <p:spPr>
          <a:xfrm>
            <a:off x="14317787" y="8617744"/>
            <a:ext cx="9525" cy="552450"/>
          </a:xfrm>
          <a:prstGeom prst="rect">
            <a:avLst/>
          </a:prstGeom>
          <a:solidFill>
            <a:srgbClr val="C7D2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a:off x="14574962" y="8617744"/>
            <a:ext cx="2497883" cy="5905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CLEARER VISION HEALTHIER LIVES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12"/>
          <p:cNvSpPr/>
          <p:nvPr/>
        </p:nvSpPr>
        <p:spPr>
          <a:xfrm>
            <a:off x="0" y="0"/>
            <a:ext cx="5715000" cy="10287000"/>
          </a:xfrm>
          <a:prstGeom prst="rect">
            <a:avLst/>
          </a:prstGeom>
          <a:solidFill>
            <a:srgbClr val="EE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12"/>
          <p:cNvPicPr preferRelativeResize="0"/>
          <p:nvPr/>
        </p:nvPicPr>
        <p:blipFill rotWithShape="1">
          <a:blip r:embed="rId3">
            <a:alphaModFix/>
          </a:blip>
          <a:srcRect b="0" l="21740" r="21740" t="0"/>
          <a:stretch/>
        </p:blipFill>
        <p:spPr>
          <a:xfrm>
            <a:off x="0" y="0"/>
            <a:ext cx="5715000" cy="10287000"/>
          </a:xfrm>
          <a:prstGeom prst="rect">
            <a:avLst/>
          </a:prstGeom>
          <a:noFill/>
          <a:ln>
            <a:noFill/>
          </a:ln>
        </p:spPr>
      </p:pic>
      <p:sp>
        <p:nvSpPr>
          <p:cNvPr id="223" name="Google Shape;223;p12"/>
          <p:cNvSpPr/>
          <p:nvPr/>
        </p:nvSpPr>
        <p:spPr>
          <a:xfrm>
            <a:off x="0" y="8165902"/>
            <a:ext cx="5715000" cy="2121098"/>
          </a:xfrm>
          <a:prstGeom prst="rect">
            <a:avLst/>
          </a:prstGeom>
          <a:gradFill>
            <a:gsLst>
              <a:gs pos="0">
                <a:srgbClr val="111111">
                  <a:alpha val="94902"/>
                </a:srgbClr>
              </a:gs>
              <a:gs pos="35000">
                <a:srgbClr val="111111">
                  <a:alpha val="90196"/>
                </a:srgbClr>
              </a:gs>
              <a:gs pos="70000">
                <a:srgbClr val="111111">
                  <a:alpha val="54902"/>
                </a:srgbClr>
              </a:gs>
              <a:gs pos="100000">
                <a:srgbClr val="111111">
                  <a:alpha val="0"/>
                </a:srgbClr>
              </a:gs>
            </a:gsLst>
            <a:lin ang="16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p:nvPr/>
        </p:nvSpPr>
        <p:spPr>
          <a:xfrm>
            <a:off x="419100" y="8623102"/>
            <a:ext cx="5023104" cy="835223"/>
          </a:xfrm>
          <a:prstGeom prst="rect">
            <a:avLst/>
          </a:prstGeom>
          <a:noFill/>
          <a:ln>
            <a:noFill/>
          </a:ln>
        </p:spPr>
        <p:txBody>
          <a:bodyPr anchorCtr="0" anchor="t" bIns="25400" lIns="25400" spcFirstLastPara="1" rIns="25400" wrap="square" tIns="25400">
            <a:noAutofit/>
          </a:bodyPr>
          <a:lstStyle/>
          <a:p>
            <a:pPr indent="0" lvl="0" marL="0" marR="0" rtl="0" algn="l">
              <a:lnSpc>
                <a:spcPct val="110132"/>
              </a:lnSpc>
              <a:spcBef>
                <a:spcPts val="0"/>
              </a:spcBef>
              <a:spcAft>
                <a:spcPts val="0"/>
              </a:spcAft>
              <a:buClr>
                <a:srgbClr val="FFFFFF"/>
              </a:buClr>
              <a:buSzPts val="2325"/>
              <a:buFont typeface="Montserrat"/>
              <a:buNone/>
            </a:pPr>
            <a:r>
              <a:rPr b="1" i="0" lang="en-US" sz="2325" u="none" cap="none" strike="noStrike">
                <a:solidFill>
                  <a:srgbClr val="FFFFFF"/>
                </a:solidFill>
                <a:latin typeface="Montserrat"/>
                <a:ea typeface="Montserrat"/>
                <a:cs typeface="Montserrat"/>
                <a:sym typeface="Montserrat"/>
              </a:rPr>
              <a:t>“I want to keep seeing the moments that matter.”</a:t>
            </a:r>
            <a:endParaRPr b="0" i="0" sz="2325" u="none" cap="none" strike="noStrike">
              <a:solidFill>
                <a:schemeClr val="dk1"/>
              </a:solidFill>
              <a:latin typeface="Calibri"/>
              <a:ea typeface="Calibri"/>
              <a:cs typeface="Calibri"/>
              <a:sym typeface="Calibri"/>
            </a:endParaRPr>
          </a:p>
        </p:txBody>
      </p:sp>
      <p:sp>
        <p:nvSpPr>
          <p:cNvPr id="225" name="Google Shape;225;p12"/>
          <p:cNvSpPr/>
          <p:nvPr/>
        </p:nvSpPr>
        <p:spPr>
          <a:xfrm>
            <a:off x="419100" y="9553575"/>
            <a:ext cx="536448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01 | PATIENT PERSONA</a:t>
            </a:r>
            <a:endParaRPr b="0" i="0" sz="1800" u="none" cap="none" strike="noStrike">
              <a:solidFill>
                <a:schemeClr val="dk1"/>
              </a:solidFill>
              <a:latin typeface="Calibri"/>
              <a:ea typeface="Calibri"/>
              <a:cs typeface="Calibri"/>
              <a:sym typeface="Calibri"/>
            </a:endParaRPr>
          </a:p>
        </p:txBody>
      </p:sp>
      <p:sp>
        <p:nvSpPr>
          <p:cNvPr id="226" name="Google Shape;226;p12"/>
          <p:cNvSpPr/>
          <p:nvPr/>
        </p:nvSpPr>
        <p:spPr>
          <a:xfrm>
            <a:off x="6381750" y="1952625"/>
            <a:ext cx="11239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
          <p:cNvSpPr/>
          <p:nvPr/>
        </p:nvSpPr>
        <p:spPr>
          <a:xfrm>
            <a:off x="6381750" y="381000"/>
            <a:ext cx="5176622"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06 · PERSONAS</a:t>
            </a:r>
            <a:endParaRPr b="0" i="0" sz="1800" u="none" cap="none" strike="noStrike">
              <a:solidFill>
                <a:schemeClr val="dk1"/>
              </a:solidFill>
              <a:latin typeface="Calibri"/>
              <a:ea typeface="Calibri"/>
              <a:cs typeface="Calibri"/>
              <a:sym typeface="Calibri"/>
            </a:endParaRPr>
          </a:p>
        </p:txBody>
      </p:sp>
      <p:sp>
        <p:nvSpPr>
          <p:cNvPr id="228" name="Google Shape;228;p12"/>
          <p:cNvSpPr/>
          <p:nvPr/>
        </p:nvSpPr>
        <p:spPr>
          <a:xfrm>
            <a:off x="6381750" y="752475"/>
            <a:ext cx="5176622" cy="6191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3750"/>
              <a:buFont typeface="Montserrat"/>
              <a:buNone/>
            </a:pPr>
            <a:r>
              <a:rPr b="1" i="0" lang="en-US" sz="3750" u="none" cap="none" strike="noStrike">
                <a:solidFill>
                  <a:srgbClr val="111111"/>
                </a:solidFill>
                <a:latin typeface="Montserrat"/>
                <a:ea typeface="Montserrat"/>
                <a:cs typeface="Montserrat"/>
                <a:sym typeface="Montserrat"/>
              </a:rPr>
              <a:t>Helen Whitfield, 68</a:t>
            </a:r>
            <a:endParaRPr b="0" i="0" sz="3750" u="none" cap="none" strike="noStrike">
              <a:solidFill>
                <a:schemeClr val="dk1"/>
              </a:solidFill>
              <a:latin typeface="Calibri"/>
              <a:ea typeface="Calibri"/>
              <a:cs typeface="Calibri"/>
              <a:sym typeface="Calibri"/>
            </a:endParaRPr>
          </a:p>
        </p:txBody>
      </p:sp>
      <p:sp>
        <p:nvSpPr>
          <p:cNvPr id="229" name="Google Shape;229;p12"/>
          <p:cNvSpPr/>
          <p:nvPr/>
        </p:nvSpPr>
        <p:spPr>
          <a:xfrm>
            <a:off x="6381750" y="1428750"/>
            <a:ext cx="5176622"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2025"/>
              <a:buFont typeface="Montserrat"/>
              <a:buNone/>
            </a:pPr>
            <a:r>
              <a:rPr b="0" i="0" lang="en-US" sz="2025" u="none" cap="none" strike="noStrike">
                <a:solidFill>
                  <a:srgbClr val="3D3D3D"/>
                </a:solidFill>
                <a:latin typeface="Montserrat"/>
                <a:ea typeface="Montserrat"/>
                <a:cs typeface="Montserrat"/>
                <a:sym typeface="Montserrat"/>
              </a:rPr>
              <a:t>Retired · At-risk older adult</a:t>
            </a:r>
            <a:endParaRPr b="0" i="0" sz="2025" u="none" cap="none" strike="noStrike">
              <a:solidFill>
                <a:schemeClr val="dk1"/>
              </a:solidFill>
              <a:latin typeface="Calibri"/>
              <a:ea typeface="Calibri"/>
              <a:cs typeface="Calibri"/>
              <a:sym typeface="Calibri"/>
            </a:endParaRPr>
          </a:p>
        </p:txBody>
      </p:sp>
      <p:pic>
        <p:nvPicPr>
          <p:cNvPr descr="preencoded.png" id="230" name="Google Shape;230;p12"/>
          <p:cNvPicPr preferRelativeResize="0"/>
          <p:nvPr/>
        </p:nvPicPr>
        <p:blipFill rotWithShape="1">
          <a:blip r:embed="rId4">
            <a:alphaModFix/>
          </a:blip>
          <a:srcRect b="-3807" l="0" r="0" t="-3807"/>
          <a:stretch/>
        </p:blipFill>
        <p:spPr>
          <a:xfrm>
            <a:off x="17087850" y="381000"/>
            <a:ext cx="533400" cy="533400"/>
          </a:xfrm>
          <a:prstGeom prst="rect">
            <a:avLst/>
          </a:prstGeom>
          <a:noFill/>
          <a:ln>
            <a:noFill/>
          </a:ln>
        </p:spPr>
      </p:pic>
      <p:sp>
        <p:nvSpPr>
          <p:cNvPr id="231" name="Google Shape;231;p12"/>
          <p:cNvSpPr/>
          <p:nvPr/>
        </p:nvSpPr>
        <p:spPr>
          <a:xfrm>
            <a:off x="6381750" y="2095500"/>
            <a:ext cx="3773128" cy="395288"/>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Last eye exam four years ago</a:t>
            </a:r>
            <a:endParaRPr b="0" i="0" sz="1875" u="none" cap="none" strike="noStrike">
              <a:solidFill>
                <a:schemeClr val="dk1"/>
              </a:solidFill>
              <a:latin typeface="Calibri"/>
              <a:ea typeface="Calibri"/>
              <a:cs typeface="Calibri"/>
              <a:sym typeface="Calibri"/>
            </a:endParaRPr>
          </a:p>
        </p:txBody>
      </p:sp>
      <p:sp>
        <p:nvSpPr>
          <p:cNvPr id="232" name="Google Shape;232;p12"/>
          <p:cNvSpPr/>
          <p:nvPr/>
        </p:nvSpPr>
        <p:spPr>
          <a:xfrm>
            <a:off x="10097616" y="2095500"/>
            <a:ext cx="9525" cy="357188"/>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10392891" y="2095500"/>
            <a:ext cx="5329528" cy="395288"/>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Wants to stay proactive about eye health</a:t>
            </a:r>
            <a:endParaRPr b="0" i="0" sz="1875" u="none" cap="none" strike="noStrike">
              <a:solidFill>
                <a:schemeClr val="dk1"/>
              </a:solidFill>
              <a:latin typeface="Calibri"/>
              <a:ea typeface="Calibri"/>
              <a:cs typeface="Calibri"/>
              <a:sym typeface="Calibri"/>
            </a:endParaRPr>
          </a:p>
        </p:txBody>
      </p:sp>
      <p:sp>
        <p:nvSpPr>
          <p:cNvPr id="234" name="Google Shape;234;p12"/>
          <p:cNvSpPr/>
          <p:nvPr/>
        </p:nvSpPr>
        <p:spPr>
          <a:xfrm>
            <a:off x="6381750" y="2586038"/>
            <a:ext cx="3606775" cy="3148013"/>
          </a:xfrm>
          <a:prstGeom prst="roundRect">
            <a:avLst>
              <a:gd fmla="val 4841"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6610350" y="2814638"/>
            <a:ext cx="3464533"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GOALS</a:t>
            </a:r>
            <a:endParaRPr b="0" i="0" sz="1800" u="none" cap="none" strike="noStrike">
              <a:solidFill>
                <a:schemeClr val="dk1"/>
              </a:solidFill>
              <a:latin typeface="Calibri"/>
              <a:ea typeface="Calibri"/>
              <a:cs typeface="Calibri"/>
              <a:sym typeface="Calibri"/>
            </a:endParaRPr>
          </a:p>
        </p:txBody>
      </p:sp>
      <p:sp>
        <p:nvSpPr>
          <p:cNvPr id="236" name="Google Shape;236;p12"/>
          <p:cNvSpPr/>
          <p:nvPr/>
        </p:nvSpPr>
        <p:spPr>
          <a:xfrm>
            <a:off x="6610350" y="3205163"/>
            <a:ext cx="3244062" cy="1073944"/>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Identify possible cataract or glaucoma concerns early</a:t>
            </a:r>
            <a:endParaRPr b="0" i="0" sz="1875" u="none" cap="none" strike="noStrike">
              <a:solidFill>
                <a:schemeClr val="dk1"/>
              </a:solidFill>
              <a:latin typeface="Calibri"/>
              <a:ea typeface="Calibri"/>
              <a:cs typeface="Calibri"/>
              <a:sym typeface="Calibri"/>
            </a:endParaRPr>
          </a:p>
        </p:txBody>
      </p:sp>
      <p:sp>
        <p:nvSpPr>
          <p:cNvPr id="237" name="Google Shape;237;p12"/>
          <p:cNvSpPr/>
          <p:nvPr/>
        </p:nvSpPr>
        <p:spPr>
          <a:xfrm>
            <a:off x="6610350" y="4355306"/>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Understand her eye health clearly</a:t>
            </a:r>
            <a:endParaRPr b="0" i="0" sz="1875" u="none" cap="none" strike="noStrike">
              <a:solidFill>
                <a:schemeClr val="dk1"/>
              </a:solidFill>
              <a:latin typeface="Calibri"/>
              <a:ea typeface="Calibri"/>
              <a:cs typeface="Calibri"/>
              <a:sym typeface="Calibri"/>
            </a:endParaRPr>
          </a:p>
        </p:txBody>
      </p:sp>
      <p:sp>
        <p:nvSpPr>
          <p:cNvPr id="238" name="Google Shape;238;p12"/>
          <p:cNvSpPr/>
          <p:nvPr/>
        </p:nvSpPr>
        <p:spPr>
          <a:xfrm>
            <a:off x="6610350" y="5160169"/>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Know what to do next</a:t>
            </a:r>
            <a:endParaRPr b="0" i="0" sz="1875" u="none" cap="none" strike="noStrike">
              <a:solidFill>
                <a:schemeClr val="dk1"/>
              </a:solidFill>
              <a:latin typeface="Calibri"/>
              <a:ea typeface="Calibri"/>
              <a:cs typeface="Calibri"/>
              <a:sym typeface="Calibri"/>
            </a:endParaRPr>
          </a:p>
        </p:txBody>
      </p:sp>
      <p:sp>
        <p:nvSpPr>
          <p:cNvPr id="239" name="Google Shape;239;p12"/>
          <p:cNvSpPr/>
          <p:nvPr/>
        </p:nvSpPr>
        <p:spPr>
          <a:xfrm>
            <a:off x="10198075" y="2586038"/>
            <a:ext cx="3606775" cy="2112169"/>
          </a:xfrm>
          <a:prstGeom prst="roundRect">
            <a:avLst>
              <a:gd fmla="val 7215"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10426675" y="2814638"/>
            <a:ext cx="3464533"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NEEDS</a:t>
            </a:r>
            <a:endParaRPr b="0" i="0" sz="1800" u="none" cap="none" strike="noStrike">
              <a:solidFill>
                <a:schemeClr val="dk1"/>
              </a:solidFill>
              <a:latin typeface="Calibri"/>
              <a:ea typeface="Calibri"/>
              <a:cs typeface="Calibri"/>
              <a:sym typeface="Calibri"/>
            </a:endParaRPr>
          </a:p>
        </p:txBody>
      </p:sp>
      <p:sp>
        <p:nvSpPr>
          <p:cNvPr id="241" name="Google Shape;241;p12"/>
          <p:cNvSpPr/>
          <p:nvPr/>
        </p:nvSpPr>
        <p:spPr>
          <a:xfrm>
            <a:off x="10426675" y="3205163"/>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Plain-language results</a:t>
            </a:r>
            <a:endParaRPr b="0" i="0" sz="1875" u="none" cap="none" strike="noStrike">
              <a:solidFill>
                <a:schemeClr val="dk1"/>
              </a:solidFill>
              <a:latin typeface="Calibri"/>
              <a:ea typeface="Calibri"/>
              <a:cs typeface="Calibri"/>
              <a:sym typeface="Calibri"/>
            </a:endParaRPr>
          </a:p>
        </p:txBody>
      </p:sp>
      <p:sp>
        <p:nvSpPr>
          <p:cNvPr id="242" name="Google Shape;242;p12"/>
          <p:cNvSpPr/>
          <p:nvPr/>
        </p:nvSpPr>
        <p:spPr>
          <a:xfrm>
            <a:off x="10426675" y="3664744"/>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Large, easy-to-read text</a:t>
            </a:r>
            <a:endParaRPr b="0" i="0" sz="1875" u="none" cap="none" strike="noStrike">
              <a:solidFill>
                <a:schemeClr val="dk1"/>
              </a:solidFill>
              <a:latin typeface="Calibri"/>
              <a:ea typeface="Calibri"/>
              <a:cs typeface="Calibri"/>
              <a:sym typeface="Calibri"/>
            </a:endParaRPr>
          </a:p>
        </p:txBody>
      </p:sp>
      <p:sp>
        <p:nvSpPr>
          <p:cNvPr id="243" name="Google Shape;243;p12"/>
          <p:cNvSpPr/>
          <p:nvPr/>
        </p:nvSpPr>
        <p:spPr>
          <a:xfrm>
            <a:off x="10426675" y="4124325"/>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A clear next step</a:t>
            </a:r>
            <a:endParaRPr b="0" i="0" sz="1875" u="none" cap="none" strike="noStrike">
              <a:solidFill>
                <a:schemeClr val="dk1"/>
              </a:solidFill>
              <a:latin typeface="Calibri"/>
              <a:ea typeface="Calibri"/>
              <a:cs typeface="Calibri"/>
              <a:sym typeface="Calibri"/>
            </a:endParaRPr>
          </a:p>
        </p:txBody>
      </p:sp>
      <p:sp>
        <p:nvSpPr>
          <p:cNvPr id="244" name="Google Shape;244;p12"/>
          <p:cNvSpPr/>
          <p:nvPr/>
        </p:nvSpPr>
        <p:spPr>
          <a:xfrm>
            <a:off x="14014400" y="2586038"/>
            <a:ext cx="3606775" cy="3148013"/>
          </a:xfrm>
          <a:prstGeom prst="roundRect">
            <a:avLst>
              <a:gd fmla="val 4841" name="adj"/>
            </a:avLst>
          </a:prstGeom>
          <a:solidFill>
            <a:srgbClr val="FDF4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2"/>
          <p:cNvSpPr/>
          <p:nvPr/>
        </p:nvSpPr>
        <p:spPr>
          <a:xfrm>
            <a:off x="14243000" y="2814638"/>
            <a:ext cx="3464533"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D4531"/>
              </a:buClr>
              <a:buSzPts val="1800"/>
              <a:buFont typeface="Montserrat"/>
              <a:buNone/>
            </a:pPr>
            <a:r>
              <a:rPr b="1" i="0" lang="en-US" sz="1800" u="none" cap="none" strike="noStrike">
                <a:solidFill>
                  <a:srgbClr val="9D4531"/>
                </a:solidFill>
                <a:latin typeface="Montserrat"/>
                <a:ea typeface="Montserrat"/>
                <a:cs typeface="Montserrat"/>
                <a:sym typeface="Montserrat"/>
              </a:rPr>
              <a:t>CONCERNS</a:t>
            </a:r>
            <a:endParaRPr b="0" i="0" sz="1800" u="none" cap="none" strike="noStrike">
              <a:solidFill>
                <a:schemeClr val="dk1"/>
              </a:solidFill>
              <a:latin typeface="Calibri"/>
              <a:ea typeface="Calibri"/>
              <a:cs typeface="Calibri"/>
              <a:sym typeface="Calibri"/>
            </a:endParaRPr>
          </a:p>
        </p:txBody>
      </p:sp>
      <p:sp>
        <p:nvSpPr>
          <p:cNvPr id="246" name="Google Shape;246;p12"/>
          <p:cNvSpPr/>
          <p:nvPr/>
        </p:nvSpPr>
        <p:spPr>
          <a:xfrm>
            <a:off x="14243000" y="3205163"/>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Confusing medical terminology</a:t>
            </a:r>
            <a:endParaRPr b="0" i="0" sz="1875" u="none" cap="none" strike="noStrike">
              <a:solidFill>
                <a:schemeClr val="dk1"/>
              </a:solidFill>
              <a:latin typeface="Calibri"/>
              <a:ea typeface="Calibri"/>
              <a:cs typeface="Calibri"/>
              <a:sym typeface="Calibri"/>
            </a:endParaRPr>
          </a:p>
        </p:txBody>
      </p:sp>
      <p:sp>
        <p:nvSpPr>
          <p:cNvPr id="247" name="Google Shape;247;p12"/>
          <p:cNvSpPr/>
          <p:nvPr/>
        </p:nvSpPr>
        <p:spPr>
          <a:xfrm>
            <a:off x="14243000" y="4010025"/>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A frightening result without explanation</a:t>
            </a:r>
            <a:endParaRPr b="0" i="0" sz="1875" u="none" cap="none" strike="noStrike">
              <a:solidFill>
                <a:schemeClr val="dk1"/>
              </a:solidFill>
              <a:latin typeface="Calibri"/>
              <a:ea typeface="Calibri"/>
              <a:cs typeface="Calibri"/>
              <a:sym typeface="Calibri"/>
            </a:endParaRPr>
          </a:p>
        </p:txBody>
      </p:sp>
      <p:sp>
        <p:nvSpPr>
          <p:cNvPr id="248" name="Google Shape;248;p12"/>
          <p:cNvSpPr/>
          <p:nvPr/>
        </p:nvSpPr>
        <p:spPr>
          <a:xfrm>
            <a:off x="14243000" y="4814888"/>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Not knowing who to ask for help</a:t>
            </a:r>
            <a:endParaRPr b="0" i="0" sz="1875" u="none" cap="none" strike="noStrike">
              <a:solidFill>
                <a:schemeClr val="dk1"/>
              </a:solidFill>
              <a:latin typeface="Calibri"/>
              <a:ea typeface="Calibri"/>
              <a:cs typeface="Calibri"/>
              <a:sym typeface="Calibri"/>
            </a:endParaRPr>
          </a:p>
        </p:txBody>
      </p:sp>
      <p:sp>
        <p:nvSpPr>
          <p:cNvPr id="249" name="Google Shape;249;p12"/>
          <p:cNvSpPr/>
          <p:nvPr/>
        </p:nvSpPr>
        <p:spPr>
          <a:xfrm>
            <a:off x="6381750" y="7072313"/>
            <a:ext cx="11239500" cy="1071563"/>
          </a:xfrm>
          <a:prstGeom prst="roundRect">
            <a:avLst>
              <a:gd fmla="val 10667" name="adj"/>
            </a:avLst>
          </a:prstGeom>
          <a:solidFill>
            <a:srgbClr val="EA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
          <p:cNvSpPr/>
          <p:nvPr/>
        </p:nvSpPr>
        <p:spPr>
          <a:xfrm>
            <a:off x="6381750" y="7072313"/>
            <a:ext cx="38100" cy="1071563"/>
          </a:xfrm>
          <a:prstGeom prst="rect">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
          <p:cNvSpPr/>
          <p:nvPr/>
        </p:nvSpPr>
        <p:spPr>
          <a:xfrm>
            <a:off x="6648450" y="7262813"/>
            <a:ext cx="11081385" cy="728662"/>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B4F82"/>
              </a:buClr>
              <a:buSzPts val="1875"/>
              <a:buFont typeface="Montserrat"/>
              <a:buNone/>
            </a:pPr>
            <a:r>
              <a:rPr b="0" i="0" lang="en-US" sz="1875" u="none" cap="none" strike="noStrike">
                <a:solidFill>
                  <a:srgbClr val="1B4F82"/>
                </a:solidFill>
                <a:latin typeface="Montserrat"/>
                <a:ea typeface="Montserrat"/>
                <a:cs typeface="Montserrat"/>
                <a:sym typeface="Montserrat"/>
              </a:rPr>
              <a:t>“I may not have symptoms now, but I want to understand my screening result and what I should do next.”</a:t>
            </a:r>
            <a:endParaRPr b="0" i="0" sz="1875" u="none" cap="none" strike="noStrike">
              <a:solidFill>
                <a:schemeClr val="dk1"/>
              </a:solidFill>
              <a:latin typeface="Calibri"/>
              <a:ea typeface="Calibri"/>
              <a:cs typeface="Calibri"/>
              <a:sym typeface="Calibri"/>
            </a:endParaRPr>
          </a:p>
        </p:txBody>
      </p:sp>
      <p:sp>
        <p:nvSpPr>
          <p:cNvPr id="252" name="Google Shape;252;p12"/>
          <p:cNvSpPr/>
          <p:nvPr/>
        </p:nvSpPr>
        <p:spPr>
          <a:xfrm>
            <a:off x="6381750" y="8277225"/>
            <a:ext cx="11239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6381750" y="8515350"/>
            <a:ext cx="1616318"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SCENARIO</a:t>
            </a:r>
            <a:endParaRPr b="0" i="0" sz="1800" u="none" cap="none" strike="noStrike">
              <a:solidFill>
                <a:schemeClr val="dk1"/>
              </a:solidFill>
              <a:latin typeface="Calibri"/>
              <a:ea typeface="Calibri"/>
              <a:cs typeface="Calibri"/>
              <a:sym typeface="Calibri"/>
            </a:endParaRPr>
          </a:p>
        </p:txBody>
      </p:sp>
      <p:sp>
        <p:nvSpPr>
          <p:cNvPr id="254" name="Google Shape;254;p12"/>
          <p:cNvSpPr/>
          <p:nvPr/>
        </p:nvSpPr>
        <p:spPr>
          <a:xfrm>
            <a:off x="8079730" y="8477250"/>
            <a:ext cx="9827766" cy="1466850"/>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Helen attends a screening visit. A technician captures her fundus image and runs DUAL. She receives a simple explanation of the screening result and the recommended next step. DUAL supports screening and referral; it does not provide a diagnosis.</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13"/>
          <p:cNvSpPr/>
          <p:nvPr/>
        </p:nvSpPr>
        <p:spPr>
          <a:xfrm>
            <a:off x="0" y="0"/>
            <a:ext cx="5715000" cy="10287000"/>
          </a:xfrm>
          <a:prstGeom prst="rect">
            <a:avLst/>
          </a:prstGeom>
          <a:solidFill>
            <a:srgbClr val="EE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1" name="Google Shape;261;p13"/>
          <p:cNvPicPr preferRelativeResize="0"/>
          <p:nvPr/>
        </p:nvPicPr>
        <p:blipFill rotWithShape="1">
          <a:blip r:embed="rId3">
            <a:alphaModFix/>
          </a:blip>
          <a:srcRect b="0" l="20717" r="20717" t="0"/>
          <a:stretch/>
        </p:blipFill>
        <p:spPr>
          <a:xfrm>
            <a:off x="0" y="0"/>
            <a:ext cx="5715000" cy="10287000"/>
          </a:xfrm>
          <a:prstGeom prst="rect">
            <a:avLst/>
          </a:prstGeom>
          <a:noFill/>
          <a:ln>
            <a:noFill/>
          </a:ln>
        </p:spPr>
      </p:pic>
      <p:sp>
        <p:nvSpPr>
          <p:cNvPr id="262" name="Google Shape;262;p13"/>
          <p:cNvSpPr/>
          <p:nvPr/>
        </p:nvSpPr>
        <p:spPr>
          <a:xfrm>
            <a:off x="0" y="7491115"/>
            <a:ext cx="5715000" cy="2795885"/>
          </a:xfrm>
          <a:prstGeom prst="rect">
            <a:avLst/>
          </a:prstGeom>
          <a:gradFill>
            <a:gsLst>
              <a:gs pos="0">
                <a:srgbClr val="111111">
                  <a:alpha val="94902"/>
                </a:srgbClr>
              </a:gs>
              <a:gs pos="35000">
                <a:srgbClr val="111111">
                  <a:alpha val="90196"/>
                </a:srgbClr>
              </a:gs>
              <a:gs pos="70000">
                <a:srgbClr val="111111">
                  <a:alpha val="54902"/>
                </a:srgbClr>
              </a:gs>
              <a:gs pos="100000">
                <a:srgbClr val="111111">
                  <a:alpha val="0"/>
                </a:srgbClr>
              </a:gs>
            </a:gsLst>
            <a:lin ang="16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419100" y="7948315"/>
            <a:ext cx="5023104" cy="1233785"/>
          </a:xfrm>
          <a:prstGeom prst="rect">
            <a:avLst/>
          </a:prstGeom>
          <a:noFill/>
          <a:ln>
            <a:noFill/>
          </a:ln>
        </p:spPr>
        <p:txBody>
          <a:bodyPr anchorCtr="0" anchor="t" bIns="25400" lIns="25400" spcFirstLastPara="1" rIns="25400" wrap="square" tIns="25400">
            <a:noAutofit/>
          </a:bodyPr>
          <a:lstStyle/>
          <a:p>
            <a:pPr indent="0" lvl="0" marL="0" marR="0" rtl="0" algn="l">
              <a:lnSpc>
                <a:spcPct val="110132"/>
              </a:lnSpc>
              <a:spcBef>
                <a:spcPts val="0"/>
              </a:spcBef>
              <a:spcAft>
                <a:spcPts val="0"/>
              </a:spcAft>
              <a:buClr>
                <a:srgbClr val="FFFFFF"/>
              </a:buClr>
              <a:buSzPts val="2325"/>
              <a:buFont typeface="Montserrat"/>
              <a:buNone/>
            </a:pPr>
            <a:r>
              <a:rPr b="1" i="0" lang="en-US" sz="2325" u="none" cap="none" strike="noStrike">
                <a:solidFill>
                  <a:srgbClr val="FFFFFF"/>
                </a:solidFill>
                <a:latin typeface="Montserrat"/>
                <a:ea typeface="Montserrat"/>
                <a:cs typeface="Montserrat"/>
                <a:sym typeface="Montserrat"/>
              </a:rPr>
              <a:t>“I want to help more people get screened, quickly and accurately.”</a:t>
            </a:r>
            <a:endParaRPr b="0" i="0" sz="2325" u="none" cap="none" strike="noStrike">
              <a:solidFill>
                <a:schemeClr val="dk1"/>
              </a:solidFill>
              <a:latin typeface="Calibri"/>
              <a:ea typeface="Calibri"/>
              <a:cs typeface="Calibri"/>
              <a:sym typeface="Calibri"/>
            </a:endParaRPr>
          </a:p>
        </p:txBody>
      </p:sp>
      <p:sp>
        <p:nvSpPr>
          <p:cNvPr id="264" name="Google Shape;264;p13"/>
          <p:cNvSpPr/>
          <p:nvPr/>
        </p:nvSpPr>
        <p:spPr>
          <a:xfrm>
            <a:off x="419100" y="9277350"/>
            <a:ext cx="5023104" cy="5905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02 | SCREENING TECHNICIAN PERSONA</a:t>
            </a:r>
            <a:endParaRPr b="0" i="0" sz="1800" u="none" cap="none" strike="noStrike">
              <a:solidFill>
                <a:schemeClr val="dk1"/>
              </a:solidFill>
              <a:latin typeface="Calibri"/>
              <a:ea typeface="Calibri"/>
              <a:cs typeface="Calibri"/>
              <a:sym typeface="Calibri"/>
            </a:endParaRPr>
          </a:p>
        </p:txBody>
      </p:sp>
      <p:sp>
        <p:nvSpPr>
          <p:cNvPr id="265" name="Google Shape;265;p13"/>
          <p:cNvSpPr/>
          <p:nvPr/>
        </p:nvSpPr>
        <p:spPr>
          <a:xfrm>
            <a:off x="6381750" y="1952625"/>
            <a:ext cx="11239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3"/>
          <p:cNvSpPr/>
          <p:nvPr/>
        </p:nvSpPr>
        <p:spPr>
          <a:xfrm>
            <a:off x="6381750" y="381000"/>
            <a:ext cx="3876266"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06 · PERSONAS</a:t>
            </a:r>
            <a:endParaRPr b="0" i="0" sz="1800" u="none" cap="none" strike="noStrike">
              <a:solidFill>
                <a:schemeClr val="dk1"/>
              </a:solidFill>
              <a:latin typeface="Calibri"/>
              <a:ea typeface="Calibri"/>
              <a:cs typeface="Calibri"/>
              <a:sym typeface="Calibri"/>
            </a:endParaRPr>
          </a:p>
        </p:txBody>
      </p:sp>
      <p:sp>
        <p:nvSpPr>
          <p:cNvPr id="267" name="Google Shape;267;p13"/>
          <p:cNvSpPr/>
          <p:nvPr/>
        </p:nvSpPr>
        <p:spPr>
          <a:xfrm>
            <a:off x="6381750" y="752475"/>
            <a:ext cx="3876266" cy="6191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3750"/>
              <a:buFont typeface="Montserrat"/>
              <a:buNone/>
            </a:pPr>
            <a:r>
              <a:rPr b="1" i="0" lang="en-US" sz="3750" u="none" cap="none" strike="noStrike">
                <a:solidFill>
                  <a:srgbClr val="111111"/>
                </a:solidFill>
                <a:latin typeface="Montserrat"/>
                <a:ea typeface="Montserrat"/>
                <a:cs typeface="Montserrat"/>
                <a:sym typeface="Montserrat"/>
              </a:rPr>
              <a:t>Arun Desai, 26</a:t>
            </a:r>
            <a:endParaRPr b="0" i="0" sz="3750" u="none" cap="none" strike="noStrike">
              <a:solidFill>
                <a:schemeClr val="dk1"/>
              </a:solidFill>
              <a:latin typeface="Calibri"/>
              <a:ea typeface="Calibri"/>
              <a:cs typeface="Calibri"/>
              <a:sym typeface="Calibri"/>
            </a:endParaRPr>
          </a:p>
        </p:txBody>
      </p:sp>
      <p:sp>
        <p:nvSpPr>
          <p:cNvPr id="268" name="Google Shape;268;p13"/>
          <p:cNvSpPr/>
          <p:nvPr/>
        </p:nvSpPr>
        <p:spPr>
          <a:xfrm>
            <a:off x="6381750" y="1428750"/>
            <a:ext cx="3876266"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2025"/>
              <a:buFont typeface="Montserrat"/>
              <a:buNone/>
            </a:pPr>
            <a:r>
              <a:rPr b="0" i="0" lang="en-US" sz="2025" u="none" cap="none" strike="noStrike">
                <a:solidFill>
                  <a:srgbClr val="3D3D3D"/>
                </a:solidFill>
                <a:latin typeface="Montserrat"/>
                <a:ea typeface="Montserrat"/>
                <a:cs typeface="Montserrat"/>
                <a:sym typeface="Montserrat"/>
              </a:rPr>
              <a:t>Screening Technician</a:t>
            </a:r>
            <a:endParaRPr b="0" i="0" sz="2025" u="none" cap="none" strike="noStrike">
              <a:solidFill>
                <a:schemeClr val="dk1"/>
              </a:solidFill>
              <a:latin typeface="Calibri"/>
              <a:ea typeface="Calibri"/>
              <a:cs typeface="Calibri"/>
              <a:sym typeface="Calibri"/>
            </a:endParaRPr>
          </a:p>
        </p:txBody>
      </p:sp>
      <p:pic>
        <p:nvPicPr>
          <p:cNvPr descr="preencoded.png" id="269" name="Google Shape;269;p13"/>
          <p:cNvPicPr preferRelativeResize="0"/>
          <p:nvPr/>
        </p:nvPicPr>
        <p:blipFill rotWithShape="1">
          <a:blip r:embed="rId4">
            <a:alphaModFix/>
          </a:blip>
          <a:srcRect b="-3807" l="0" r="0" t="-3807"/>
          <a:stretch/>
        </p:blipFill>
        <p:spPr>
          <a:xfrm>
            <a:off x="17087850" y="381000"/>
            <a:ext cx="533400" cy="533400"/>
          </a:xfrm>
          <a:prstGeom prst="rect">
            <a:avLst/>
          </a:prstGeom>
          <a:noFill/>
          <a:ln>
            <a:noFill/>
          </a:ln>
        </p:spPr>
      </p:pic>
      <p:sp>
        <p:nvSpPr>
          <p:cNvPr id="270" name="Google Shape;270;p13"/>
          <p:cNvSpPr/>
          <p:nvPr/>
        </p:nvSpPr>
        <p:spPr>
          <a:xfrm>
            <a:off x="6381750" y="2095500"/>
            <a:ext cx="3866125" cy="752475"/>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Works at rural and community health camps</a:t>
            </a:r>
            <a:endParaRPr b="0" i="0" sz="1875" u="none" cap="none" strike="noStrike">
              <a:solidFill>
                <a:schemeClr val="dk1"/>
              </a:solidFill>
              <a:latin typeface="Calibri"/>
              <a:ea typeface="Calibri"/>
              <a:cs typeface="Calibri"/>
              <a:sym typeface="Calibri"/>
            </a:endParaRPr>
          </a:p>
        </p:txBody>
      </p:sp>
      <p:sp>
        <p:nvSpPr>
          <p:cNvPr id="271" name="Google Shape;271;p13"/>
          <p:cNvSpPr/>
          <p:nvPr/>
        </p:nvSpPr>
        <p:spPr>
          <a:xfrm>
            <a:off x="10382920" y="2095500"/>
            <a:ext cx="9525" cy="71437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3"/>
          <p:cNvSpPr/>
          <p:nvPr/>
        </p:nvSpPr>
        <p:spPr>
          <a:xfrm>
            <a:off x="10637267" y="2095500"/>
            <a:ext cx="3301931" cy="752475"/>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Uses a portable retinal/fundus camera</a:t>
            </a:r>
            <a:endParaRPr b="0" i="0" sz="1875" u="none" cap="none" strike="noStrike">
              <a:solidFill>
                <a:schemeClr val="dk1"/>
              </a:solidFill>
              <a:latin typeface="Calibri"/>
              <a:ea typeface="Calibri"/>
              <a:cs typeface="Calibri"/>
              <a:sym typeface="Calibri"/>
            </a:endParaRPr>
          </a:p>
        </p:txBody>
      </p:sp>
      <p:sp>
        <p:nvSpPr>
          <p:cNvPr id="273" name="Google Shape;273;p13"/>
          <p:cNvSpPr/>
          <p:nvPr/>
        </p:nvSpPr>
        <p:spPr>
          <a:xfrm>
            <a:off x="14090675" y="2095500"/>
            <a:ext cx="9525" cy="71437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3"/>
          <p:cNvSpPr/>
          <p:nvPr/>
        </p:nvSpPr>
        <p:spPr>
          <a:xfrm>
            <a:off x="14345022" y="2095500"/>
            <a:ext cx="3374515" cy="752475"/>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Focused on efficient, reliable screening</a:t>
            </a:r>
            <a:endParaRPr b="0" i="0" sz="1875" u="none" cap="none" strike="noStrike">
              <a:solidFill>
                <a:schemeClr val="dk1"/>
              </a:solidFill>
              <a:latin typeface="Calibri"/>
              <a:ea typeface="Calibri"/>
              <a:cs typeface="Calibri"/>
              <a:sym typeface="Calibri"/>
            </a:endParaRPr>
          </a:p>
        </p:txBody>
      </p:sp>
      <p:sp>
        <p:nvSpPr>
          <p:cNvPr id="275" name="Google Shape;275;p13"/>
          <p:cNvSpPr/>
          <p:nvPr/>
        </p:nvSpPr>
        <p:spPr>
          <a:xfrm>
            <a:off x="6381750" y="2943225"/>
            <a:ext cx="3606775" cy="2802731"/>
          </a:xfrm>
          <a:prstGeom prst="roundRect">
            <a:avLst>
              <a:gd fmla="val 5438"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3"/>
          <p:cNvSpPr/>
          <p:nvPr/>
        </p:nvSpPr>
        <p:spPr>
          <a:xfrm>
            <a:off x="6610350" y="3171825"/>
            <a:ext cx="3464533"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GOALS</a:t>
            </a:r>
            <a:endParaRPr b="0" i="0" sz="1800" u="none" cap="none" strike="noStrike">
              <a:solidFill>
                <a:schemeClr val="dk1"/>
              </a:solidFill>
              <a:latin typeface="Calibri"/>
              <a:ea typeface="Calibri"/>
              <a:cs typeface="Calibri"/>
              <a:sym typeface="Calibri"/>
            </a:endParaRPr>
          </a:p>
        </p:txBody>
      </p:sp>
      <p:sp>
        <p:nvSpPr>
          <p:cNvPr id="277" name="Google Shape;277;p13"/>
          <p:cNvSpPr/>
          <p:nvPr/>
        </p:nvSpPr>
        <p:spPr>
          <a:xfrm>
            <a:off x="6610350" y="3562350"/>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Capture high-quality images quickly</a:t>
            </a:r>
            <a:endParaRPr b="0" i="0" sz="1875" u="none" cap="none" strike="noStrike">
              <a:solidFill>
                <a:schemeClr val="dk1"/>
              </a:solidFill>
              <a:latin typeface="Calibri"/>
              <a:ea typeface="Calibri"/>
              <a:cs typeface="Calibri"/>
              <a:sym typeface="Calibri"/>
            </a:endParaRPr>
          </a:p>
        </p:txBody>
      </p:sp>
      <p:sp>
        <p:nvSpPr>
          <p:cNvPr id="278" name="Google Shape;278;p13"/>
          <p:cNvSpPr/>
          <p:nvPr/>
        </p:nvSpPr>
        <p:spPr>
          <a:xfrm>
            <a:off x="6610350" y="4367213"/>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Get easy-to-understand screening results</a:t>
            </a:r>
            <a:endParaRPr b="0" i="0" sz="1875" u="none" cap="none" strike="noStrike">
              <a:solidFill>
                <a:schemeClr val="dk1"/>
              </a:solidFill>
              <a:latin typeface="Calibri"/>
              <a:ea typeface="Calibri"/>
              <a:cs typeface="Calibri"/>
              <a:sym typeface="Calibri"/>
            </a:endParaRPr>
          </a:p>
        </p:txBody>
      </p:sp>
      <p:sp>
        <p:nvSpPr>
          <p:cNvPr id="279" name="Google Shape;279;p13"/>
          <p:cNvSpPr/>
          <p:nvPr/>
        </p:nvSpPr>
        <p:spPr>
          <a:xfrm>
            <a:off x="6610350" y="5172075"/>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Screen patients efficiently</a:t>
            </a:r>
            <a:endParaRPr b="0" i="0" sz="1875" u="none" cap="none" strike="noStrike">
              <a:solidFill>
                <a:schemeClr val="dk1"/>
              </a:solidFill>
              <a:latin typeface="Calibri"/>
              <a:ea typeface="Calibri"/>
              <a:cs typeface="Calibri"/>
              <a:sym typeface="Calibri"/>
            </a:endParaRPr>
          </a:p>
        </p:txBody>
      </p:sp>
      <p:sp>
        <p:nvSpPr>
          <p:cNvPr id="280" name="Google Shape;280;p13"/>
          <p:cNvSpPr/>
          <p:nvPr/>
        </p:nvSpPr>
        <p:spPr>
          <a:xfrm>
            <a:off x="10198075" y="2943225"/>
            <a:ext cx="3606775" cy="2802731"/>
          </a:xfrm>
          <a:prstGeom prst="roundRect">
            <a:avLst>
              <a:gd fmla="val 5438"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10426675" y="3171825"/>
            <a:ext cx="3464533"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NEEDS</a:t>
            </a:r>
            <a:endParaRPr b="0" i="0" sz="1800" u="none" cap="none" strike="noStrike">
              <a:solidFill>
                <a:schemeClr val="dk1"/>
              </a:solidFill>
              <a:latin typeface="Calibri"/>
              <a:ea typeface="Calibri"/>
              <a:cs typeface="Calibri"/>
              <a:sym typeface="Calibri"/>
            </a:endParaRPr>
          </a:p>
        </p:txBody>
      </p:sp>
      <p:sp>
        <p:nvSpPr>
          <p:cNvPr id="282" name="Google Shape;282;p13"/>
          <p:cNvSpPr/>
          <p:nvPr/>
        </p:nvSpPr>
        <p:spPr>
          <a:xfrm>
            <a:off x="10426675" y="3562350"/>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Immediate image-quality feedback</a:t>
            </a:r>
            <a:endParaRPr b="0" i="0" sz="1875" u="none" cap="none" strike="noStrike">
              <a:solidFill>
                <a:schemeClr val="dk1"/>
              </a:solidFill>
              <a:latin typeface="Calibri"/>
              <a:ea typeface="Calibri"/>
              <a:cs typeface="Calibri"/>
              <a:sym typeface="Calibri"/>
            </a:endParaRPr>
          </a:p>
        </p:txBody>
      </p:sp>
      <p:sp>
        <p:nvSpPr>
          <p:cNvPr id="283" name="Google Shape;283;p13"/>
          <p:cNvSpPr/>
          <p:nvPr/>
        </p:nvSpPr>
        <p:spPr>
          <a:xfrm>
            <a:off x="10426675" y="4367213"/>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Simple, step-by-step workflow</a:t>
            </a:r>
            <a:endParaRPr b="0" i="0" sz="1875" u="none" cap="none" strike="noStrike">
              <a:solidFill>
                <a:schemeClr val="dk1"/>
              </a:solidFill>
              <a:latin typeface="Calibri"/>
              <a:ea typeface="Calibri"/>
              <a:cs typeface="Calibri"/>
              <a:sym typeface="Calibri"/>
            </a:endParaRPr>
          </a:p>
        </p:txBody>
      </p:sp>
      <p:sp>
        <p:nvSpPr>
          <p:cNvPr id="284" name="Google Shape;284;p13"/>
          <p:cNvSpPr/>
          <p:nvPr/>
        </p:nvSpPr>
        <p:spPr>
          <a:xfrm>
            <a:off x="10426675" y="5172075"/>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Clear next-step guidance</a:t>
            </a:r>
            <a:endParaRPr b="0" i="0" sz="1875" u="none" cap="none" strike="noStrike">
              <a:solidFill>
                <a:schemeClr val="dk1"/>
              </a:solidFill>
              <a:latin typeface="Calibri"/>
              <a:ea typeface="Calibri"/>
              <a:cs typeface="Calibri"/>
              <a:sym typeface="Calibri"/>
            </a:endParaRPr>
          </a:p>
        </p:txBody>
      </p:sp>
      <p:sp>
        <p:nvSpPr>
          <p:cNvPr id="285" name="Google Shape;285;p13"/>
          <p:cNvSpPr/>
          <p:nvPr/>
        </p:nvSpPr>
        <p:spPr>
          <a:xfrm>
            <a:off x="14014400" y="2943225"/>
            <a:ext cx="3606775" cy="3148013"/>
          </a:xfrm>
          <a:prstGeom prst="roundRect">
            <a:avLst>
              <a:gd fmla="val 4841" name="adj"/>
            </a:avLst>
          </a:prstGeom>
          <a:solidFill>
            <a:srgbClr val="FDF4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3"/>
          <p:cNvSpPr/>
          <p:nvPr/>
        </p:nvSpPr>
        <p:spPr>
          <a:xfrm>
            <a:off x="14243000" y="3171825"/>
            <a:ext cx="3464533"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D4531"/>
              </a:buClr>
              <a:buSzPts val="1800"/>
              <a:buFont typeface="Montserrat"/>
              <a:buNone/>
            </a:pPr>
            <a:r>
              <a:rPr b="1" i="0" lang="en-US" sz="1800" u="none" cap="none" strike="noStrike">
                <a:solidFill>
                  <a:srgbClr val="9D4531"/>
                </a:solidFill>
                <a:latin typeface="Montserrat"/>
                <a:ea typeface="Montserrat"/>
                <a:cs typeface="Montserrat"/>
                <a:sym typeface="Montserrat"/>
              </a:rPr>
              <a:t>CONCERNS</a:t>
            </a:r>
            <a:endParaRPr b="0" i="0" sz="1800" u="none" cap="none" strike="noStrike">
              <a:solidFill>
                <a:schemeClr val="dk1"/>
              </a:solidFill>
              <a:latin typeface="Calibri"/>
              <a:ea typeface="Calibri"/>
              <a:cs typeface="Calibri"/>
              <a:sym typeface="Calibri"/>
            </a:endParaRPr>
          </a:p>
        </p:txBody>
      </p:sp>
      <p:sp>
        <p:nvSpPr>
          <p:cNvPr id="287" name="Google Shape;287;p13"/>
          <p:cNvSpPr/>
          <p:nvPr/>
        </p:nvSpPr>
        <p:spPr>
          <a:xfrm>
            <a:off x="14243000" y="3562350"/>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Poor-quality or ungradable images</a:t>
            </a:r>
            <a:endParaRPr b="0" i="0" sz="1875" u="none" cap="none" strike="noStrike">
              <a:solidFill>
                <a:schemeClr val="dk1"/>
              </a:solidFill>
              <a:latin typeface="Calibri"/>
              <a:ea typeface="Calibri"/>
              <a:cs typeface="Calibri"/>
              <a:sym typeface="Calibri"/>
            </a:endParaRPr>
          </a:p>
        </p:txBody>
      </p:sp>
      <p:sp>
        <p:nvSpPr>
          <p:cNvPr id="288" name="Google Shape;288;p13"/>
          <p:cNvSpPr/>
          <p:nvPr/>
        </p:nvSpPr>
        <p:spPr>
          <a:xfrm>
            <a:off x="14243000" y="4367213"/>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Patients leaving before results are ready</a:t>
            </a:r>
            <a:endParaRPr b="0" i="0" sz="1875" u="none" cap="none" strike="noStrike">
              <a:solidFill>
                <a:schemeClr val="dk1"/>
              </a:solidFill>
              <a:latin typeface="Calibri"/>
              <a:ea typeface="Calibri"/>
              <a:cs typeface="Calibri"/>
              <a:sym typeface="Calibri"/>
            </a:endParaRPr>
          </a:p>
        </p:txBody>
      </p:sp>
      <p:sp>
        <p:nvSpPr>
          <p:cNvPr id="289" name="Google Shape;289;p13"/>
          <p:cNvSpPr/>
          <p:nvPr/>
        </p:nvSpPr>
        <p:spPr>
          <a:xfrm>
            <a:off x="14243000" y="5172075"/>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Misinterpreting screening results</a:t>
            </a:r>
            <a:endParaRPr b="0" i="0" sz="1875" u="none" cap="none" strike="noStrike">
              <a:solidFill>
                <a:schemeClr val="dk1"/>
              </a:solidFill>
              <a:latin typeface="Calibri"/>
              <a:ea typeface="Calibri"/>
              <a:cs typeface="Calibri"/>
              <a:sym typeface="Calibri"/>
            </a:endParaRPr>
          </a:p>
        </p:txBody>
      </p:sp>
      <p:sp>
        <p:nvSpPr>
          <p:cNvPr id="290" name="Google Shape;290;p13"/>
          <p:cNvSpPr/>
          <p:nvPr/>
        </p:nvSpPr>
        <p:spPr>
          <a:xfrm>
            <a:off x="6381750" y="7417594"/>
            <a:ext cx="11239500" cy="726281"/>
          </a:xfrm>
          <a:prstGeom prst="roundRect">
            <a:avLst>
              <a:gd fmla="val 15738" name="adj"/>
            </a:avLst>
          </a:prstGeom>
          <a:solidFill>
            <a:srgbClr val="EA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3"/>
          <p:cNvSpPr/>
          <p:nvPr/>
        </p:nvSpPr>
        <p:spPr>
          <a:xfrm>
            <a:off x="6381750" y="7417594"/>
            <a:ext cx="38100" cy="726281"/>
          </a:xfrm>
          <a:prstGeom prst="rect">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p:nvPr/>
        </p:nvSpPr>
        <p:spPr>
          <a:xfrm>
            <a:off x="6648450" y="7608094"/>
            <a:ext cx="11081385"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B4F82"/>
              </a:buClr>
              <a:buSzPts val="1875"/>
              <a:buFont typeface="Montserrat"/>
              <a:buNone/>
            </a:pPr>
            <a:r>
              <a:rPr b="0" i="0" lang="en-US" sz="1875" u="none" cap="none" strike="noStrike">
                <a:solidFill>
                  <a:srgbClr val="1B4F82"/>
                </a:solidFill>
                <a:latin typeface="Montserrat"/>
                <a:ea typeface="Montserrat"/>
                <a:cs typeface="Montserrat"/>
                <a:sym typeface="Montserrat"/>
              </a:rPr>
              <a:t>“I need clear feedback right away so I can move to the next patient without delays.”</a:t>
            </a:r>
            <a:endParaRPr b="0" i="0" sz="1875" u="none" cap="none" strike="noStrike">
              <a:solidFill>
                <a:schemeClr val="dk1"/>
              </a:solidFill>
              <a:latin typeface="Calibri"/>
              <a:ea typeface="Calibri"/>
              <a:cs typeface="Calibri"/>
              <a:sym typeface="Calibri"/>
            </a:endParaRPr>
          </a:p>
        </p:txBody>
      </p:sp>
      <p:sp>
        <p:nvSpPr>
          <p:cNvPr id="293" name="Google Shape;293;p13"/>
          <p:cNvSpPr/>
          <p:nvPr/>
        </p:nvSpPr>
        <p:spPr>
          <a:xfrm>
            <a:off x="6381750" y="8277225"/>
            <a:ext cx="11239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3"/>
          <p:cNvSpPr/>
          <p:nvPr/>
        </p:nvSpPr>
        <p:spPr>
          <a:xfrm>
            <a:off x="6381750" y="8515350"/>
            <a:ext cx="1616318"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SCENARIO</a:t>
            </a:r>
            <a:endParaRPr b="0" i="0" sz="1800" u="none" cap="none" strike="noStrike">
              <a:solidFill>
                <a:schemeClr val="dk1"/>
              </a:solidFill>
              <a:latin typeface="Calibri"/>
              <a:ea typeface="Calibri"/>
              <a:cs typeface="Calibri"/>
              <a:sym typeface="Calibri"/>
            </a:endParaRPr>
          </a:p>
        </p:txBody>
      </p:sp>
      <p:sp>
        <p:nvSpPr>
          <p:cNvPr id="295" name="Google Shape;295;p13"/>
          <p:cNvSpPr/>
          <p:nvPr/>
        </p:nvSpPr>
        <p:spPr>
          <a:xfrm>
            <a:off x="8079730" y="8477250"/>
            <a:ext cx="9827766" cy="1466850"/>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Arun captures a patient’s fundus image at a screening camp and uploads it to the DUAL. The system checks image quality and screens for cataract and glaucoma. Arun receives a clear screening result and recommended next step and can generate a report for clinical review when needed.</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14"/>
          <p:cNvSpPr/>
          <p:nvPr/>
        </p:nvSpPr>
        <p:spPr>
          <a:xfrm>
            <a:off x="0" y="0"/>
            <a:ext cx="5715000" cy="10287000"/>
          </a:xfrm>
          <a:prstGeom prst="rect">
            <a:avLst/>
          </a:prstGeom>
          <a:solidFill>
            <a:srgbClr val="EE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2" name="Google Shape;302;p14"/>
          <p:cNvPicPr preferRelativeResize="0"/>
          <p:nvPr/>
        </p:nvPicPr>
        <p:blipFill rotWithShape="1">
          <a:blip r:embed="rId3">
            <a:alphaModFix/>
          </a:blip>
          <a:srcRect b="0" l="20884" r="20884" t="0"/>
          <a:stretch/>
        </p:blipFill>
        <p:spPr>
          <a:xfrm>
            <a:off x="0" y="0"/>
            <a:ext cx="5715000" cy="10287000"/>
          </a:xfrm>
          <a:prstGeom prst="rect">
            <a:avLst/>
          </a:prstGeom>
          <a:noFill/>
          <a:ln>
            <a:noFill/>
          </a:ln>
        </p:spPr>
      </p:pic>
      <p:sp>
        <p:nvSpPr>
          <p:cNvPr id="303" name="Google Shape;303;p14"/>
          <p:cNvSpPr/>
          <p:nvPr/>
        </p:nvSpPr>
        <p:spPr>
          <a:xfrm>
            <a:off x="0" y="7951515"/>
            <a:ext cx="5715000" cy="2335485"/>
          </a:xfrm>
          <a:prstGeom prst="rect">
            <a:avLst/>
          </a:prstGeom>
          <a:gradFill>
            <a:gsLst>
              <a:gs pos="0">
                <a:srgbClr val="111111">
                  <a:alpha val="94902"/>
                </a:srgbClr>
              </a:gs>
              <a:gs pos="35000">
                <a:srgbClr val="111111">
                  <a:alpha val="90196"/>
                </a:srgbClr>
              </a:gs>
              <a:gs pos="70000">
                <a:srgbClr val="111111">
                  <a:alpha val="54902"/>
                </a:srgbClr>
              </a:gs>
              <a:gs pos="100000">
                <a:srgbClr val="111111">
                  <a:alpha val="0"/>
                </a:srgbClr>
              </a:gs>
            </a:gsLst>
            <a:lin ang="16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4"/>
          <p:cNvSpPr/>
          <p:nvPr/>
        </p:nvSpPr>
        <p:spPr>
          <a:xfrm>
            <a:off x="342900" y="8275365"/>
            <a:ext cx="5180076" cy="1078185"/>
          </a:xfrm>
          <a:prstGeom prst="rect">
            <a:avLst/>
          </a:prstGeom>
          <a:noFill/>
          <a:ln>
            <a:noFill/>
          </a:ln>
        </p:spPr>
        <p:txBody>
          <a:bodyPr anchorCtr="0" anchor="t" bIns="25400" lIns="25400" spcFirstLastPara="1" rIns="25400" wrap="square" tIns="25400">
            <a:noAutofit/>
          </a:bodyPr>
          <a:lstStyle/>
          <a:p>
            <a:pPr indent="0" lvl="0" marL="0" marR="0" rtl="0" algn="l">
              <a:lnSpc>
                <a:spcPct val="107059"/>
              </a:lnSpc>
              <a:spcBef>
                <a:spcPts val="0"/>
              </a:spcBef>
              <a:spcAft>
                <a:spcPts val="0"/>
              </a:spcAft>
              <a:buClr>
                <a:srgbClr val="FFFFFF"/>
              </a:buClr>
              <a:buSzPts val="2100"/>
              <a:buFont typeface="Montserrat"/>
              <a:buNone/>
            </a:pPr>
            <a:r>
              <a:rPr b="1" i="0" lang="en-US" sz="2100" u="none" cap="none" strike="noStrike">
                <a:solidFill>
                  <a:srgbClr val="FFFFFF"/>
                </a:solidFill>
                <a:latin typeface="Montserrat"/>
                <a:ea typeface="Montserrat"/>
                <a:cs typeface="Montserrat"/>
                <a:sym typeface="Montserrat"/>
              </a:rPr>
              <a:t>“I want a quick, reliable way to know which patients may need specialist review.”</a:t>
            </a:r>
            <a:endParaRPr b="0" i="0" sz="2100" u="none" cap="none" strike="noStrike">
              <a:solidFill>
                <a:schemeClr val="dk1"/>
              </a:solidFill>
              <a:latin typeface="Calibri"/>
              <a:ea typeface="Calibri"/>
              <a:cs typeface="Calibri"/>
              <a:sym typeface="Calibri"/>
            </a:endParaRPr>
          </a:p>
        </p:txBody>
      </p:sp>
      <p:sp>
        <p:nvSpPr>
          <p:cNvPr id="305" name="Google Shape;305;p14"/>
          <p:cNvSpPr/>
          <p:nvPr/>
        </p:nvSpPr>
        <p:spPr>
          <a:xfrm>
            <a:off x="342900" y="9410700"/>
            <a:ext cx="5180076" cy="5905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03 | PRIMARY CARE PHYSICIAN PERSONA</a:t>
            </a:r>
            <a:endParaRPr b="0" i="0" sz="1800" u="none" cap="none" strike="noStrike">
              <a:solidFill>
                <a:schemeClr val="dk1"/>
              </a:solidFill>
              <a:latin typeface="Calibri"/>
              <a:ea typeface="Calibri"/>
              <a:cs typeface="Calibri"/>
              <a:sym typeface="Calibri"/>
            </a:endParaRPr>
          </a:p>
        </p:txBody>
      </p:sp>
      <p:sp>
        <p:nvSpPr>
          <p:cNvPr id="306" name="Google Shape;306;p14"/>
          <p:cNvSpPr/>
          <p:nvPr/>
        </p:nvSpPr>
        <p:spPr>
          <a:xfrm>
            <a:off x="6324600" y="1885950"/>
            <a:ext cx="113538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a:off x="6324600" y="361950"/>
            <a:ext cx="3983742"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06 · PERSONAS</a:t>
            </a:r>
            <a:endParaRPr b="0" i="0" sz="1800" u="none" cap="none" strike="noStrike">
              <a:solidFill>
                <a:schemeClr val="dk1"/>
              </a:solidFill>
              <a:latin typeface="Calibri"/>
              <a:ea typeface="Calibri"/>
              <a:cs typeface="Calibri"/>
              <a:sym typeface="Calibri"/>
            </a:endParaRPr>
          </a:p>
        </p:txBody>
      </p:sp>
      <p:sp>
        <p:nvSpPr>
          <p:cNvPr id="308" name="Google Shape;308;p14"/>
          <p:cNvSpPr/>
          <p:nvPr/>
        </p:nvSpPr>
        <p:spPr>
          <a:xfrm>
            <a:off x="6324600" y="733425"/>
            <a:ext cx="3983742"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3450"/>
              <a:buFont typeface="Montserrat"/>
              <a:buNone/>
            </a:pPr>
            <a:r>
              <a:rPr b="1" i="0" lang="en-US" sz="3450" u="none" cap="none" strike="noStrike">
                <a:solidFill>
                  <a:srgbClr val="111111"/>
                </a:solidFill>
                <a:latin typeface="Montserrat"/>
                <a:ea typeface="Montserrat"/>
                <a:cs typeface="Montserrat"/>
                <a:sym typeface="Montserrat"/>
              </a:rPr>
              <a:t>Dr. Maya Rao, 41</a:t>
            </a:r>
            <a:endParaRPr b="0" i="0" sz="3450" u="none" cap="none" strike="noStrike">
              <a:solidFill>
                <a:schemeClr val="dk1"/>
              </a:solidFill>
              <a:latin typeface="Calibri"/>
              <a:ea typeface="Calibri"/>
              <a:cs typeface="Calibri"/>
              <a:sym typeface="Calibri"/>
            </a:endParaRPr>
          </a:p>
        </p:txBody>
      </p:sp>
      <p:sp>
        <p:nvSpPr>
          <p:cNvPr id="309" name="Google Shape;309;p14"/>
          <p:cNvSpPr/>
          <p:nvPr/>
        </p:nvSpPr>
        <p:spPr>
          <a:xfrm>
            <a:off x="6324600" y="1362075"/>
            <a:ext cx="3983742"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2025"/>
              <a:buFont typeface="Montserrat"/>
              <a:buNone/>
            </a:pPr>
            <a:r>
              <a:rPr b="0" i="0" lang="en-US" sz="2025" u="none" cap="none" strike="noStrike">
                <a:solidFill>
                  <a:srgbClr val="3D3D3D"/>
                </a:solidFill>
                <a:latin typeface="Montserrat"/>
                <a:ea typeface="Montserrat"/>
                <a:cs typeface="Montserrat"/>
                <a:sym typeface="Montserrat"/>
              </a:rPr>
              <a:t>Primary Care Physician</a:t>
            </a:r>
            <a:endParaRPr b="0" i="0" sz="2025" u="none" cap="none" strike="noStrike">
              <a:solidFill>
                <a:schemeClr val="dk1"/>
              </a:solidFill>
              <a:latin typeface="Calibri"/>
              <a:ea typeface="Calibri"/>
              <a:cs typeface="Calibri"/>
              <a:sym typeface="Calibri"/>
            </a:endParaRPr>
          </a:p>
        </p:txBody>
      </p:sp>
      <p:pic>
        <p:nvPicPr>
          <p:cNvPr descr="preencoded.png" id="310" name="Google Shape;310;p14"/>
          <p:cNvPicPr preferRelativeResize="0"/>
          <p:nvPr/>
        </p:nvPicPr>
        <p:blipFill rotWithShape="1">
          <a:blip r:embed="rId4">
            <a:alphaModFix/>
          </a:blip>
          <a:srcRect b="-3807" l="0" r="0" t="-3807"/>
          <a:stretch/>
        </p:blipFill>
        <p:spPr>
          <a:xfrm>
            <a:off x="17145000" y="361950"/>
            <a:ext cx="533400" cy="533400"/>
          </a:xfrm>
          <a:prstGeom prst="rect">
            <a:avLst/>
          </a:prstGeom>
          <a:noFill/>
          <a:ln>
            <a:noFill/>
          </a:ln>
        </p:spPr>
      </p:pic>
      <p:sp>
        <p:nvSpPr>
          <p:cNvPr id="311" name="Google Shape;311;p14"/>
          <p:cNvSpPr/>
          <p:nvPr/>
        </p:nvSpPr>
        <p:spPr>
          <a:xfrm>
            <a:off x="6324600" y="2028825"/>
            <a:ext cx="3726552" cy="7009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3D3D3D"/>
              </a:buClr>
              <a:buSzPts val="1800"/>
              <a:buFont typeface="Montserrat"/>
              <a:buNone/>
            </a:pPr>
            <a:r>
              <a:rPr b="0" i="0" lang="en-US" sz="1800" u="none" cap="none" strike="noStrike">
                <a:solidFill>
                  <a:srgbClr val="3D3D3D"/>
                </a:solidFill>
                <a:latin typeface="Montserrat"/>
                <a:ea typeface="Montserrat"/>
                <a:cs typeface="Montserrat"/>
                <a:sym typeface="Montserrat"/>
              </a:rPr>
              <a:t>Family physician in a busy primary care practice</a:t>
            </a:r>
            <a:endParaRPr b="0" i="0" sz="1800" u="none" cap="none" strike="noStrike">
              <a:solidFill>
                <a:schemeClr val="dk1"/>
              </a:solidFill>
              <a:latin typeface="Calibri"/>
              <a:ea typeface="Calibri"/>
              <a:cs typeface="Calibri"/>
              <a:sym typeface="Calibri"/>
            </a:endParaRPr>
          </a:p>
        </p:txBody>
      </p:sp>
      <p:sp>
        <p:nvSpPr>
          <p:cNvPr id="312" name="Google Shape;312;p14"/>
          <p:cNvSpPr/>
          <p:nvPr/>
        </p:nvSpPr>
        <p:spPr>
          <a:xfrm>
            <a:off x="10190262" y="2028825"/>
            <a:ext cx="9525" cy="662880"/>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4"/>
          <p:cNvSpPr/>
          <p:nvPr/>
        </p:nvSpPr>
        <p:spPr>
          <a:xfrm>
            <a:off x="10444237" y="2028825"/>
            <a:ext cx="2572048" cy="7009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3D3D3D"/>
              </a:buClr>
              <a:buSzPts val="1800"/>
              <a:buFont typeface="Montserrat"/>
              <a:buNone/>
            </a:pPr>
            <a:r>
              <a:rPr b="0" i="0" lang="en-US" sz="1800" u="none" cap="none" strike="noStrike">
                <a:solidFill>
                  <a:srgbClr val="3D3D3D"/>
                </a:solidFill>
                <a:latin typeface="Montserrat"/>
                <a:ea typeface="Montserrat"/>
                <a:cs typeface="Montserrat"/>
                <a:sym typeface="Montserrat"/>
              </a:rPr>
              <a:t>No ophthalmology specialization</a:t>
            </a:r>
            <a:endParaRPr b="0" i="0" sz="1800" u="none" cap="none" strike="noStrike">
              <a:solidFill>
                <a:schemeClr val="dk1"/>
              </a:solidFill>
              <a:latin typeface="Calibri"/>
              <a:ea typeface="Calibri"/>
              <a:cs typeface="Calibri"/>
              <a:sym typeface="Calibri"/>
            </a:endParaRPr>
          </a:p>
        </p:txBody>
      </p:sp>
      <p:sp>
        <p:nvSpPr>
          <p:cNvPr id="314" name="Google Shape;314;p14"/>
          <p:cNvSpPr/>
          <p:nvPr/>
        </p:nvSpPr>
        <p:spPr>
          <a:xfrm>
            <a:off x="13187735" y="2028825"/>
            <a:ext cx="9525" cy="662880"/>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4"/>
          <p:cNvSpPr/>
          <p:nvPr/>
        </p:nvSpPr>
        <p:spPr>
          <a:xfrm>
            <a:off x="13441710" y="2028825"/>
            <a:ext cx="4363791" cy="7009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3D3D3D"/>
              </a:buClr>
              <a:buSzPts val="1800"/>
              <a:buFont typeface="Montserrat"/>
              <a:buNone/>
            </a:pPr>
            <a:r>
              <a:rPr b="0" i="0" lang="en-US" sz="1800" u="none" cap="none" strike="noStrike">
                <a:solidFill>
                  <a:srgbClr val="3D3D3D"/>
                </a:solidFill>
                <a:latin typeface="Montserrat"/>
                <a:ea typeface="Montserrat"/>
                <a:cs typeface="Montserrat"/>
                <a:sym typeface="Montserrat"/>
              </a:rPr>
              <a:t>Uses screening information to support referral decisions</a:t>
            </a:r>
            <a:endParaRPr b="0" i="0" sz="1800" u="none" cap="none" strike="noStrike">
              <a:solidFill>
                <a:schemeClr val="dk1"/>
              </a:solidFill>
              <a:latin typeface="Calibri"/>
              <a:ea typeface="Calibri"/>
              <a:cs typeface="Calibri"/>
              <a:sym typeface="Calibri"/>
            </a:endParaRPr>
          </a:p>
        </p:txBody>
      </p:sp>
      <p:sp>
        <p:nvSpPr>
          <p:cNvPr id="316" name="Google Shape;316;p14"/>
          <p:cNvSpPr/>
          <p:nvPr/>
        </p:nvSpPr>
        <p:spPr>
          <a:xfrm>
            <a:off x="6324600" y="2825055"/>
            <a:ext cx="3644875" cy="3148013"/>
          </a:xfrm>
          <a:prstGeom prst="roundRect">
            <a:avLst>
              <a:gd fmla="val 4841"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4"/>
          <p:cNvSpPr/>
          <p:nvPr/>
        </p:nvSpPr>
        <p:spPr>
          <a:xfrm>
            <a:off x="6553200" y="3053655"/>
            <a:ext cx="3506443"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GOALS</a:t>
            </a:r>
            <a:endParaRPr b="0" i="0" sz="1800" u="none" cap="none" strike="noStrike">
              <a:solidFill>
                <a:schemeClr val="dk1"/>
              </a:solidFill>
              <a:latin typeface="Calibri"/>
              <a:ea typeface="Calibri"/>
              <a:cs typeface="Calibri"/>
              <a:sym typeface="Calibri"/>
            </a:endParaRPr>
          </a:p>
        </p:txBody>
      </p:sp>
      <p:sp>
        <p:nvSpPr>
          <p:cNvPr id="318" name="Google Shape;318;p14"/>
          <p:cNvSpPr/>
          <p:nvPr/>
        </p:nvSpPr>
        <p:spPr>
          <a:xfrm>
            <a:off x="6553200" y="3444180"/>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Identify patients who may need specialist evaluation</a:t>
            </a:r>
            <a:endParaRPr b="0" i="0" sz="1875" u="none" cap="none" strike="noStrike">
              <a:solidFill>
                <a:schemeClr val="dk1"/>
              </a:solidFill>
              <a:latin typeface="Calibri"/>
              <a:ea typeface="Calibri"/>
              <a:cs typeface="Calibri"/>
              <a:sym typeface="Calibri"/>
            </a:endParaRPr>
          </a:p>
        </p:txBody>
      </p:sp>
      <p:sp>
        <p:nvSpPr>
          <p:cNvPr id="319" name="Google Shape;319;p14"/>
          <p:cNvSpPr/>
          <p:nvPr/>
        </p:nvSpPr>
        <p:spPr>
          <a:xfrm>
            <a:off x="6553200" y="4249043"/>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Support early detection and preventive care</a:t>
            </a:r>
            <a:endParaRPr b="0" i="0" sz="1875" u="none" cap="none" strike="noStrike">
              <a:solidFill>
                <a:schemeClr val="dk1"/>
              </a:solidFill>
              <a:latin typeface="Calibri"/>
              <a:ea typeface="Calibri"/>
              <a:cs typeface="Calibri"/>
              <a:sym typeface="Calibri"/>
            </a:endParaRPr>
          </a:p>
        </p:txBody>
      </p:sp>
      <p:sp>
        <p:nvSpPr>
          <p:cNvPr id="320" name="Google Shape;320;p14"/>
          <p:cNvSpPr/>
          <p:nvPr/>
        </p:nvSpPr>
        <p:spPr>
          <a:xfrm>
            <a:off x="6553200" y="5053905"/>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Review screening information quickly</a:t>
            </a:r>
            <a:endParaRPr b="0" i="0" sz="1875" u="none" cap="none" strike="noStrike">
              <a:solidFill>
                <a:schemeClr val="dk1"/>
              </a:solidFill>
              <a:latin typeface="Calibri"/>
              <a:ea typeface="Calibri"/>
              <a:cs typeface="Calibri"/>
              <a:sym typeface="Calibri"/>
            </a:endParaRPr>
          </a:p>
        </p:txBody>
      </p:sp>
      <p:sp>
        <p:nvSpPr>
          <p:cNvPr id="321" name="Google Shape;321;p14"/>
          <p:cNvSpPr/>
          <p:nvPr/>
        </p:nvSpPr>
        <p:spPr>
          <a:xfrm>
            <a:off x="10179025" y="2825055"/>
            <a:ext cx="3644875" cy="3493294"/>
          </a:xfrm>
          <a:prstGeom prst="roundRect">
            <a:avLst>
              <a:gd fmla="val 4363"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4"/>
          <p:cNvSpPr/>
          <p:nvPr/>
        </p:nvSpPr>
        <p:spPr>
          <a:xfrm>
            <a:off x="10407625" y="3053655"/>
            <a:ext cx="3506443"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NEEDS</a:t>
            </a:r>
            <a:endParaRPr b="0" i="0" sz="1800" u="none" cap="none" strike="noStrike">
              <a:solidFill>
                <a:schemeClr val="dk1"/>
              </a:solidFill>
              <a:latin typeface="Calibri"/>
              <a:ea typeface="Calibri"/>
              <a:cs typeface="Calibri"/>
              <a:sym typeface="Calibri"/>
            </a:endParaRPr>
          </a:p>
        </p:txBody>
      </p:sp>
      <p:sp>
        <p:nvSpPr>
          <p:cNvPr id="323" name="Google Shape;323;p14"/>
          <p:cNvSpPr/>
          <p:nvPr/>
        </p:nvSpPr>
        <p:spPr>
          <a:xfrm>
            <a:off x="10407625" y="3444180"/>
            <a:ext cx="3283305" cy="1073944"/>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Clear cataract and glaucoma screening results</a:t>
            </a:r>
            <a:endParaRPr b="0" i="0" sz="1875" u="none" cap="none" strike="noStrike">
              <a:solidFill>
                <a:schemeClr val="dk1"/>
              </a:solidFill>
              <a:latin typeface="Calibri"/>
              <a:ea typeface="Calibri"/>
              <a:cs typeface="Calibri"/>
              <a:sym typeface="Calibri"/>
            </a:endParaRPr>
          </a:p>
        </p:txBody>
      </p:sp>
      <p:sp>
        <p:nvSpPr>
          <p:cNvPr id="324" name="Google Shape;324;p14"/>
          <p:cNvSpPr/>
          <p:nvPr/>
        </p:nvSpPr>
        <p:spPr>
          <a:xfrm>
            <a:off x="10407625" y="4594324"/>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Clear risk and uncertainty indicators.</a:t>
            </a:r>
            <a:endParaRPr b="0" i="0" sz="1875" u="none" cap="none" strike="noStrike">
              <a:solidFill>
                <a:schemeClr val="dk1"/>
              </a:solidFill>
              <a:latin typeface="Calibri"/>
              <a:ea typeface="Calibri"/>
              <a:cs typeface="Calibri"/>
              <a:sym typeface="Calibri"/>
            </a:endParaRPr>
          </a:p>
        </p:txBody>
      </p:sp>
      <p:sp>
        <p:nvSpPr>
          <p:cNvPr id="325" name="Google Shape;325;p14"/>
          <p:cNvSpPr/>
          <p:nvPr/>
        </p:nvSpPr>
        <p:spPr>
          <a:xfrm>
            <a:off x="10407625" y="5399187"/>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A clear recommended next step</a:t>
            </a:r>
            <a:endParaRPr b="0" i="0" sz="1875" u="none" cap="none" strike="noStrike">
              <a:solidFill>
                <a:schemeClr val="dk1"/>
              </a:solidFill>
              <a:latin typeface="Calibri"/>
              <a:ea typeface="Calibri"/>
              <a:cs typeface="Calibri"/>
              <a:sym typeface="Calibri"/>
            </a:endParaRPr>
          </a:p>
        </p:txBody>
      </p:sp>
      <p:sp>
        <p:nvSpPr>
          <p:cNvPr id="326" name="Google Shape;326;p14"/>
          <p:cNvSpPr/>
          <p:nvPr/>
        </p:nvSpPr>
        <p:spPr>
          <a:xfrm>
            <a:off x="14033450" y="2825055"/>
            <a:ext cx="3644875" cy="3148013"/>
          </a:xfrm>
          <a:prstGeom prst="roundRect">
            <a:avLst>
              <a:gd fmla="val 4841" name="adj"/>
            </a:avLst>
          </a:prstGeom>
          <a:solidFill>
            <a:srgbClr val="FDF4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4"/>
          <p:cNvSpPr/>
          <p:nvPr/>
        </p:nvSpPr>
        <p:spPr>
          <a:xfrm>
            <a:off x="14262050" y="3053655"/>
            <a:ext cx="3506443"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D4531"/>
              </a:buClr>
              <a:buSzPts val="1800"/>
              <a:buFont typeface="Montserrat"/>
              <a:buNone/>
            </a:pPr>
            <a:r>
              <a:rPr b="1" i="0" lang="en-US" sz="1800" u="none" cap="none" strike="noStrike">
                <a:solidFill>
                  <a:srgbClr val="9D4531"/>
                </a:solidFill>
                <a:latin typeface="Montserrat"/>
                <a:ea typeface="Montserrat"/>
                <a:cs typeface="Montserrat"/>
                <a:sym typeface="Montserrat"/>
              </a:rPr>
              <a:t>CONCERNS</a:t>
            </a:r>
            <a:endParaRPr b="0" i="0" sz="1800" u="none" cap="none" strike="noStrike">
              <a:solidFill>
                <a:schemeClr val="dk1"/>
              </a:solidFill>
              <a:latin typeface="Calibri"/>
              <a:ea typeface="Calibri"/>
              <a:cs typeface="Calibri"/>
              <a:sym typeface="Calibri"/>
            </a:endParaRPr>
          </a:p>
        </p:txBody>
      </p:sp>
      <p:sp>
        <p:nvSpPr>
          <p:cNvPr id="328" name="Google Shape;328;p14"/>
          <p:cNvSpPr/>
          <p:nvPr/>
        </p:nvSpPr>
        <p:spPr>
          <a:xfrm>
            <a:off x="14262050" y="3444180"/>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Missing a patient who may need referral</a:t>
            </a:r>
            <a:endParaRPr b="0" i="0" sz="1875" u="none" cap="none" strike="noStrike">
              <a:solidFill>
                <a:schemeClr val="dk1"/>
              </a:solidFill>
              <a:latin typeface="Calibri"/>
              <a:ea typeface="Calibri"/>
              <a:cs typeface="Calibri"/>
              <a:sym typeface="Calibri"/>
            </a:endParaRPr>
          </a:p>
        </p:txBody>
      </p:sp>
      <p:sp>
        <p:nvSpPr>
          <p:cNvPr id="329" name="Google Shape;329;p14"/>
          <p:cNvSpPr/>
          <p:nvPr/>
        </p:nvSpPr>
        <p:spPr>
          <a:xfrm>
            <a:off x="14262050" y="4249043"/>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Over-referring patients unnecessarily</a:t>
            </a:r>
            <a:endParaRPr b="0" i="0" sz="1875" u="none" cap="none" strike="noStrike">
              <a:solidFill>
                <a:schemeClr val="dk1"/>
              </a:solidFill>
              <a:latin typeface="Calibri"/>
              <a:ea typeface="Calibri"/>
              <a:cs typeface="Calibri"/>
              <a:sym typeface="Calibri"/>
            </a:endParaRPr>
          </a:p>
        </p:txBody>
      </p:sp>
      <p:sp>
        <p:nvSpPr>
          <p:cNvPr id="330" name="Google Shape;330;p14"/>
          <p:cNvSpPr/>
          <p:nvPr/>
        </p:nvSpPr>
        <p:spPr>
          <a:xfrm>
            <a:off x="14262050" y="5053905"/>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Misinterpreting an uncertain AI result</a:t>
            </a:r>
            <a:endParaRPr b="0" i="0" sz="1875" u="none" cap="none" strike="noStrike">
              <a:solidFill>
                <a:schemeClr val="dk1"/>
              </a:solidFill>
              <a:latin typeface="Calibri"/>
              <a:ea typeface="Calibri"/>
              <a:cs typeface="Calibri"/>
              <a:sym typeface="Calibri"/>
            </a:endParaRPr>
          </a:p>
        </p:txBody>
      </p:sp>
      <p:sp>
        <p:nvSpPr>
          <p:cNvPr id="331" name="Google Shape;331;p14"/>
          <p:cNvSpPr/>
          <p:nvPr/>
        </p:nvSpPr>
        <p:spPr>
          <a:xfrm>
            <a:off x="6324600" y="6862911"/>
            <a:ext cx="11353800" cy="1071563"/>
          </a:xfrm>
          <a:prstGeom prst="roundRect">
            <a:avLst>
              <a:gd fmla="val 10667" name="adj"/>
            </a:avLst>
          </a:prstGeom>
          <a:solidFill>
            <a:srgbClr val="EAF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4"/>
          <p:cNvSpPr/>
          <p:nvPr/>
        </p:nvSpPr>
        <p:spPr>
          <a:xfrm>
            <a:off x="6324600" y="6862911"/>
            <a:ext cx="38100" cy="1071563"/>
          </a:xfrm>
          <a:prstGeom prst="rect">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4"/>
          <p:cNvSpPr/>
          <p:nvPr/>
        </p:nvSpPr>
        <p:spPr>
          <a:xfrm>
            <a:off x="6591300" y="7053411"/>
            <a:ext cx="11199114" cy="728662"/>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B4F82"/>
              </a:buClr>
              <a:buSzPts val="1875"/>
              <a:buFont typeface="Montserrat"/>
              <a:buNone/>
            </a:pPr>
            <a:r>
              <a:rPr b="0" i="0" lang="en-US" sz="1875" u="none" cap="none" strike="noStrike">
                <a:solidFill>
                  <a:srgbClr val="1B4F82"/>
                </a:solidFill>
                <a:latin typeface="Montserrat"/>
                <a:ea typeface="Montserrat"/>
                <a:cs typeface="Montserrat"/>
                <a:sym typeface="Montserrat"/>
              </a:rPr>
              <a:t>“I need a clear screening result that helps me decide when further eye-care evaluation may be appropriate.”</a:t>
            </a:r>
            <a:endParaRPr b="0" i="0" sz="1875" u="none" cap="none" strike="noStrike">
              <a:solidFill>
                <a:schemeClr val="dk1"/>
              </a:solidFill>
              <a:latin typeface="Calibri"/>
              <a:ea typeface="Calibri"/>
              <a:cs typeface="Calibri"/>
              <a:sym typeface="Calibri"/>
            </a:endParaRPr>
          </a:p>
        </p:txBody>
      </p:sp>
      <p:sp>
        <p:nvSpPr>
          <p:cNvPr id="334" name="Google Shape;334;p14"/>
          <p:cNvSpPr/>
          <p:nvPr/>
        </p:nvSpPr>
        <p:spPr>
          <a:xfrm>
            <a:off x="6324600" y="8067824"/>
            <a:ext cx="113538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4"/>
          <p:cNvSpPr/>
          <p:nvPr/>
        </p:nvSpPr>
        <p:spPr>
          <a:xfrm>
            <a:off x="6324600" y="8305949"/>
            <a:ext cx="1616318"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SCENARIO</a:t>
            </a:r>
            <a:endParaRPr b="0" i="0" sz="1800" u="none" cap="none" strike="noStrike">
              <a:solidFill>
                <a:schemeClr val="dk1"/>
              </a:solidFill>
              <a:latin typeface="Calibri"/>
              <a:ea typeface="Calibri"/>
              <a:cs typeface="Calibri"/>
              <a:sym typeface="Calibri"/>
            </a:endParaRPr>
          </a:p>
        </p:txBody>
      </p:sp>
      <p:sp>
        <p:nvSpPr>
          <p:cNvPr id="336" name="Google Shape;336;p14"/>
          <p:cNvSpPr/>
          <p:nvPr/>
        </p:nvSpPr>
        <p:spPr>
          <a:xfrm>
            <a:off x="8022580" y="8267849"/>
            <a:ext cx="9945495" cy="1695301"/>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3D3D3D"/>
              </a:buClr>
              <a:buSzPts val="1800"/>
              <a:buFont typeface="Montserrat"/>
              <a:buNone/>
            </a:pPr>
            <a:r>
              <a:rPr b="0" i="0" lang="en-US" sz="1800" u="none" cap="none" strike="noStrike">
                <a:solidFill>
                  <a:srgbClr val="3D3D3D"/>
                </a:solidFill>
                <a:latin typeface="Montserrat"/>
                <a:ea typeface="Montserrat"/>
                <a:cs typeface="Montserrat"/>
                <a:sym typeface="Montserrat"/>
              </a:rPr>
              <a:t>Dr. Rao reviews a DUAL screening report after a technician captures and analyzes a patient’s fundus image. She checks the cataract and glaucoma screening results, uncertainty, and recommended next step, then decides whether further eye-care evaluation is appropriate. DUAL supports screening and referral; it does not diagnose.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p15"/>
          <p:cNvSpPr/>
          <p:nvPr/>
        </p:nvSpPr>
        <p:spPr>
          <a:xfrm>
            <a:off x="857250" y="1543050"/>
            <a:ext cx="16573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5"/>
          <p:cNvSpPr/>
          <p:nvPr/>
        </p:nvSpPr>
        <p:spPr>
          <a:xfrm>
            <a:off x="857250" y="685800"/>
            <a:ext cx="12693491"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DUAL in Action</a:t>
            </a:r>
            <a:endParaRPr b="0" i="0" sz="4200" u="none" cap="none" strike="noStrike">
              <a:solidFill>
                <a:schemeClr val="dk1"/>
              </a:solidFill>
              <a:latin typeface="Calibri"/>
              <a:ea typeface="Calibri"/>
              <a:cs typeface="Calibri"/>
              <a:sym typeface="Calibri"/>
            </a:endParaRPr>
          </a:p>
        </p:txBody>
      </p:sp>
      <p:sp>
        <p:nvSpPr>
          <p:cNvPr id="344" name="Google Shape;344;p15"/>
          <p:cNvSpPr/>
          <p:nvPr/>
        </p:nvSpPr>
        <p:spPr>
          <a:xfrm>
            <a:off x="12396788" y="928688"/>
            <a:ext cx="474106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0" i="0" lang="en-US" sz="1800" u="none" cap="none" strike="noStrike">
                <a:solidFill>
                  <a:srgbClr val="3D3D3D"/>
                </a:solidFill>
                <a:latin typeface="Montserrat"/>
                <a:ea typeface="Montserrat"/>
                <a:cs typeface="Montserrat"/>
                <a:sym typeface="Montserrat"/>
              </a:rPr>
              <a:t>Early Detection. A Brighter Tomorrow.</a:t>
            </a:r>
            <a:endParaRPr b="0" i="0" sz="1800" u="none" cap="none" strike="noStrike">
              <a:solidFill>
                <a:schemeClr val="dk1"/>
              </a:solidFill>
              <a:latin typeface="Calibri"/>
              <a:ea typeface="Calibri"/>
              <a:cs typeface="Calibri"/>
              <a:sym typeface="Calibri"/>
            </a:endParaRPr>
          </a:p>
        </p:txBody>
      </p:sp>
      <p:pic>
        <p:nvPicPr>
          <p:cNvPr descr="preencoded.png" id="345" name="Google Shape;345;p15"/>
          <p:cNvPicPr preferRelativeResize="0"/>
          <p:nvPr/>
        </p:nvPicPr>
        <p:blipFill rotWithShape="1">
          <a:blip r:embed="rId3">
            <a:alphaModFix/>
          </a:blip>
          <a:srcRect b="-3807" l="0" r="0" t="-3807"/>
          <a:stretch/>
        </p:blipFill>
        <p:spPr>
          <a:xfrm>
            <a:off x="16897350" y="800100"/>
            <a:ext cx="533400" cy="533400"/>
          </a:xfrm>
          <a:prstGeom prst="rect">
            <a:avLst/>
          </a:prstGeom>
          <a:noFill/>
          <a:ln>
            <a:noFill/>
          </a:ln>
        </p:spPr>
      </p:pic>
      <p:sp>
        <p:nvSpPr>
          <p:cNvPr id="346" name="Google Shape;346;p15"/>
          <p:cNvSpPr/>
          <p:nvPr/>
        </p:nvSpPr>
        <p:spPr>
          <a:xfrm>
            <a:off x="857250" y="1819275"/>
            <a:ext cx="316781"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01</a:t>
            </a:r>
            <a:endParaRPr b="0" i="0" sz="1800" u="none" cap="none" strike="noStrike">
              <a:solidFill>
                <a:schemeClr val="dk1"/>
              </a:solidFill>
              <a:latin typeface="Calibri"/>
              <a:ea typeface="Calibri"/>
              <a:cs typeface="Calibri"/>
              <a:sym typeface="Calibri"/>
            </a:endParaRPr>
          </a:p>
        </p:txBody>
      </p:sp>
      <p:sp>
        <p:nvSpPr>
          <p:cNvPr id="347" name="Google Shape;347;p15"/>
          <p:cNvSpPr/>
          <p:nvPr/>
        </p:nvSpPr>
        <p:spPr>
          <a:xfrm>
            <a:off x="1231181" y="1819275"/>
            <a:ext cx="1482812"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CAPTURE</a:t>
            </a:r>
            <a:endParaRPr b="0" i="0" sz="1800" u="none" cap="none" strike="noStrike">
              <a:solidFill>
                <a:schemeClr val="dk1"/>
              </a:solidFill>
              <a:latin typeface="Calibri"/>
              <a:ea typeface="Calibri"/>
              <a:cs typeface="Calibri"/>
              <a:sym typeface="Calibri"/>
            </a:endParaRPr>
          </a:p>
        </p:txBody>
      </p:sp>
      <p:sp>
        <p:nvSpPr>
          <p:cNvPr id="348" name="Google Shape;348;p15"/>
          <p:cNvSpPr/>
          <p:nvPr/>
        </p:nvSpPr>
        <p:spPr>
          <a:xfrm>
            <a:off x="857250" y="2247900"/>
            <a:ext cx="3971925" cy="28575"/>
          </a:xfrm>
          <a:prstGeom prst="rect">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a:off x="857250" y="2428875"/>
            <a:ext cx="3971925" cy="1440061"/>
          </a:xfrm>
          <a:prstGeom prst="roundRect">
            <a:avLst>
              <a:gd fmla="val 10583"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0" name="Google Shape;350;p15"/>
          <p:cNvPicPr preferRelativeResize="0"/>
          <p:nvPr/>
        </p:nvPicPr>
        <p:blipFill rotWithShape="1">
          <a:blip r:embed="rId4">
            <a:alphaModFix/>
          </a:blip>
          <a:srcRect b="853" l="0" r="0" t="853"/>
          <a:stretch/>
        </p:blipFill>
        <p:spPr>
          <a:xfrm>
            <a:off x="1066800" y="2691705"/>
            <a:ext cx="914400" cy="914400"/>
          </a:xfrm>
          <a:prstGeom prst="rect">
            <a:avLst/>
          </a:prstGeom>
          <a:noFill/>
          <a:ln>
            <a:noFill/>
          </a:ln>
        </p:spPr>
      </p:pic>
      <p:sp>
        <p:nvSpPr>
          <p:cNvPr id="351" name="Google Shape;351;p15"/>
          <p:cNvSpPr/>
          <p:nvPr/>
        </p:nvSpPr>
        <p:spPr>
          <a:xfrm>
            <a:off x="2152650" y="2638425"/>
            <a:ext cx="2543175" cy="706636"/>
          </a:xfrm>
          <a:prstGeom prst="rect">
            <a:avLst/>
          </a:prstGeom>
          <a:noFill/>
          <a:ln>
            <a:noFill/>
          </a:ln>
        </p:spPr>
        <p:txBody>
          <a:bodyPr anchorCtr="0" anchor="t" bIns="25400" lIns="25400" spcFirstLastPara="1" rIns="25400" wrap="square" tIns="25400">
            <a:noAutofit/>
          </a:bodyPr>
          <a:lstStyle/>
          <a:p>
            <a:pPr indent="0" lvl="0" marL="0" marR="0" rtl="0" algn="l">
              <a:lnSpc>
                <a:spcPct val="111429"/>
              </a:lnSpc>
              <a:spcBef>
                <a:spcPts val="0"/>
              </a:spcBef>
              <a:spcAft>
                <a:spcPts val="0"/>
              </a:spcAft>
              <a:buClr>
                <a:srgbClr val="111111"/>
              </a:buClr>
              <a:buSzPts val="1950"/>
              <a:buFont typeface="Montserrat"/>
              <a:buNone/>
            </a:pPr>
            <a:r>
              <a:rPr b="0" i="0" lang="en-US" sz="1950" u="none" cap="none" strike="noStrike">
                <a:solidFill>
                  <a:srgbClr val="111111"/>
                </a:solidFill>
                <a:latin typeface="Montserrat"/>
                <a:ea typeface="Montserrat"/>
                <a:cs typeface="Montserrat"/>
                <a:sym typeface="Montserrat"/>
              </a:rPr>
              <a:t>“Time for my eye screening.”</a:t>
            </a:r>
            <a:endParaRPr b="0" i="0" sz="1950" u="none" cap="none" strike="noStrike">
              <a:solidFill>
                <a:schemeClr val="dk1"/>
              </a:solidFill>
              <a:latin typeface="Calibri"/>
              <a:ea typeface="Calibri"/>
              <a:cs typeface="Calibri"/>
              <a:sym typeface="Calibri"/>
            </a:endParaRPr>
          </a:p>
        </p:txBody>
      </p:sp>
      <p:sp>
        <p:nvSpPr>
          <p:cNvPr id="352" name="Google Shape;352;p15"/>
          <p:cNvSpPr/>
          <p:nvPr/>
        </p:nvSpPr>
        <p:spPr>
          <a:xfrm>
            <a:off x="2152650" y="3383161"/>
            <a:ext cx="2713673"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Helen </a:t>
            </a:r>
            <a:r>
              <a:rPr b="0" i="0" lang="en-US" sz="1800" u="none" cap="none" strike="noStrike">
                <a:solidFill>
                  <a:srgbClr val="3D3D3D"/>
                </a:solidFill>
                <a:latin typeface="Montserrat"/>
                <a:ea typeface="Montserrat"/>
                <a:cs typeface="Montserrat"/>
                <a:sym typeface="Montserrat"/>
              </a:rPr>
              <a:t>— Patient</a:t>
            </a:r>
            <a:endParaRPr b="0" i="0" sz="1800" u="none" cap="none" strike="noStrike">
              <a:solidFill>
                <a:schemeClr val="dk1"/>
              </a:solidFill>
              <a:latin typeface="Calibri"/>
              <a:ea typeface="Calibri"/>
              <a:cs typeface="Calibri"/>
              <a:sym typeface="Calibri"/>
            </a:endParaRPr>
          </a:p>
        </p:txBody>
      </p:sp>
      <p:sp>
        <p:nvSpPr>
          <p:cNvPr id="353" name="Google Shape;353;p15"/>
          <p:cNvSpPr/>
          <p:nvPr/>
        </p:nvSpPr>
        <p:spPr>
          <a:xfrm>
            <a:off x="857250" y="4021336"/>
            <a:ext cx="3971925" cy="1716286"/>
          </a:xfrm>
          <a:prstGeom prst="roundRect">
            <a:avLst>
              <a:gd fmla="val 8880"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4" name="Google Shape;354;p15"/>
          <p:cNvPicPr preferRelativeResize="0"/>
          <p:nvPr/>
        </p:nvPicPr>
        <p:blipFill rotWithShape="1">
          <a:blip r:embed="rId5">
            <a:alphaModFix/>
          </a:blip>
          <a:srcRect b="2571" l="0" r="0" t="2571"/>
          <a:stretch/>
        </p:blipFill>
        <p:spPr>
          <a:xfrm>
            <a:off x="1066800" y="4422279"/>
            <a:ext cx="914400" cy="914400"/>
          </a:xfrm>
          <a:prstGeom prst="rect">
            <a:avLst/>
          </a:prstGeom>
          <a:noFill/>
          <a:ln>
            <a:noFill/>
          </a:ln>
        </p:spPr>
      </p:pic>
      <p:sp>
        <p:nvSpPr>
          <p:cNvPr id="355" name="Google Shape;355;p15"/>
          <p:cNvSpPr/>
          <p:nvPr/>
        </p:nvSpPr>
        <p:spPr>
          <a:xfrm>
            <a:off x="2152650" y="4230886"/>
            <a:ext cx="2543175" cy="706636"/>
          </a:xfrm>
          <a:prstGeom prst="rect">
            <a:avLst/>
          </a:prstGeom>
          <a:noFill/>
          <a:ln>
            <a:noFill/>
          </a:ln>
        </p:spPr>
        <p:txBody>
          <a:bodyPr anchorCtr="0" anchor="t" bIns="25400" lIns="25400" spcFirstLastPara="1" rIns="25400" wrap="square" tIns="25400">
            <a:noAutofit/>
          </a:bodyPr>
          <a:lstStyle/>
          <a:p>
            <a:pPr indent="0" lvl="0" marL="0" marR="0" rtl="0" algn="l">
              <a:lnSpc>
                <a:spcPct val="111429"/>
              </a:lnSpc>
              <a:spcBef>
                <a:spcPts val="0"/>
              </a:spcBef>
              <a:spcAft>
                <a:spcPts val="0"/>
              </a:spcAft>
              <a:buClr>
                <a:srgbClr val="111111"/>
              </a:buClr>
              <a:buSzPts val="1950"/>
              <a:buFont typeface="Montserrat"/>
              <a:buNone/>
            </a:pPr>
            <a:r>
              <a:rPr b="0" i="0" lang="en-US" sz="1950" u="none" cap="none" strike="noStrike">
                <a:solidFill>
                  <a:srgbClr val="111111"/>
                </a:solidFill>
                <a:latin typeface="Montserrat"/>
                <a:ea typeface="Montserrat"/>
                <a:cs typeface="Montserrat"/>
                <a:sym typeface="Montserrat"/>
              </a:rPr>
              <a:t>“Let me capture your eye image.”</a:t>
            </a:r>
            <a:endParaRPr b="0" i="0" sz="1950" u="none" cap="none" strike="noStrike">
              <a:solidFill>
                <a:schemeClr val="dk1"/>
              </a:solidFill>
              <a:latin typeface="Calibri"/>
              <a:ea typeface="Calibri"/>
              <a:cs typeface="Calibri"/>
              <a:sym typeface="Calibri"/>
            </a:endParaRPr>
          </a:p>
        </p:txBody>
      </p:sp>
      <p:sp>
        <p:nvSpPr>
          <p:cNvPr id="356" name="Google Shape;356;p15"/>
          <p:cNvSpPr/>
          <p:nvPr/>
        </p:nvSpPr>
        <p:spPr>
          <a:xfrm>
            <a:off x="2152650" y="4975622"/>
            <a:ext cx="2543175" cy="5905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Arun </a:t>
            </a:r>
            <a:r>
              <a:rPr b="0" i="0" lang="en-US" sz="1800" u="none" cap="none" strike="noStrike">
                <a:solidFill>
                  <a:srgbClr val="3D3D3D"/>
                </a:solidFill>
                <a:latin typeface="Montserrat"/>
                <a:ea typeface="Montserrat"/>
                <a:cs typeface="Montserrat"/>
                <a:sym typeface="Montserrat"/>
              </a:rPr>
              <a:t>— Screening Technician</a:t>
            </a:r>
            <a:endParaRPr b="0" i="0" sz="1800" u="none" cap="none" strike="noStrike">
              <a:solidFill>
                <a:schemeClr val="dk1"/>
              </a:solidFill>
              <a:latin typeface="Calibri"/>
              <a:ea typeface="Calibri"/>
              <a:cs typeface="Calibri"/>
              <a:sym typeface="Calibri"/>
            </a:endParaRPr>
          </a:p>
        </p:txBody>
      </p:sp>
      <p:sp>
        <p:nvSpPr>
          <p:cNvPr id="357" name="Google Shape;357;p15"/>
          <p:cNvSpPr/>
          <p:nvPr/>
        </p:nvSpPr>
        <p:spPr>
          <a:xfrm>
            <a:off x="5057775" y="1819275"/>
            <a:ext cx="36276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02</a:t>
            </a:r>
            <a:endParaRPr b="0" i="0" sz="1800" u="none" cap="none" strike="noStrike">
              <a:solidFill>
                <a:schemeClr val="dk1"/>
              </a:solidFill>
              <a:latin typeface="Calibri"/>
              <a:ea typeface="Calibri"/>
              <a:cs typeface="Calibri"/>
              <a:sym typeface="Calibri"/>
            </a:endParaRPr>
          </a:p>
        </p:txBody>
      </p:sp>
      <p:sp>
        <p:nvSpPr>
          <p:cNvPr id="358" name="Google Shape;358;p15"/>
          <p:cNvSpPr/>
          <p:nvPr/>
        </p:nvSpPr>
        <p:spPr>
          <a:xfrm>
            <a:off x="5477694" y="1819275"/>
            <a:ext cx="1234976"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SCREEN</a:t>
            </a:r>
            <a:endParaRPr b="0" i="0" sz="1800" u="none" cap="none" strike="noStrike">
              <a:solidFill>
                <a:schemeClr val="dk1"/>
              </a:solidFill>
              <a:latin typeface="Calibri"/>
              <a:ea typeface="Calibri"/>
              <a:cs typeface="Calibri"/>
              <a:sym typeface="Calibri"/>
            </a:endParaRPr>
          </a:p>
        </p:txBody>
      </p:sp>
      <p:sp>
        <p:nvSpPr>
          <p:cNvPr id="359" name="Google Shape;359;p15"/>
          <p:cNvSpPr/>
          <p:nvPr/>
        </p:nvSpPr>
        <p:spPr>
          <a:xfrm>
            <a:off x="5057775" y="2247900"/>
            <a:ext cx="3971925" cy="28575"/>
          </a:xfrm>
          <a:prstGeom prst="rect">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5"/>
          <p:cNvSpPr/>
          <p:nvPr/>
        </p:nvSpPr>
        <p:spPr>
          <a:xfrm>
            <a:off x="5057775" y="2428875"/>
            <a:ext cx="3971925" cy="7172325"/>
          </a:xfrm>
          <a:prstGeom prst="roundRect">
            <a:avLst>
              <a:gd fmla="val 3837" name="adj"/>
            </a:avLst>
          </a:prstGeom>
          <a:solidFill>
            <a:srgbClr val="11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1" name="Google Shape;361;p15"/>
          <p:cNvPicPr preferRelativeResize="0"/>
          <p:nvPr/>
        </p:nvPicPr>
        <p:blipFill rotWithShape="1">
          <a:blip r:embed="rId3">
            <a:alphaModFix/>
          </a:blip>
          <a:srcRect b="-3807" l="0" r="0" t="-3807"/>
          <a:stretch/>
        </p:blipFill>
        <p:spPr>
          <a:xfrm>
            <a:off x="5286375" y="2657475"/>
            <a:ext cx="361950" cy="361950"/>
          </a:xfrm>
          <a:prstGeom prst="rect">
            <a:avLst/>
          </a:prstGeom>
          <a:noFill/>
          <a:ln>
            <a:noFill/>
          </a:ln>
        </p:spPr>
      </p:pic>
      <p:sp>
        <p:nvSpPr>
          <p:cNvPr id="362" name="Google Shape;362;p15"/>
          <p:cNvSpPr/>
          <p:nvPr/>
        </p:nvSpPr>
        <p:spPr>
          <a:xfrm>
            <a:off x="5781675" y="2700338"/>
            <a:ext cx="89631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DB7F6"/>
              </a:buClr>
              <a:buSzPts val="1800"/>
              <a:buFont typeface="Montserrat"/>
              <a:buNone/>
            </a:pPr>
            <a:r>
              <a:rPr b="1" i="0" lang="en-US" sz="1800" u="none" cap="none" strike="noStrike">
                <a:solidFill>
                  <a:srgbClr val="7DB7F6"/>
                </a:solidFill>
                <a:latin typeface="Montserrat"/>
                <a:ea typeface="Montserrat"/>
                <a:cs typeface="Montserrat"/>
                <a:sym typeface="Montserrat"/>
              </a:rPr>
              <a:t>DUAL</a:t>
            </a:r>
            <a:endParaRPr b="0" i="0" sz="1800" u="none" cap="none" strike="noStrike">
              <a:solidFill>
                <a:schemeClr val="dk1"/>
              </a:solidFill>
              <a:latin typeface="Calibri"/>
              <a:ea typeface="Calibri"/>
              <a:cs typeface="Calibri"/>
              <a:sym typeface="Calibri"/>
            </a:endParaRPr>
          </a:p>
        </p:txBody>
      </p:sp>
      <p:pic>
        <p:nvPicPr>
          <p:cNvPr descr="preencoded.png" id="363" name="Google Shape;363;p15"/>
          <p:cNvPicPr preferRelativeResize="0"/>
          <p:nvPr/>
        </p:nvPicPr>
        <p:blipFill rotWithShape="1">
          <a:blip r:embed="rId6">
            <a:alphaModFix/>
          </a:blip>
          <a:srcRect b="31030" l="0" r="0" t="31030"/>
          <a:stretch/>
        </p:blipFill>
        <p:spPr>
          <a:xfrm>
            <a:off x="5286375" y="3152775"/>
            <a:ext cx="3514725" cy="1333500"/>
          </a:xfrm>
          <a:prstGeom prst="rect">
            <a:avLst/>
          </a:prstGeom>
          <a:noFill/>
          <a:ln>
            <a:noFill/>
          </a:ln>
        </p:spPr>
      </p:pic>
      <p:sp>
        <p:nvSpPr>
          <p:cNvPr id="364" name="Google Shape;364;p15"/>
          <p:cNvSpPr/>
          <p:nvPr/>
        </p:nvSpPr>
        <p:spPr>
          <a:xfrm>
            <a:off x="5286375" y="4619625"/>
            <a:ext cx="3866198" cy="358080"/>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E5E5E5"/>
              </a:buClr>
              <a:buSzPts val="1800"/>
              <a:buFont typeface="Montserrat"/>
              <a:buNone/>
            </a:pPr>
            <a:r>
              <a:rPr b="0" i="0" lang="en-US" sz="1800" u="none" cap="none" strike="noStrike">
                <a:solidFill>
                  <a:srgbClr val="E5E5E5"/>
                </a:solidFill>
                <a:latin typeface="Montserrat"/>
                <a:ea typeface="Montserrat"/>
                <a:cs typeface="Montserrat"/>
                <a:sym typeface="Montserrat"/>
              </a:rPr>
              <a:t>Checking image…</a:t>
            </a:r>
            <a:endParaRPr b="0" i="0" sz="1800" u="none" cap="none" strike="noStrike">
              <a:solidFill>
                <a:schemeClr val="dk1"/>
              </a:solidFill>
              <a:latin typeface="Calibri"/>
              <a:ea typeface="Calibri"/>
              <a:cs typeface="Calibri"/>
              <a:sym typeface="Calibri"/>
            </a:endParaRPr>
          </a:p>
        </p:txBody>
      </p:sp>
      <p:sp>
        <p:nvSpPr>
          <p:cNvPr id="365" name="Google Shape;365;p15"/>
          <p:cNvSpPr/>
          <p:nvPr/>
        </p:nvSpPr>
        <p:spPr>
          <a:xfrm>
            <a:off x="5286375" y="5072955"/>
            <a:ext cx="3620167" cy="678061"/>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E5E5E5"/>
              </a:buClr>
              <a:buSzPts val="1800"/>
              <a:buFont typeface="Montserrat"/>
              <a:buNone/>
            </a:pPr>
            <a:r>
              <a:rPr b="0" i="0" lang="en-US" sz="1800" u="none" cap="none" strike="noStrike">
                <a:solidFill>
                  <a:srgbClr val="E5E5E5"/>
                </a:solidFill>
                <a:latin typeface="Montserrat"/>
                <a:ea typeface="Montserrat"/>
                <a:cs typeface="Montserrat"/>
                <a:sym typeface="Montserrat"/>
              </a:rPr>
              <a:t>Screening Cataract + Glaucoma…</a:t>
            </a:r>
            <a:endParaRPr b="0" i="0" sz="1800" u="none" cap="none" strike="noStrike">
              <a:solidFill>
                <a:schemeClr val="dk1"/>
              </a:solidFill>
              <a:latin typeface="Calibri"/>
              <a:ea typeface="Calibri"/>
              <a:cs typeface="Calibri"/>
              <a:sym typeface="Calibri"/>
            </a:endParaRPr>
          </a:p>
        </p:txBody>
      </p:sp>
      <p:sp>
        <p:nvSpPr>
          <p:cNvPr id="366" name="Google Shape;366;p15"/>
          <p:cNvSpPr/>
          <p:nvPr/>
        </p:nvSpPr>
        <p:spPr>
          <a:xfrm>
            <a:off x="5286375" y="5846266"/>
            <a:ext cx="3866198" cy="358080"/>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Screening complete!</a:t>
            </a:r>
            <a:endParaRPr b="0" i="0" sz="1800" u="none" cap="none" strike="noStrike">
              <a:solidFill>
                <a:schemeClr val="dk1"/>
              </a:solidFill>
              <a:latin typeface="Calibri"/>
              <a:ea typeface="Calibri"/>
              <a:cs typeface="Calibri"/>
              <a:sym typeface="Calibri"/>
            </a:endParaRPr>
          </a:p>
        </p:txBody>
      </p:sp>
      <p:sp>
        <p:nvSpPr>
          <p:cNvPr id="367" name="Google Shape;367;p15"/>
          <p:cNvSpPr/>
          <p:nvPr/>
        </p:nvSpPr>
        <p:spPr>
          <a:xfrm>
            <a:off x="5286375" y="6299597"/>
            <a:ext cx="3514725" cy="9525"/>
          </a:xfrm>
          <a:prstGeom prst="rect">
            <a:avLst/>
          </a:prstGeom>
          <a:solidFill>
            <a:srgbClr val="3D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5"/>
          <p:cNvSpPr/>
          <p:nvPr/>
        </p:nvSpPr>
        <p:spPr>
          <a:xfrm>
            <a:off x="5286375" y="6442472"/>
            <a:ext cx="3866198" cy="328613"/>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75"/>
              <a:buFont typeface="Montserrat"/>
              <a:buNone/>
            </a:pPr>
            <a:r>
              <a:rPr b="1" i="0" lang="en-US" sz="1875" u="none" cap="none" strike="noStrike">
                <a:solidFill>
                  <a:srgbClr val="FFFFFF"/>
                </a:solidFill>
                <a:latin typeface="Montserrat"/>
                <a:ea typeface="Montserrat"/>
                <a:cs typeface="Montserrat"/>
                <a:sym typeface="Montserrat"/>
              </a:rPr>
              <a:t>✓ Cataract</a:t>
            </a:r>
            <a:endParaRPr b="0" i="0" sz="1875" u="none" cap="none" strike="noStrike">
              <a:solidFill>
                <a:schemeClr val="dk1"/>
              </a:solidFill>
              <a:latin typeface="Calibri"/>
              <a:ea typeface="Calibri"/>
              <a:cs typeface="Calibri"/>
              <a:sym typeface="Calibri"/>
            </a:endParaRPr>
          </a:p>
        </p:txBody>
      </p:sp>
      <p:sp>
        <p:nvSpPr>
          <p:cNvPr id="369" name="Google Shape;369;p15"/>
          <p:cNvSpPr/>
          <p:nvPr/>
        </p:nvSpPr>
        <p:spPr>
          <a:xfrm>
            <a:off x="5286375" y="6771084"/>
            <a:ext cx="3866198" cy="358080"/>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E5E5E5"/>
              </a:buClr>
              <a:buSzPts val="1800"/>
              <a:buFont typeface="Montserrat"/>
              <a:buNone/>
            </a:pPr>
            <a:r>
              <a:rPr b="0" i="0" lang="en-US" sz="1800" u="none" cap="none" strike="noStrike">
                <a:solidFill>
                  <a:srgbClr val="E5E5E5"/>
                </a:solidFill>
                <a:latin typeface="Montserrat"/>
                <a:ea typeface="Montserrat"/>
                <a:cs typeface="Montserrat"/>
                <a:sym typeface="Montserrat"/>
              </a:rPr>
              <a:t>No significant signs detected</a:t>
            </a:r>
            <a:endParaRPr b="0" i="0" sz="1800" u="none" cap="none" strike="noStrike">
              <a:solidFill>
                <a:schemeClr val="dk1"/>
              </a:solidFill>
              <a:latin typeface="Calibri"/>
              <a:ea typeface="Calibri"/>
              <a:cs typeface="Calibri"/>
              <a:sym typeface="Calibri"/>
            </a:endParaRPr>
          </a:p>
        </p:txBody>
      </p:sp>
      <p:sp>
        <p:nvSpPr>
          <p:cNvPr id="370" name="Google Shape;370;p15"/>
          <p:cNvSpPr/>
          <p:nvPr/>
        </p:nvSpPr>
        <p:spPr>
          <a:xfrm>
            <a:off x="5286375" y="7224415"/>
            <a:ext cx="3866198" cy="39528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0A58C"/>
              </a:buClr>
              <a:buSzPts val="1875"/>
              <a:buFont typeface="Montserrat"/>
              <a:buNone/>
            </a:pPr>
            <a:r>
              <a:rPr b="1" i="0" lang="en-US" sz="1875" u="none" cap="none" strike="noStrike">
                <a:solidFill>
                  <a:srgbClr val="F0A58C"/>
                </a:solidFill>
                <a:latin typeface="Montserrat"/>
                <a:ea typeface="Montserrat"/>
                <a:cs typeface="Montserrat"/>
                <a:sym typeface="Montserrat"/>
              </a:rPr>
              <a:t>⚠ Glaucoma</a:t>
            </a:r>
            <a:endParaRPr b="0" i="0" sz="1875" u="none" cap="none" strike="noStrike">
              <a:solidFill>
                <a:schemeClr val="dk1"/>
              </a:solidFill>
              <a:latin typeface="Calibri"/>
              <a:ea typeface="Calibri"/>
              <a:cs typeface="Calibri"/>
              <a:sym typeface="Calibri"/>
            </a:endParaRPr>
          </a:p>
        </p:txBody>
      </p:sp>
      <p:sp>
        <p:nvSpPr>
          <p:cNvPr id="371" name="Google Shape;371;p15"/>
          <p:cNvSpPr/>
          <p:nvPr/>
        </p:nvSpPr>
        <p:spPr>
          <a:xfrm>
            <a:off x="5286375" y="7619702"/>
            <a:ext cx="3620167" cy="678061"/>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E5E5E5"/>
              </a:buClr>
              <a:buSzPts val="1800"/>
              <a:buFont typeface="Montserrat"/>
              <a:buNone/>
            </a:pPr>
            <a:r>
              <a:rPr b="0" i="0" lang="en-US" sz="1800" u="none" cap="none" strike="noStrike">
                <a:solidFill>
                  <a:srgbClr val="E5E5E5"/>
                </a:solidFill>
                <a:latin typeface="Montserrat"/>
                <a:ea typeface="Montserrat"/>
                <a:cs typeface="Montserrat"/>
                <a:sym typeface="Montserrat"/>
              </a:rPr>
              <a:t>Possible elevated risk (Refer for further evaluation)</a:t>
            </a:r>
            <a:endParaRPr b="0" i="0" sz="1800" u="none" cap="none" strike="noStrike">
              <a:solidFill>
                <a:schemeClr val="dk1"/>
              </a:solidFill>
              <a:latin typeface="Calibri"/>
              <a:ea typeface="Calibri"/>
              <a:cs typeface="Calibri"/>
              <a:sym typeface="Calibri"/>
            </a:endParaRPr>
          </a:p>
        </p:txBody>
      </p:sp>
      <p:sp>
        <p:nvSpPr>
          <p:cNvPr id="372" name="Google Shape;372;p15"/>
          <p:cNvSpPr/>
          <p:nvPr/>
        </p:nvSpPr>
        <p:spPr>
          <a:xfrm>
            <a:off x="9258300" y="1819275"/>
            <a:ext cx="36075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03</a:t>
            </a:r>
            <a:endParaRPr b="0" i="0" sz="1800" u="none" cap="none" strike="noStrike">
              <a:solidFill>
                <a:schemeClr val="dk1"/>
              </a:solidFill>
              <a:latin typeface="Calibri"/>
              <a:ea typeface="Calibri"/>
              <a:cs typeface="Calibri"/>
              <a:sym typeface="Calibri"/>
            </a:endParaRPr>
          </a:p>
        </p:txBody>
      </p:sp>
      <p:sp>
        <p:nvSpPr>
          <p:cNvPr id="373" name="Google Shape;373;p15"/>
          <p:cNvSpPr/>
          <p:nvPr/>
        </p:nvSpPr>
        <p:spPr>
          <a:xfrm>
            <a:off x="9676209" y="1819275"/>
            <a:ext cx="123482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REVIEW</a:t>
            </a:r>
            <a:endParaRPr b="0" i="0" sz="1800" u="none" cap="none" strike="noStrike">
              <a:solidFill>
                <a:schemeClr val="dk1"/>
              </a:solidFill>
              <a:latin typeface="Calibri"/>
              <a:ea typeface="Calibri"/>
              <a:cs typeface="Calibri"/>
              <a:sym typeface="Calibri"/>
            </a:endParaRPr>
          </a:p>
        </p:txBody>
      </p:sp>
      <p:sp>
        <p:nvSpPr>
          <p:cNvPr id="374" name="Google Shape;374;p15"/>
          <p:cNvSpPr/>
          <p:nvPr/>
        </p:nvSpPr>
        <p:spPr>
          <a:xfrm>
            <a:off x="9258300" y="2247900"/>
            <a:ext cx="3971925" cy="28575"/>
          </a:xfrm>
          <a:prstGeom prst="rect">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5" name="Google Shape;375;p15"/>
          <p:cNvPicPr preferRelativeResize="0"/>
          <p:nvPr/>
        </p:nvPicPr>
        <p:blipFill rotWithShape="1">
          <a:blip r:embed="rId7">
            <a:alphaModFix/>
          </a:blip>
          <a:srcRect b="0" l="13078" r="13078" t="0"/>
          <a:stretch/>
        </p:blipFill>
        <p:spPr>
          <a:xfrm>
            <a:off x="9258300" y="2428875"/>
            <a:ext cx="3971925" cy="5637907"/>
          </a:xfrm>
          <a:prstGeom prst="rect">
            <a:avLst/>
          </a:prstGeom>
          <a:noFill/>
          <a:ln>
            <a:noFill/>
          </a:ln>
        </p:spPr>
      </p:pic>
      <p:sp>
        <p:nvSpPr>
          <p:cNvPr id="376" name="Google Shape;376;p15"/>
          <p:cNvSpPr/>
          <p:nvPr/>
        </p:nvSpPr>
        <p:spPr>
          <a:xfrm>
            <a:off x="9258300" y="8219182"/>
            <a:ext cx="3971925" cy="1382018"/>
          </a:xfrm>
          <a:prstGeom prst="roundRect">
            <a:avLst>
              <a:gd fmla="val 11027"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9467850" y="8428732"/>
            <a:ext cx="3908107" cy="372368"/>
          </a:xfrm>
          <a:prstGeom prst="rect">
            <a:avLst/>
          </a:prstGeom>
          <a:noFill/>
          <a:ln>
            <a:noFill/>
          </a:ln>
        </p:spPr>
        <p:txBody>
          <a:bodyPr anchorCtr="0" anchor="t" bIns="25400" lIns="25400" spcFirstLastPara="1" rIns="25400" wrap="square" tIns="25400">
            <a:noAutofit/>
          </a:bodyPr>
          <a:lstStyle/>
          <a:p>
            <a:pPr indent="0" lvl="0" marL="0" marR="0" rtl="0" algn="l">
              <a:lnSpc>
                <a:spcPct val="111429"/>
              </a:lnSpc>
              <a:spcBef>
                <a:spcPts val="0"/>
              </a:spcBef>
              <a:spcAft>
                <a:spcPts val="0"/>
              </a:spcAft>
              <a:buClr>
                <a:srgbClr val="111111"/>
              </a:buClr>
              <a:buSzPts val="1950"/>
              <a:buFont typeface="Montserrat"/>
              <a:buNone/>
            </a:pPr>
            <a:r>
              <a:rPr b="0" i="0" lang="en-US" sz="1950" u="none" cap="none" strike="noStrike">
                <a:solidFill>
                  <a:srgbClr val="111111"/>
                </a:solidFill>
                <a:latin typeface="Montserrat"/>
                <a:ea typeface="Montserrat"/>
                <a:cs typeface="Montserrat"/>
                <a:sym typeface="Montserrat"/>
              </a:rPr>
              <a:t>“I’ll review the result.”</a:t>
            </a:r>
            <a:endParaRPr b="0" i="0" sz="1950" u="none" cap="none" strike="noStrike">
              <a:solidFill>
                <a:schemeClr val="dk1"/>
              </a:solidFill>
              <a:latin typeface="Calibri"/>
              <a:ea typeface="Calibri"/>
              <a:cs typeface="Calibri"/>
              <a:sym typeface="Calibri"/>
            </a:endParaRPr>
          </a:p>
        </p:txBody>
      </p:sp>
      <p:sp>
        <p:nvSpPr>
          <p:cNvPr id="378" name="Google Shape;378;p15"/>
          <p:cNvSpPr/>
          <p:nvPr/>
        </p:nvSpPr>
        <p:spPr>
          <a:xfrm>
            <a:off x="9467850" y="8839200"/>
            <a:ext cx="3659410" cy="5905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Dr. Maya </a:t>
            </a:r>
            <a:r>
              <a:rPr b="0" i="0" lang="en-US" sz="1800" u="none" cap="none" strike="noStrike">
                <a:solidFill>
                  <a:srgbClr val="3D3D3D"/>
                </a:solidFill>
                <a:latin typeface="Montserrat"/>
                <a:ea typeface="Montserrat"/>
                <a:cs typeface="Montserrat"/>
                <a:sym typeface="Montserrat"/>
              </a:rPr>
              <a:t>— Primary Care Physician</a:t>
            </a:r>
            <a:endParaRPr b="0" i="0" sz="1800" u="none" cap="none" strike="noStrike">
              <a:solidFill>
                <a:schemeClr val="dk1"/>
              </a:solidFill>
              <a:latin typeface="Calibri"/>
              <a:ea typeface="Calibri"/>
              <a:cs typeface="Calibri"/>
              <a:sym typeface="Calibri"/>
            </a:endParaRPr>
          </a:p>
        </p:txBody>
      </p:sp>
      <p:sp>
        <p:nvSpPr>
          <p:cNvPr id="379" name="Google Shape;379;p15"/>
          <p:cNvSpPr/>
          <p:nvPr/>
        </p:nvSpPr>
        <p:spPr>
          <a:xfrm>
            <a:off x="13458825" y="1819275"/>
            <a:ext cx="385242"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5573F"/>
              </a:buClr>
              <a:buSzPts val="1800"/>
              <a:buFont typeface="Montserrat"/>
              <a:buNone/>
            </a:pPr>
            <a:r>
              <a:rPr b="1" i="0" lang="en-US" sz="1800" u="none" cap="none" strike="noStrike">
                <a:solidFill>
                  <a:srgbClr val="B5573F"/>
                </a:solidFill>
                <a:latin typeface="Montserrat"/>
                <a:ea typeface="Montserrat"/>
                <a:cs typeface="Montserrat"/>
                <a:sym typeface="Montserrat"/>
              </a:rPr>
              <a:t>04</a:t>
            </a:r>
            <a:endParaRPr b="0" i="0" sz="1800" u="none" cap="none" strike="noStrike">
              <a:solidFill>
                <a:schemeClr val="dk1"/>
              </a:solidFill>
              <a:latin typeface="Calibri"/>
              <a:ea typeface="Calibri"/>
              <a:cs typeface="Calibri"/>
              <a:sym typeface="Calibri"/>
            </a:endParaRPr>
          </a:p>
        </p:txBody>
      </p:sp>
      <p:sp>
        <p:nvSpPr>
          <p:cNvPr id="380" name="Google Shape;380;p15"/>
          <p:cNvSpPr/>
          <p:nvPr/>
        </p:nvSpPr>
        <p:spPr>
          <a:xfrm>
            <a:off x="13901217" y="1819275"/>
            <a:ext cx="1733126"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NEXT STEP</a:t>
            </a:r>
            <a:endParaRPr b="0" i="0" sz="1800" u="none" cap="none" strike="noStrike">
              <a:solidFill>
                <a:schemeClr val="dk1"/>
              </a:solidFill>
              <a:latin typeface="Calibri"/>
              <a:ea typeface="Calibri"/>
              <a:cs typeface="Calibri"/>
              <a:sym typeface="Calibri"/>
            </a:endParaRPr>
          </a:p>
        </p:txBody>
      </p:sp>
      <p:sp>
        <p:nvSpPr>
          <p:cNvPr id="381" name="Google Shape;381;p15"/>
          <p:cNvSpPr/>
          <p:nvPr/>
        </p:nvSpPr>
        <p:spPr>
          <a:xfrm>
            <a:off x="13458825" y="2247900"/>
            <a:ext cx="3971925" cy="28575"/>
          </a:xfrm>
          <a:prstGeom prst="rect">
            <a:avLst/>
          </a:prstGeom>
          <a:solidFill>
            <a:srgbClr val="B557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2" name="Google Shape;382;p15"/>
          <p:cNvPicPr preferRelativeResize="0"/>
          <p:nvPr/>
        </p:nvPicPr>
        <p:blipFill rotWithShape="1">
          <a:blip r:embed="rId4">
            <a:alphaModFix/>
          </a:blip>
          <a:srcRect b="0" l="15837" r="15837" t="0"/>
          <a:stretch/>
        </p:blipFill>
        <p:spPr>
          <a:xfrm>
            <a:off x="13458825" y="2428875"/>
            <a:ext cx="3971925" cy="5914132"/>
          </a:xfrm>
          <a:prstGeom prst="rect">
            <a:avLst/>
          </a:prstGeom>
          <a:noFill/>
          <a:ln>
            <a:noFill/>
          </a:ln>
        </p:spPr>
      </p:pic>
      <p:sp>
        <p:nvSpPr>
          <p:cNvPr id="383" name="Google Shape;383;p15"/>
          <p:cNvSpPr/>
          <p:nvPr/>
        </p:nvSpPr>
        <p:spPr>
          <a:xfrm>
            <a:off x="13458825" y="8495407"/>
            <a:ext cx="3971925" cy="1105793"/>
          </a:xfrm>
          <a:prstGeom prst="roundRect">
            <a:avLst>
              <a:gd fmla="val 13782" name="adj"/>
            </a:avLst>
          </a:prstGeom>
          <a:solidFill>
            <a:srgbClr val="FDF4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5"/>
          <p:cNvSpPr/>
          <p:nvPr/>
        </p:nvSpPr>
        <p:spPr>
          <a:xfrm>
            <a:off x="13668375" y="8704957"/>
            <a:ext cx="3908107" cy="372368"/>
          </a:xfrm>
          <a:prstGeom prst="rect">
            <a:avLst/>
          </a:prstGeom>
          <a:noFill/>
          <a:ln>
            <a:noFill/>
          </a:ln>
        </p:spPr>
        <p:txBody>
          <a:bodyPr anchorCtr="0" anchor="t" bIns="25400" lIns="25400" spcFirstLastPara="1" rIns="25400" wrap="square" tIns="25400">
            <a:noAutofit/>
          </a:bodyPr>
          <a:lstStyle/>
          <a:p>
            <a:pPr indent="0" lvl="0" marL="0" marR="0" rtl="0" algn="l">
              <a:lnSpc>
                <a:spcPct val="111429"/>
              </a:lnSpc>
              <a:spcBef>
                <a:spcPts val="0"/>
              </a:spcBef>
              <a:spcAft>
                <a:spcPts val="0"/>
              </a:spcAft>
              <a:buClr>
                <a:srgbClr val="111111"/>
              </a:buClr>
              <a:buSzPts val="1950"/>
              <a:buFont typeface="Montserrat"/>
              <a:buNone/>
            </a:pPr>
            <a:r>
              <a:rPr b="0" i="0" lang="en-US" sz="1950" u="none" cap="none" strike="noStrike">
                <a:solidFill>
                  <a:srgbClr val="111111"/>
                </a:solidFill>
                <a:latin typeface="Montserrat"/>
                <a:ea typeface="Montserrat"/>
                <a:cs typeface="Montserrat"/>
                <a:sym typeface="Montserrat"/>
              </a:rPr>
              <a:t>“Now I know my next step.”</a:t>
            </a:r>
            <a:endParaRPr b="0" i="0" sz="1950" u="none" cap="none" strike="noStrike">
              <a:solidFill>
                <a:schemeClr val="dk1"/>
              </a:solidFill>
              <a:latin typeface="Calibri"/>
              <a:ea typeface="Calibri"/>
              <a:cs typeface="Calibri"/>
              <a:sym typeface="Calibri"/>
            </a:endParaRPr>
          </a:p>
        </p:txBody>
      </p:sp>
      <p:sp>
        <p:nvSpPr>
          <p:cNvPr id="385" name="Google Shape;385;p15"/>
          <p:cNvSpPr/>
          <p:nvPr/>
        </p:nvSpPr>
        <p:spPr>
          <a:xfrm>
            <a:off x="13668375" y="9115425"/>
            <a:ext cx="3908107"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Helen </a:t>
            </a:r>
            <a:r>
              <a:rPr b="0" i="0" lang="en-US" sz="1800" u="none" cap="none" strike="noStrike">
                <a:solidFill>
                  <a:srgbClr val="3D3D3D"/>
                </a:solidFill>
                <a:latin typeface="Montserrat"/>
                <a:ea typeface="Montserrat"/>
                <a:cs typeface="Montserrat"/>
                <a:sym typeface="Montserrat"/>
              </a:rPr>
              <a:t>— Patient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 name="Shape 390"/>
        <p:cNvGrpSpPr/>
        <p:nvPr/>
      </p:nvGrpSpPr>
      <p:grpSpPr>
        <a:xfrm>
          <a:off x="0" y="0"/>
          <a:ext cx="0" cy="0"/>
          <a:chOff x="0" y="0"/>
          <a:chExt cx="0" cy="0"/>
        </a:xfrm>
      </p:grpSpPr>
      <p:sp>
        <p:nvSpPr>
          <p:cNvPr id="391" name="Google Shape;391;p16"/>
          <p:cNvSpPr/>
          <p:nvPr/>
        </p:nvSpPr>
        <p:spPr>
          <a:xfrm>
            <a:off x="521208" y="796488"/>
            <a:ext cx="28803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86DAE"/>
              </a:buClr>
              <a:buSzPts val="1400"/>
              <a:buFont typeface="Inter"/>
              <a:buNone/>
            </a:pPr>
            <a:r>
              <a:rPr b="1" i="0" lang="en-US" sz="1800" u="none" cap="none" strike="noStrike">
                <a:solidFill>
                  <a:srgbClr val="286DAE"/>
                </a:solidFill>
                <a:latin typeface="Montserrat"/>
                <a:ea typeface="Montserrat"/>
                <a:cs typeface="Montserrat"/>
                <a:sym typeface="Montserrat"/>
              </a:rPr>
              <a:t>07 · TECHNOLOGIES</a:t>
            </a:r>
            <a:endParaRPr i="0" sz="1800" u="none" cap="none" strike="noStrike">
              <a:solidFill>
                <a:schemeClr val="dk1"/>
              </a:solidFill>
              <a:latin typeface="Montserrat"/>
              <a:ea typeface="Montserrat"/>
              <a:cs typeface="Montserrat"/>
              <a:sym typeface="Montserrat"/>
            </a:endParaRPr>
          </a:p>
        </p:txBody>
      </p:sp>
      <p:sp>
        <p:nvSpPr>
          <p:cNvPr id="392" name="Google Shape;392;p16"/>
          <p:cNvSpPr/>
          <p:nvPr/>
        </p:nvSpPr>
        <p:spPr>
          <a:xfrm>
            <a:off x="493775" y="1249125"/>
            <a:ext cx="5386800" cy="891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B1020"/>
              </a:buClr>
              <a:buSzPts val="6100"/>
              <a:buFont typeface="Georgia"/>
              <a:buNone/>
            </a:pPr>
            <a:r>
              <a:rPr b="1" i="0" lang="en-US" sz="6100" u="none" cap="none" strike="noStrike">
                <a:solidFill>
                  <a:srgbClr val="0B1020"/>
                </a:solidFill>
                <a:latin typeface="Montserrat"/>
                <a:ea typeface="Montserrat"/>
                <a:cs typeface="Montserrat"/>
                <a:sym typeface="Montserrat"/>
              </a:rPr>
              <a:t>Tech Stack</a:t>
            </a:r>
            <a:endParaRPr b="1" i="0" sz="6100" u="none" cap="none" strike="noStrike">
              <a:solidFill>
                <a:schemeClr val="dk1"/>
              </a:solidFill>
              <a:latin typeface="Montserrat"/>
              <a:ea typeface="Montserrat"/>
              <a:cs typeface="Montserrat"/>
              <a:sym typeface="Montserrat"/>
            </a:endParaRPr>
          </a:p>
        </p:txBody>
      </p:sp>
      <p:cxnSp>
        <p:nvCxnSpPr>
          <p:cNvPr id="393" name="Google Shape;393;p16"/>
          <p:cNvCxnSpPr/>
          <p:nvPr/>
        </p:nvCxnSpPr>
        <p:spPr>
          <a:xfrm>
            <a:off x="0" y="2618793"/>
            <a:ext cx="18288000" cy="0"/>
          </a:xfrm>
          <a:prstGeom prst="straightConnector1">
            <a:avLst/>
          </a:prstGeom>
          <a:noFill/>
          <a:ln cap="flat" cmpd="sng" w="12700">
            <a:solidFill>
              <a:srgbClr val="DDE2E8"/>
            </a:solidFill>
            <a:prstDash val="solid"/>
            <a:round/>
            <a:headEnd len="sm" w="sm" type="none"/>
            <a:tailEnd len="sm" w="sm" type="none"/>
          </a:ln>
        </p:spPr>
      </p:cxnSp>
      <p:cxnSp>
        <p:nvCxnSpPr>
          <p:cNvPr id="394" name="Google Shape;394;p16"/>
          <p:cNvCxnSpPr/>
          <p:nvPr/>
        </p:nvCxnSpPr>
        <p:spPr>
          <a:xfrm>
            <a:off x="4690872" y="2989124"/>
            <a:ext cx="0" cy="4361700"/>
          </a:xfrm>
          <a:prstGeom prst="straightConnector1">
            <a:avLst/>
          </a:prstGeom>
          <a:noFill/>
          <a:ln cap="flat" cmpd="sng" w="12700">
            <a:solidFill>
              <a:srgbClr val="DDE2E8"/>
            </a:solidFill>
            <a:prstDash val="solid"/>
            <a:round/>
            <a:headEnd len="sm" w="sm" type="none"/>
            <a:tailEnd len="sm" w="sm" type="none"/>
          </a:ln>
        </p:spPr>
      </p:cxnSp>
      <p:cxnSp>
        <p:nvCxnSpPr>
          <p:cNvPr id="395" name="Google Shape;395;p16"/>
          <p:cNvCxnSpPr/>
          <p:nvPr/>
        </p:nvCxnSpPr>
        <p:spPr>
          <a:xfrm>
            <a:off x="9121140" y="2989124"/>
            <a:ext cx="0" cy="4361700"/>
          </a:xfrm>
          <a:prstGeom prst="straightConnector1">
            <a:avLst/>
          </a:prstGeom>
          <a:noFill/>
          <a:ln cap="flat" cmpd="sng" w="12700">
            <a:solidFill>
              <a:srgbClr val="DDE2E8"/>
            </a:solidFill>
            <a:prstDash val="solid"/>
            <a:round/>
            <a:headEnd len="sm" w="sm" type="none"/>
            <a:tailEnd len="sm" w="sm" type="none"/>
          </a:ln>
        </p:spPr>
      </p:cxnSp>
      <p:cxnSp>
        <p:nvCxnSpPr>
          <p:cNvPr id="396" name="Google Shape;396;p16"/>
          <p:cNvCxnSpPr/>
          <p:nvPr/>
        </p:nvCxnSpPr>
        <p:spPr>
          <a:xfrm>
            <a:off x="13523976" y="2989124"/>
            <a:ext cx="0" cy="4361700"/>
          </a:xfrm>
          <a:prstGeom prst="straightConnector1">
            <a:avLst/>
          </a:prstGeom>
          <a:noFill/>
          <a:ln cap="flat" cmpd="sng" w="12700">
            <a:solidFill>
              <a:srgbClr val="DDE2E8"/>
            </a:solidFill>
            <a:prstDash val="solid"/>
            <a:round/>
            <a:headEnd len="sm" w="sm" type="none"/>
            <a:tailEnd len="sm" w="sm" type="none"/>
          </a:ln>
        </p:spPr>
      </p:cxnSp>
      <p:sp>
        <p:nvSpPr>
          <p:cNvPr id="397" name="Google Shape;397;p16"/>
          <p:cNvSpPr/>
          <p:nvPr/>
        </p:nvSpPr>
        <p:spPr>
          <a:xfrm>
            <a:off x="521208" y="3071421"/>
            <a:ext cx="576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E82B7"/>
              </a:buClr>
              <a:buSzPts val="1600"/>
              <a:buFont typeface="Inter"/>
              <a:buNone/>
            </a:pPr>
            <a:r>
              <a:rPr b="1" i="0" lang="en-US" sz="1800" u="none" cap="none" strike="noStrike">
                <a:solidFill>
                  <a:srgbClr val="4E82B7"/>
                </a:solidFill>
                <a:latin typeface="Montserrat"/>
                <a:ea typeface="Montserrat"/>
                <a:cs typeface="Montserrat"/>
                <a:sym typeface="Montserrat"/>
              </a:rPr>
              <a:t>01</a:t>
            </a:r>
            <a:endParaRPr i="0" sz="1800" u="none" cap="none" strike="noStrike">
              <a:solidFill>
                <a:schemeClr val="dk1"/>
              </a:solidFill>
              <a:latin typeface="Montserrat"/>
              <a:ea typeface="Montserrat"/>
              <a:cs typeface="Montserrat"/>
              <a:sym typeface="Montserrat"/>
            </a:endParaRPr>
          </a:p>
        </p:txBody>
      </p:sp>
      <p:cxnSp>
        <p:nvCxnSpPr>
          <p:cNvPr id="398" name="Google Shape;398;p16"/>
          <p:cNvCxnSpPr/>
          <p:nvPr/>
        </p:nvCxnSpPr>
        <p:spPr>
          <a:xfrm>
            <a:off x="521208" y="3455468"/>
            <a:ext cx="260700" cy="0"/>
          </a:xfrm>
          <a:prstGeom prst="straightConnector1">
            <a:avLst/>
          </a:prstGeom>
          <a:noFill/>
          <a:ln cap="flat" cmpd="sng" w="13950">
            <a:solidFill>
              <a:srgbClr val="2AA7B8"/>
            </a:solidFill>
            <a:prstDash val="solid"/>
            <a:round/>
            <a:headEnd len="sm" w="sm" type="none"/>
            <a:tailEnd len="sm" w="sm" type="none"/>
          </a:ln>
        </p:spPr>
      </p:cxnSp>
      <p:sp>
        <p:nvSpPr>
          <p:cNvPr id="399" name="Google Shape;399;p16"/>
          <p:cNvSpPr/>
          <p:nvPr/>
        </p:nvSpPr>
        <p:spPr>
          <a:xfrm>
            <a:off x="521208" y="3729789"/>
            <a:ext cx="3909000" cy="589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B1020"/>
              </a:buClr>
              <a:buSzPts val="3900"/>
              <a:buFont typeface="Georgia"/>
              <a:buNone/>
            </a:pPr>
            <a:r>
              <a:rPr i="0" lang="en-US" sz="3900" u="none" cap="none" strike="noStrike">
                <a:solidFill>
                  <a:srgbClr val="0B1020"/>
                </a:solidFill>
                <a:latin typeface="Montserrat SemiBold"/>
                <a:ea typeface="Montserrat SemiBold"/>
                <a:cs typeface="Montserrat SemiBold"/>
                <a:sym typeface="Montserrat SemiBold"/>
              </a:rPr>
              <a:t>Model / ML</a:t>
            </a:r>
            <a:endParaRPr i="0" sz="3900" u="none" cap="none" strike="noStrike">
              <a:solidFill>
                <a:schemeClr val="dk1"/>
              </a:solidFill>
              <a:latin typeface="Montserrat SemiBold"/>
              <a:ea typeface="Montserrat SemiBold"/>
              <a:cs typeface="Montserrat SemiBold"/>
              <a:sym typeface="Montserrat SemiBold"/>
            </a:endParaRPr>
          </a:p>
        </p:txBody>
      </p:sp>
      <p:sp>
        <p:nvSpPr>
          <p:cNvPr id="400" name="Google Shape;400;p16"/>
          <p:cNvSpPr/>
          <p:nvPr/>
        </p:nvSpPr>
        <p:spPr>
          <a:xfrm>
            <a:off x="548640" y="4443021"/>
            <a:ext cx="3909000" cy="987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748197"/>
              </a:buClr>
              <a:buSzPts val="2000"/>
              <a:buFont typeface="Inter"/>
              <a:buNone/>
            </a:pPr>
            <a:r>
              <a:rPr i="0" lang="en-US" sz="1700" u="none" cap="none" strike="noStrike">
                <a:solidFill>
                  <a:srgbClr val="748197"/>
                </a:solidFill>
                <a:latin typeface="Montserrat"/>
                <a:ea typeface="Montserrat"/>
                <a:cs typeface="Montserrat"/>
                <a:sym typeface="Montserrat"/>
              </a:rPr>
              <a:t>Computer vision and deep learning</a:t>
            </a:r>
            <a:endParaRPr i="0" sz="1700" u="none" cap="none" strike="noStrike">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i="0" lang="en-US" sz="1700" u="none" cap="none" strike="noStrike">
                <a:solidFill>
                  <a:srgbClr val="748197"/>
                </a:solidFill>
                <a:latin typeface="Montserrat"/>
                <a:ea typeface="Montserrat"/>
                <a:cs typeface="Montserrat"/>
                <a:sym typeface="Montserrat"/>
              </a:rPr>
              <a:t>for robust, clinically relevant</a:t>
            </a:r>
            <a:endParaRPr i="0" sz="1700" u="none" cap="none" strike="noStrike">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i="0" lang="en-US" sz="1700" u="none" cap="none" strike="noStrike">
                <a:solidFill>
                  <a:srgbClr val="748197"/>
                </a:solidFill>
                <a:latin typeface="Montserrat"/>
                <a:ea typeface="Montserrat"/>
                <a:cs typeface="Montserrat"/>
                <a:sym typeface="Montserrat"/>
              </a:rPr>
              <a:t>predictions.</a:t>
            </a:r>
            <a:endParaRPr i="0" sz="1700" u="none" cap="none" strike="noStrike">
              <a:solidFill>
                <a:schemeClr val="dk1"/>
              </a:solidFill>
              <a:latin typeface="Montserrat"/>
              <a:ea typeface="Montserrat"/>
              <a:cs typeface="Montserrat"/>
              <a:sym typeface="Montserrat"/>
            </a:endParaRPr>
          </a:p>
        </p:txBody>
      </p:sp>
      <p:sp>
        <p:nvSpPr>
          <p:cNvPr id="401" name="Google Shape;401;p16"/>
          <p:cNvSpPr/>
          <p:nvPr/>
        </p:nvSpPr>
        <p:spPr>
          <a:xfrm>
            <a:off x="548640" y="5608881"/>
            <a:ext cx="13443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02" name="Google Shape;402;p16"/>
          <p:cNvSpPr/>
          <p:nvPr/>
        </p:nvSpPr>
        <p:spPr>
          <a:xfrm>
            <a:off x="699516" y="5728210"/>
            <a:ext cx="10425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Python</a:t>
            </a:r>
            <a:endParaRPr sz="1600">
              <a:solidFill>
                <a:schemeClr val="dk1"/>
              </a:solidFill>
              <a:latin typeface="Inter"/>
              <a:ea typeface="Inter"/>
              <a:cs typeface="Inter"/>
              <a:sym typeface="Inter"/>
            </a:endParaRPr>
          </a:p>
        </p:txBody>
      </p:sp>
      <p:sp>
        <p:nvSpPr>
          <p:cNvPr id="403" name="Google Shape;403;p16"/>
          <p:cNvSpPr/>
          <p:nvPr/>
        </p:nvSpPr>
        <p:spPr>
          <a:xfrm>
            <a:off x="2071116" y="5608881"/>
            <a:ext cx="14814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04" name="Google Shape;404;p16"/>
          <p:cNvSpPr/>
          <p:nvPr/>
        </p:nvSpPr>
        <p:spPr>
          <a:xfrm>
            <a:off x="2221992" y="5728210"/>
            <a:ext cx="11796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PyTorch</a:t>
            </a:r>
            <a:endParaRPr sz="1600">
              <a:solidFill>
                <a:schemeClr val="dk1"/>
              </a:solidFill>
              <a:latin typeface="Inter"/>
              <a:ea typeface="Inter"/>
              <a:cs typeface="Inter"/>
              <a:sym typeface="Inter"/>
            </a:endParaRPr>
          </a:p>
        </p:txBody>
      </p:sp>
      <p:sp>
        <p:nvSpPr>
          <p:cNvPr id="405" name="Google Shape;405;p16"/>
          <p:cNvSpPr/>
          <p:nvPr/>
        </p:nvSpPr>
        <p:spPr>
          <a:xfrm>
            <a:off x="548640" y="6267249"/>
            <a:ext cx="14403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06" name="Google Shape;406;p16"/>
          <p:cNvSpPr/>
          <p:nvPr/>
        </p:nvSpPr>
        <p:spPr>
          <a:xfrm>
            <a:off x="699516" y="6386578"/>
            <a:ext cx="11385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OpenCV</a:t>
            </a:r>
            <a:endParaRPr sz="1600">
              <a:solidFill>
                <a:schemeClr val="dk1"/>
              </a:solidFill>
              <a:latin typeface="Inter"/>
              <a:ea typeface="Inter"/>
              <a:cs typeface="Inter"/>
              <a:sym typeface="Inter"/>
            </a:endParaRPr>
          </a:p>
        </p:txBody>
      </p:sp>
      <p:sp>
        <p:nvSpPr>
          <p:cNvPr id="407" name="Google Shape;407;p16"/>
          <p:cNvSpPr/>
          <p:nvPr/>
        </p:nvSpPr>
        <p:spPr>
          <a:xfrm>
            <a:off x="2091690" y="6280941"/>
            <a:ext cx="24963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08" name="Google Shape;408;p16"/>
          <p:cNvSpPr/>
          <p:nvPr/>
        </p:nvSpPr>
        <p:spPr>
          <a:xfrm>
            <a:off x="2242566" y="6424959"/>
            <a:ext cx="21945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Weights &amp; Biases</a:t>
            </a:r>
            <a:endParaRPr sz="1600">
              <a:solidFill>
                <a:schemeClr val="dk1"/>
              </a:solidFill>
              <a:latin typeface="Inter"/>
              <a:ea typeface="Inter"/>
              <a:cs typeface="Inter"/>
              <a:sym typeface="Inter"/>
            </a:endParaRPr>
          </a:p>
        </p:txBody>
      </p:sp>
      <p:sp>
        <p:nvSpPr>
          <p:cNvPr id="409" name="Google Shape;409;p16"/>
          <p:cNvSpPr/>
          <p:nvPr/>
        </p:nvSpPr>
        <p:spPr>
          <a:xfrm>
            <a:off x="5102352" y="3071421"/>
            <a:ext cx="576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E82B7"/>
              </a:buClr>
              <a:buSzPts val="1600"/>
              <a:buFont typeface="Inter"/>
              <a:buNone/>
            </a:pPr>
            <a:r>
              <a:rPr b="1" lang="en-US" sz="1800">
                <a:solidFill>
                  <a:srgbClr val="4E82B7"/>
                </a:solidFill>
                <a:latin typeface="Montserrat"/>
                <a:ea typeface="Montserrat"/>
                <a:cs typeface="Montserrat"/>
                <a:sym typeface="Montserrat"/>
              </a:rPr>
              <a:t>02</a:t>
            </a:r>
            <a:endParaRPr sz="1800">
              <a:solidFill>
                <a:schemeClr val="dk1"/>
              </a:solidFill>
              <a:latin typeface="Montserrat"/>
              <a:ea typeface="Montserrat"/>
              <a:cs typeface="Montserrat"/>
              <a:sym typeface="Montserrat"/>
            </a:endParaRPr>
          </a:p>
        </p:txBody>
      </p:sp>
      <p:cxnSp>
        <p:nvCxnSpPr>
          <p:cNvPr id="410" name="Google Shape;410;p16"/>
          <p:cNvCxnSpPr/>
          <p:nvPr/>
        </p:nvCxnSpPr>
        <p:spPr>
          <a:xfrm>
            <a:off x="5102352" y="3455468"/>
            <a:ext cx="260700" cy="0"/>
          </a:xfrm>
          <a:prstGeom prst="straightConnector1">
            <a:avLst/>
          </a:prstGeom>
          <a:noFill/>
          <a:ln cap="flat" cmpd="sng" w="13950">
            <a:solidFill>
              <a:srgbClr val="2AA7B8"/>
            </a:solidFill>
            <a:prstDash val="solid"/>
            <a:round/>
            <a:headEnd len="sm" w="sm" type="none"/>
            <a:tailEnd len="sm" w="sm" type="none"/>
          </a:ln>
        </p:spPr>
      </p:cxnSp>
      <p:sp>
        <p:nvSpPr>
          <p:cNvPr id="411" name="Google Shape;411;p16"/>
          <p:cNvSpPr/>
          <p:nvPr/>
        </p:nvSpPr>
        <p:spPr>
          <a:xfrm>
            <a:off x="5102352" y="3729789"/>
            <a:ext cx="3909000" cy="589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B1020"/>
              </a:buClr>
              <a:buSzPts val="3900"/>
              <a:buFont typeface="Georgia"/>
              <a:buNone/>
            </a:pPr>
            <a:r>
              <a:rPr lang="en-US" sz="3900">
                <a:solidFill>
                  <a:srgbClr val="0B1020"/>
                </a:solidFill>
                <a:latin typeface="Montserrat SemiBold"/>
                <a:ea typeface="Montserrat SemiBold"/>
                <a:cs typeface="Montserrat SemiBold"/>
                <a:sym typeface="Montserrat SemiBold"/>
              </a:rPr>
              <a:t>Backend</a:t>
            </a:r>
            <a:endParaRPr sz="3900">
              <a:solidFill>
                <a:schemeClr val="dk1"/>
              </a:solidFill>
              <a:latin typeface="Montserrat SemiBold"/>
              <a:ea typeface="Montserrat SemiBold"/>
              <a:cs typeface="Montserrat SemiBold"/>
              <a:sym typeface="Montserrat SemiBold"/>
            </a:endParaRPr>
          </a:p>
        </p:txBody>
      </p:sp>
      <p:sp>
        <p:nvSpPr>
          <p:cNvPr id="412" name="Google Shape;412;p16"/>
          <p:cNvSpPr/>
          <p:nvPr/>
        </p:nvSpPr>
        <p:spPr>
          <a:xfrm>
            <a:off x="5129784" y="4443021"/>
            <a:ext cx="3909000" cy="987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748197"/>
              </a:buClr>
              <a:buSzPts val="2000"/>
              <a:buFont typeface="Inter"/>
              <a:buNone/>
            </a:pPr>
            <a:r>
              <a:rPr lang="en-US" sz="1700">
                <a:solidFill>
                  <a:srgbClr val="748197"/>
                </a:solidFill>
                <a:latin typeface="Montserrat"/>
                <a:ea typeface="Montserrat"/>
                <a:cs typeface="Montserrat"/>
                <a:sym typeface="Montserrat"/>
              </a:rPr>
              <a:t>High-performance APIs and</a:t>
            </a:r>
            <a:endParaRPr sz="1700">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lang="en-US" sz="1700">
                <a:solidFill>
                  <a:srgbClr val="748197"/>
                </a:solidFill>
                <a:latin typeface="Montserrat"/>
                <a:ea typeface="Montserrat"/>
                <a:cs typeface="Montserrat"/>
                <a:sym typeface="Montserrat"/>
              </a:rPr>
              <a:t>data services for secure, reliable</a:t>
            </a:r>
            <a:endParaRPr sz="1700">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lang="en-US" sz="1700">
                <a:solidFill>
                  <a:srgbClr val="748197"/>
                </a:solidFill>
                <a:latin typeface="Montserrat"/>
                <a:ea typeface="Montserrat"/>
                <a:cs typeface="Montserrat"/>
                <a:sym typeface="Montserrat"/>
              </a:rPr>
              <a:t>inference.</a:t>
            </a:r>
            <a:endParaRPr sz="1700">
              <a:solidFill>
                <a:schemeClr val="dk1"/>
              </a:solidFill>
              <a:latin typeface="Montserrat"/>
              <a:ea typeface="Montserrat"/>
              <a:cs typeface="Montserrat"/>
              <a:sym typeface="Montserrat"/>
            </a:endParaRPr>
          </a:p>
        </p:txBody>
      </p:sp>
      <p:sp>
        <p:nvSpPr>
          <p:cNvPr id="413" name="Google Shape;413;p16"/>
          <p:cNvSpPr/>
          <p:nvPr/>
        </p:nvSpPr>
        <p:spPr>
          <a:xfrm>
            <a:off x="5129784" y="5608881"/>
            <a:ext cx="15363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14" name="Google Shape;414;p16"/>
          <p:cNvSpPr/>
          <p:nvPr/>
        </p:nvSpPr>
        <p:spPr>
          <a:xfrm>
            <a:off x="5280660" y="5728210"/>
            <a:ext cx="12345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FastAPI</a:t>
            </a:r>
            <a:endParaRPr sz="1600">
              <a:solidFill>
                <a:schemeClr val="dk1"/>
              </a:solidFill>
              <a:latin typeface="Inter"/>
              <a:ea typeface="Inter"/>
              <a:cs typeface="Inter"/>
              <a:sym typeface="Inter"/>
            </a:endParaRPr>
          </a:p>
        </p:txBody>
      </p:sp>
      <p:sp>
        <p:nvSpPr>
          <p:cNvPr id="415" name="Google Shape;415;p16"/>
          <p:cNvSpPr/>
          <p:nvPr/>
        </p:nvSpPr>
        <p:spPr>
          <a:xfrm>
            <a:off x="6844284" y="5608881"/>
            <a:ext cx="18516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16" name="Google Shape;416;p16"/>
          <p:cNvSpPr/>
          <p:nvPr/>
        </p:nvSpPr>
        <p:spPr>
          <a:xfrm>
            <a:off x="6995160" y="5728210"/>
            <a:ext cx="15498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PostgreSQL</a:t>
            </a:r>
            <a:endParaRPr sz="1600">
              <a:solidFill>
                <a:schemeClr val="dk1"/>
              </a:solidFill>
              <a:latin typeface="Inter"/>
              <a:ea typeface="Inter"/>
              <a:cs typeface="Inter"/>
              <a:sym typeface="Inter"/>
            </a:endParaRPr>
          </a:p>
        </p:txBody>
      </p:sp>
      <p:sp>
        <p:nvSpPr>
          <p:cNvPr id="417" name="Google Shape;417;p16"/>
          <p:cNvSpPr/>
          <p:nvPr/>
        </p:nvSpPr>
        <p:spPr>
          <a:xfrm>
            <a:off x="5129784" y="6267249"/>
            <a:ext cx="21945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18" name="Google Shape;418;p16"/>
          <p:cNvSpPr/>
          <p:nvPr/>
        </p:nvSpPr>
        <p:spPr>
          <a:xfrm>
            <a:off x="5280660" y="6386578"/>
            <a:ext cx="18927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Object Storage</a:t>
            </a:r>
            <a:endParaRPr sz="1600">
              <a:solidFill>
                <a:schemeClr val="dk1"/>
              </a:solidFill>
              <a:latin typeface="Inter"/>
              <a:ea typeface="Inter"/>
              <a:cs typeface="Inter"/>
              <a:sym typeface="Inter"/>
            </a:endParaRPr>
          </a:p>
        </p:txBody>
      </p:sp>
      <p:sp>
        <p:nvSpPr>
          <p:cNvPr id="419" name="Google Shape;419;p16"/>
          <p:cNvSpPr/>
          <p:nvPr/>
        </p:nvSpPr>
        <p:spPr>
          <a:xfrm>
            <a:off x="9532620" y="3071421"/>
            <a:ext cx="576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E82B7"/>
              </a:buClr>
              <a:buSzPts val="1600"/>
              <a:buFont typeface="Inter"/>
              <a:buNone/>
            </a:pPr>
            <a:r>
              <a:rPr b="1" lang="en-US" sz="1800">
                <a:solidFill>
                  <a:srgbClr val="4E82B7"/>
                </a:solidFill>
                <a:latin typeface="Montserrat"/>
                <a:ea typeface="Montserrat"/>
                <a:cs typeface="Montserrat"/>
                <a:sym typeface="Montserrat"/>
              </a:rPr>
              <a:t>03</a:t>
            </a:r>
            <a:endParaRPr sz="1800">
              <a:solidFill>
                <a:schemeClr val="dk1"/>
              </a:solidFill>
              <a:latin typeface="Montserrat"/>
              <a:ea typeface="Montserrat"/>
              <a:cs typeface="Montserrat"/>
              <a:sym typeface="Montserrat"/>
            </a:endParaRPr>
          </a:p>
        </p:txBody>
      </p:sp>
      <p:cxnSp>
        <p:nvCxnSpPr>
          <p:cNvPr id="420" name="Google Shape;420;p16"/>
          <p:cNvCxnSpPr/>
          <p:nvPr/>
        </p:nvCxnSpPr>
        <p:spPr>
          <a:xfrm>
            <a:off x="9532620" y="3455468"/>
            <a:ext cx="260700" cy="0"/>
          </a:xfrm>
          <a:prstGeom prst="straightConnector1">
            <a:avLst/>
          </a:prstGeom>
          <a:noFill/>
          <a:ln cap="flat" cmpd="sng" w="13950">
            <a:solidFill>
              <a:srgbClr val="2AA7B8"/>
            </a:solidFill>
            <a:prstDash val="solid"/>
            <a:round/>
            <a:headEnd len="sm" w="sm" type="none"/>
            <a:tailEnd len="sm" w="sm" type="none"/>
          </a:ln>
        </p:spPr>
      </p:cxnSp>
      <p:sp>
        <p:nvSpPr>
          <p:cNvPr id="421" name="Google Shape;421;p16"/>
          <p:cNvSpPr/>
          <p:nvPr/>
        </p:nvSpPr>
        <p:spPr>
          <a:xfrm>
            <a:off x="9532620" y="3729789"/>
            <a:ext cx="3909000" cy="589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B1020"/>
              </a:buClr>
              <a:buSzPts val="3900"/>
              <a:buFont typeface="Georgia"/>
              <a:buNone/>
            </a:pPr>
            <a:r>
              <a:rPr lang="en-US" sz="3900">
                <a:solidFill>
                  <a:srgbClr val="0B1020"/>
                </a:solidFill>
                <a:latin typeface="Montserrat SemiBold"/>
                <a:ea typeface="Montserrat SemiBold"/>
                <a:cs typeface="Montserrat SemiBold"/>
                <a:sym typeface="Montserrat SemiBold"/>
              </a:rPr>
              <a:t>Frontend</a:t>
            </a:r>
            <a:endParaRPr sz="3900">
              <a:solidFill>
                <a:schemeClr val="dk1"/>
              </a:solidFill>
              <a:latin typeface="Montserrat SemiBold"/>
              <a:ea typeface="Montserrat SemiBold"/>
              <a:cs typeface="Montserrat SemiBold"/>
              <a:sym typeface="Montserrat SemiBold"/>
            </a:endParaRPr>
          </a:p>
        </p:txBody>
      </p:sp>
      <p:sp>
        <p:nvSpPr>
          <p:cNvPr id="422" name="Google Shape;422;p16"/>
          <p:cNvSpPr/>
          <p:nvPr/>
        </p:nvSpPr>
        <p:spPr>
          <a:xfrm>
            <a:off x="9560052" y="4443021"/>
            <a:ext cx="3909000" cy="987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748197"/>
              </a:buClr>
              <a:buSzPts val="2000"/>
              <a:buFont typeface="Inter"/>
              <a:buNone/>
            </a:pPr>
            <a:r>
              <a:rPr lang="en-US" sz="1700">
                <a:solidFill>
                  <a:srgbClr val="748197"/>
                </a:solidFill>
                <a:latin typeface="Montserrat"/>
                <a:ea typeface="Montserrat"/>
                <a:cs typeface="Montserrat"/>
                <a:sym typeface="Montserrat"/>
              </a:rPr>
              <a:t>A responsive, clinician-friendly</a:t>
            </a:r>
            <a:endParaRPr sz="1700">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lang="en-US" sz="1700">
                <a:solidFill>
                  <a:srgbClr val="748197"/>
                </a:solidFill>
                <a:latin typeface="Montserrat"/>
                <a:ea typeface="Montserrat"/>
                <a:cs typeface="Montserrat"/>
                <a:sym typeface="Montserrat"/>
              </a:rPr>
              <a:t>interface for seamless screening</a:t>
            </a:r>
            <a:endParaRPr sz="1700">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lang="en-US" sz="1700">
                <a:solidFill>
                  <a:srgbClr val="748197"/>
                </a:solidFill>
                <a:latin typeface="Montserrat"/>
                <a:ea typeface="Montserrat"/>
                <a:cs typeface="Montserrat"/>
                <a:sym typeface="Montserrat"/>
              </a:rPr>
              <a:t>workflows.</a:t>
            </a:r>
            <a:endParaRPr sz="1700">
              <a:solidFill>
                <a:schemeClr val="dk1"/>
              </a:solidFill>
              <a:latin typeface="Montserrat"/>
              <a:ea typeface="Montserrat"/>
              <a:cs typeface="Montserrat"/>
              <a:sym typeface="Montserrat"/>
            </a:endParaRPr>
          </a:p>
        </p:txBody>
      </p:sp>
      <p:sp>
        <p:nvSpPr>
          <p:cNvPr id="423" name="Google Shape;423;p16"/>
          <p:cNvSpPr/>
          <p:nvPr/>
        </p:nvSpPr>
        <p:spPr>
          <a:xfrm>
            <a:off x="9560052" y="5608881"/>
            <a:ext cx="10974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24" name="Google Shape;424;p16"/>
          <p:cNvSpPr/>
          <p:nvPr/>
        </p:nvSpPr>
        <p:spPr>
          <a:xfrm>
            <a:off x="9710928" y="5728210"/>
            <a:ext cx="7956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HTML</a:t>
            </a:r>
            <a:endParaRPr sz="1600">
              <a:solidFill>
                <a:schemeClr val="dk1"/>
              </a:solidFill>
              <a:latin typeface="Inter"/>
              <a:ea typeface="Inter"/>
              <a:cs typeface="Inter"/>
              <a:sym typeface="Inter"/>
            </a:endParaRPr>
          </a:p>
        </p:txBody>
      </p:sp>
      <p:sp>
        <p:nvSpPr>
          <p:cNvPr id="425" name="Google Shape;425;p16"/>
          <p:cNvSpPr/>
          <p:nvPr/>
        </p:nvSpPr>
        <p:spPr>
          <a:xfrm>
            <a:off x="10835640" y="5608881"/>
            <a:ext cx="10287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26" name="Google Shape;426;p16"/>
          <p:cNvSpPr/>
          <p:nvPr/>
        </p:nvSpPr>
        <p:spPr>
          <a:xfrm>
            <a:off x="10986516" y="5728210"/>
            <a:ext cx="7269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CSS</a:t>
            </a:r>
            <a:endParaRPr sz="1600">
              <a:solidFill>
                <a:schemeClr val="dk1"/>
              </a:solidFill>
              <a:latin typeface="Inter"/>
              <a:ea typeface="Inter"/>
              <a:cs typeface="Inter"/>
              <a:sym typeface="Inter"/>
            </a:endParaRPr>
          </a:p>
        </p:txBody>
      </p:sp>
      <p:sp>
        <p:nvSpPr>
          <p:cNvPr id="427" name="Google Shape;427;p16"/>
          <p:cNvSpPr/>
          <p:nvPr/>
        </p:nvSpPr>
        <p:spPr>
          <a:xfrm>
            <a:off x="9560052" y="6267249"/>
            <a:ext cx="15774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28" name="Google Shape;428;p16"/>
          <p:cNvSpPr/>
          <p:nvPr/>
        </p:nvSpPr>
        <p:spPr>
          <a:xfrm>
            <a:off x="9710928" y="6386578"/>
            <a:ext cx="12756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JavaScript</a:t>
            </a:r>
            <a:endParaRPr sz="1600">
              <a:solidFill>
                <a:schemeClr val="dk1"/>
              </a:solidFill>
              <a:latin typeface="Inter"/>
              <a:ea typeface="Inter"/>
              <a:cs typeface="Inter"/>
              <a:sym typeface="Inter"/>
            </a:endParaRPr>
          </a:p>
        </p:txBody>
      </p:sp>
      <p:sp>
        <p:nvSpPr>
          <p:cNvPr id="429" name="Google Shape;429;p16"/>
          <p:cNvSpPr/>
          <p:nvPr/>
        </p:nvSpPr>
        <p:spPr>
          <a:xfrm>
            <a:off x="11315700" y="6267249"/>
            <a:ext cx="12345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30" name="Google Shape;430;p16"/>
          <p:cNvSpPr/>
          <p:nvPr/>
        </p:nvSpPr>
        <p:spPr>
          <a:xfrm>
            <a:off x="11466576" y="6386578"/>
            <a:ext cx="9327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React</a:t>
            </a:r>
            <a:endParaRPr sz="1600">
              <a:solidFill>
                <a:schemeClr val="dk1"/>
              </a:solidFill>
              <a:latin typeface="Inter"/>
              <a:ea typeface="Inter"/>
              <a:cs typeface="Inter"/>
              <a:sym typeface="Inter"/>
            </a:endParaRPr>
          </a:p>
        </p:txBody>
      </p:sp>
      <p:sp>
        <p:nvSpPr>
          <p:cNvPr id="431" name="Google Shape;431;p16"/>
          <p:cNvSpPr/>
          <p:nvPr/>
        </p:nvSpPr>
        <p:spPr>
          <a:xfrm>
            <a:off x="9560052" y="6925616"/>
            <a:ext cx="14127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32" name="Google Shape;432;p16"/>
          <p:cNvSpPr/>
          <p:nvPr/>
        </p:nvSpPr>
        <p:spPr>
          <a:xfrm>
            <a:off x="9710928" y="7044946"/>
            <a:ext cx="11109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Next.js</a:t>
            </a:r>
            <a:endParaRPr sz="1600">
              <a:solidFill>
                <a:schemeClr val="dk1"/>
              </a:solidFill>
              <a:latin typeface="Inter"/>
              <a:ea typeface="Inter"/>
              <a:cs typeface="Inter"/>
              <a:sym typeface="Inter"/>
            </a:endParaRPr>
          </a:p>
        </p:txBody>
      </p:sp>
      <p:sp>
        <p:nvSpPr>
          <p:cNvPr id="433" name="Google Shape;433;p16"/>
          <p:cNvSpPr/>
          <p:nvPr/>
        </p:nvSpPr>
        <p:spPr>
          <a:xfrm>
            <a:off x="13935456" y="3071421"/>
            <a:ext cx="576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E82B7"/>
              </a:buClr>
              <a:buSzPts val="1600"/>
              <a:buFont typeface="Inter"/>
              <a:buNone/>
            </a:pPr>
            <a:r>
              <a:rPr b="1" lang="en-US" sz="1800">
                <a:solidFill>
                  <a:srgbClr val="4E82B7"/>
                </a:solidFill>
                <a:latin typeface="Montserrat"/>
                <a:ea typeface="Montserrat"/>
                <a:cs typeface="Montserrat"/>
                <a:sym typeface="Montserrat"/>
              </a:rPr>
              <a:t>04</a:t>
            </a:r>
            <a:endParaRPr sz="1800">
              <a:solidFill>
                <a:schemeClr val="dk1"/>
              </a:solidFill>
              <a:latin typeface="Montserrat"/>
              <a:ea typeface="Montserrat"/>
              <a:cs typeface="Montserrat"/>
              <a:sym typeface="Montserrat"/>
            </a:endParaRPr>
          </a:p>
        </p:txBody>
      </p:sp>
      <p:cxnSp>
        <p:nvCxnSpPr>
          <p:cNvPr id="434" name="Google Shape;434;p16"/>
          <p:cNvCxnSpPr/>
          <p:nvPr/>
        </p:nvCxnSpPr>
        <p:spPr>
          <a:xfrm>
            <a:off x="13935456" y="3455468"/>
            <a:ext cx="260700" cy="0"/>
          </a:xfrm>
          <a:prstGeom prst="straightConnector1">
            <a:avLst/>
          </a:prstGeom>
          <a:noFill/>
          <a:ln cap="flat" cmpd="sng" w="13950">
            <a:solidFill>
              <a:srgbClr val="2AA7B8"/>
            </a:solidFill>
            <a:prstDash val="solid"/>
            <a:round/>
            <a:headEnd len="sm" w="sm" type="none"/>
            <a:tailEnd len="sm" w="sm" type="none"/>
          </a:ln>
        </p:spPr>
      </p:cxnSp>
      <p:sp>
        <p:nvSpPr>
          <p:cNvPr id="435" name="Google Shape;435;p16"/>
          <p:cNvSpPr/>
          <p:nvPr/>
        </p:nvSpPr>
        <p:spPr>
          <a:xfrm>
            <a:off x="13935456" y="3729789"/>
            <a:ext cx="3909000" cy="589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B1020"/>
              </a:buClr>
              <a:buSzPts val="3900"/>
              <a:buFont typeface="Georgia"/>
              <a:buNone/>
            </a:pPr>
            <a:r>
              <a:rPr lang="en-US" sz="3900">
                <a:solidFill>
                  <a:srgbClr val="0B1020"/>
                </a:solidFill>
                <a:latin typeface="Montserrat SemiBold"/>
                <a:ea typeface="Montserrat SemiBold"/>
                <a:cs typeface="Montserrat SemiBold"/>
                <a:sym typeface="Montserrat SemiBold"/>
              </a:rPr>
              <a:t>Infra &amp; Tooling</a:t>
            </a:r>
            <a:endParaRPr sz="3900">
              <a:solidFill>
                <a:schemeClr val="dk1"/>
              </a:solidFill>
              <a:latin typeface="Montserrat SemiBold"/>
              <a:ea typeface="Montserrat SemiBold"/>
              <a:cs typeface="Montserrat SemiBold"/>
              <a:sym typeface="Montserrat SemiBold"/>
            </a:endParaRPr>
          </a:p>
        </p:txBody>
      </p:sp>
      <p:sp>
        <p:nvSpPr>
          <p:cNvPr id="436" name="Google Shape;436;p16"/>
          <p:cNvSpPr/>
          <p:nvPr/>
        </p:nvSpPr>
        <p:spPr>
          <a:xfrm>
            <a:off x="13962888" y="4443021"/>
            <a:ext cx="3909000" cy="987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748197"/>
              </a:buClr>
              <a:buSzPts val="2000"/>
              <a:buFont typeface="Inter"/>
              <a:buNone/>
            </a:pPr>
            <a:r>
              <a:rPr lang="en-US" sz="1700">
                <a:solidFill>
                  <a:srgbClr val="748197"/>
                </a:solidFill>
                <a:latin typeface="Montserrat"/>
                <a:ea typeface="Montserrat"/>
                <a:cs typeface="Montserrat"/>
                <a:sym typeface="Montserrat"/>
              </a:rPr>
              <a:t>Scalable infrastructure and modern</a:t>
            </a:r>
            <a:endParaRPr sz="1700">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lang="en-US" sz="1700">
                <a:solidFill>
                  <a:srgbClr val="748197"/>
                </a:solidFill>
                <a:latin typeface="Montserrat"/>
                <a:ea typeface="Montserrat"/>
                <a:cs typeface="Montserrat"/>
                <a:sym typeface="Montserrat"/>
              </a:rPr>
              <a:t>developer tooling for iteration</a:t>
            </a:r>
            <a:endParaRPr sz="1700">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lang="en-US" sz="1700">
                <a:solidFill>
                  <a:srgbClr val="748197"/>
                </a:solidFill>
                <a:latin typeface="Montserrat"/>
                <a:ea typeface="Montserrat"/>
                <a:cs typeface="Montserrat"/>
                <a:sym typeface="Montserrat"/>
              </a:rPr>
              <a:t>and deployment.</a:t>
            </a:r>
            <a:endParaRPr sz="1700">
              <a:solidFill>
                <a:schemeClr val="dk1"/>
              </a:solidFill>
              <a:latin typeface="Montserrat"/>
              <a:ea typeface="Montserrat"/>
              <a:cs typeface="Montserrat"/>
              <a:sym typeface="Montserrat"/>
            </a:endParaRPr>
          </a:p>
        </p:txBody>
      </p:sp>
      <p:sp>
        <p:nvSpPr>
          <p:cNvPr id="437" name="Google Shape;437;p16"/>
          <p:cNvSpPr/>
          <p:nvPr/>
        </p:nvSpPr>
        <p:spPr>
          <a:xfrm>
            <a:off x="13962888" y="5608881"/>
            <a:ext cx="1440300" cy="493800"/>
          </a:xfrm>
          <a:prstGeom prst="roundRect">
            <a:avLst>
              <a:gd fmla="val 50000" name="adj"/>
            </a:avLst>
          </a:prstGeom>
          <a:solidFill>
            <a:srgbClr val="EAF8FB"/>
          </a:solidFill>
          <a:ln cap="flat" cmpd="sng" w="12700">
            <a:solidFill>
              <a:srgbClr val="2AA7B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38" name="Google Shape;438;p16"/>
          <p:cNvSpPr/>
          <p:nvPr/>
        </p:nvSpPr>
        <p:spPr>
          <a:xfrm>
            <a:off x="14113764" y="5728210"/>
            <a:ext cx="11385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Docker</a:t>
            </a:r>
            <a:endParaRPr sz="1600">
              <a:solidFill>
                <a:schemeClr val="dk1"/>
              </a:solidFill>
              <a:latin typeface="Inter"/>
              <a:ea typeface="Inter"/>
              <a:cs typeface="Inter"/>
              <a:sym typeface="Inter"/>
            </a:endParaRPr>
          </a:p>
        </p:txBody>
      </p:sp>
      <p:sp>
        <p:nvSpPr>
          <p:cNvPr id="439" name="Google Shape;439;p16"/>
          <p:cNvSpPr/>
          <p:nvPr/>
        </p:nvSpPr>
        <p:spPr>
          <a:xfrm>
            <a:off x="15581376" y="5608881"/>
            <a:ext cx="14403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40" name="Google Shape;440;p16"/>
          <p:cNvSpPr/>
          <p:nvPr/>
        </p:nvSpPr>
        <p:spPr>
          <a:xfrm>
            <a:off x="15732252" y="5728210"/>
            <a:ext cx="11385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GitHub</a:t>
            </a:r>
            <a:endParaRPr sz="1600">
              <a:solidFill>
                <a:schemeClr val="dk1"/>
              </a:solidFill>
              <a:latin typeface="Inter"/>
              <a:ea typeface="Inter"/>
              <a:cs typeface="Inter"/>
              <a:sym typeface="Inter"/>
            </a:endParaRPr>
          </a:p>
        </p:txBody>
      </p:sp>
      <p:sp>
        <p:nvSpPr>
          <p:cNvPr id="441" name="Google Shape;441;p16"/>
          <p:cNvSpPr/>
          <p:nvPr/>
        </p:nvSpPr>
        <p:spPr>
          <a:xfrm>
            <a:off x="13962888" y="6267249"/>
            <a:ext cx="20301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42" name="Google Shape;442;p16"/>
          <p:cNvSpPr/>
          <p:nvPr/>
        </p:nvSpPr>
        <p:spPr>
          <a:xfrm>
            <a:off x="14113764" y="6386578"/>
            <a:ext cx="17283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GitHub Actions</a:t>
            </a:r>
            <a:endParaRPr sz="1600">
              <a:solidFill>
                <a:schemeClr val="dk1"/>
              </a:solidFill>
              <a:latin typeface="Inter"/>
              <a:ea typeface="Inter"/>
              <a:cs typeface="Inter"/>
              <a:sym typeface="Inter"/>
            </a:endParaRPr>
          </a:p>
        </p:txBody>
      </p:sp>
      <p:sp>
        <p:nvSpPr>
          <p:cNvPr id="443" name="Google Shape;443;p16"/>
          <p:cNvSpPr/>
          <p:nvPr/>
        </p:nvSpPr>
        <p:spPr>
          <a:xfrm>
            <a:off x="16171164" y="6267249"/>
            <a:ext cx="13716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44" name="Google Shape;444;p16"/>
          <p:cNvSpPr/>
          <p:nvPr/>
        </p:nvSpPr>
        <p:spPr>
          <a:xfrm>
            <a:off x="16322040" y="6386578"/>
            <a:ext cx="10698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Vercel</a:t>
            </a:r>
            <a:endParaRPr sz="1600">
              <a:solidFill>
                <a:schemeClr val="dk1"/>
              </a:solidFill>
              <a:latin typeface="Inter"/>
              <a:ea typeface="Inter"/>
              <a:cs typeface="Inter"/>
              <a:sym typeface="Inter"/>
            </a:endParaRPr>
          </a:p>
        </p:txBody>
      </p:sp>
      <p:sp>
        <p:nvSpPr>
          <p:cNvPr id="445" name="Google Shape;445;p16"/>
          <p:cNvSpPr/>
          <p:nvPr/>
        </p:nvSpPr>
        <p:spPr>
          <a:xfrm>
            <a:off x="13962888" y="6925616"/>
            <a:ext cx="13716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46" name="Google Shape;446;p16"/>
          <p:cNvSpPr/>
          <p:nvPr/>
        </p:nvSpPr>
        <p:spPr>
          <a:xfrm>
            <a:off x="14113764" y="7044946"/>
            <a:ext cx="10698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Render</a:t>
            </a:r>
            <a:endParaRPr sz="1600">
              <a:solidFill>
                <a:schemeClr val="dk1"/>
              </a:solidFill>
              <a:latin typeface="Inter"/>
              <a:ea typeface="Inter"/>
              <a:cs typeface="Inter"/>
              <a:sym typeface="Inter"/>
            </a:endParaRPr>
          </a:p>
        </p:txBody>
      </p:sp>
      <p:sp>
        <p:nvSpPr>
          <p:cNvPr id="447" name="Google Shape;447;p16"/>
          <p:cNvSpPr/>
          <p:nvPr/>
        </p:nvSpPr>
        <p:spPr>
          <a:xfrm>
            <a:off x="15512796" y="6925616"/>
            <a:ext cx="17556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48" name="Google Shape;448;p16"/>
          <p:cNvSpPr/>
          <p:nvPr/>
        </p:nvSpPr>
        <p:spPr>
          <a:xfrm>
            <a:off x="15663672" y="7044946"/>
            <a:ext cx="1453800" cy="246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Cloud GPU</a:t>
            </a:r>
            <a:endParaRPr sz="1600">
              <a:solidFill>
                <a:schemeClr val="dk1"/>
              </a:solidFill>
              <a:latin typeface="Inter"/>
              <a:ea typeface="Inter"/>
              <a:cs typeface="Inter"/>
              <a:sym typeface="Inter"/>
            </a:endParaRPr>
          </a:p>
        </p:txBody>
      </p:sp>
      <p:sp>
        <p:nvSpPr>
          <p:cNvPr id="449" name="Google Shape;449;p16"/>
          <p:cNvSpPr/>
          <p:nvPr/>
        </p:nvSpPr>
        <p:spPr>
          <a:xfrm>
            <a:off x="384048" y="7625133"/>
            <a:ext cx="17529000" cy="1001400"/>
          </a:xfrm>
          <a:prstGeom prst="roundRect">
            <a:avLst>
              <a:gd fmla="val 8219" name="adj"/>
            </a:avLst>
          </a:prstGeom>
          <a:solidFill>
            <a:srgbClr val="FFFFFF"/>
          </a:solidFill>
          <a:ln cap="flat" cmpd="sng" w="12700">
            <a:solidFill>
              <a:srgbClr val="D0DBE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50" name="Google Shape;450;p16"/>
          <p:cNvSpPr/>
          <p:nvPr/>
        </p:nvSpPr>
        <p:spPr>
          <a:xfrm>
            <a:off x="795528" y="7885737"/>
            <a:ext cx="342900" cy="384000"/>
          </a:xfrm>
          <a:prstGeom prst="can">
            <a:avLst>
              <a:gd fmla="val 25000" name="adj"/>
            </a:avLst>
          </a:prstGeom>
          <a:solidFill>
            <a:srgbClr val="FFFFFF">
              <a:alpha val="0"/>
            </a:srgbClr>
          </a:solidFill>
          <a:ln cap="flat" cmpd="sng" w="15225">
            <a:solidFill>
              <a:srgbClr val="4E82B7"/>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51" name="Google Shape;451;p16"/>
          <p:cNvSpPr/>
          <p:nvPr/>
        </p:nvSpPr>
        <p:spPr>
          <a:xfrm>
            <a:off x="1591056" y="7872021"/>
            <a:ext cx="33603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E82B7"/>
              </a:buClr>
              <a:buSzPts val="1200"/>
              <a:buFont typeface="Inter"/>
              <a:buNone/>
            </a:pPr>
            <a:r>
              <a:rPr b="1" lang="en-US" sz="1200">
                <a:solidFill>
                  <a:srgbClr val="4E82B7"/>
                </a:solidFill>
                <a:latin typeface="Montserrat"/>
                <a:ea typeface="Montserrat"/>
                <a:cs typeface="Montserrat"/>
                <a:sym typeface="Montserrat"/>
              </a:rPr>
              <a:t>TRAINING &amp; VALIDATION DATA</a:t>
            </a:r>
            <a:endParaRPr sz="1200">
              <a:solidFill>
                <a:schemeClr val="dk1"/>
              </a:solidFill>
              <a:latin typeface="Montserrat"/>
              <a:ea typeface="Montserrat"/>
              <a:cs typeface="Montserrat"/>
              <a:sym typeface="Montserrat"/>
            </a:endParaRPr>
          </a:p>
        </p:txBody>
      </p:sp>
      <p:sp>
        <p:nvSpPr>
          <p:cNvPr id="452" name="Google Shape;452;p16"/>
          <p:cNvSpPr/>
          <p:nvPr/>
        </p:nvSpPr>
        <p:spPr>
          <a:xfrm>
            <a:off x="1591056" y="8187489"/>
            <a:ext cx="2126100" cy="35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1020"/>
              </a:buClr>
              <a:buSzPts val="2100"/>
              <a:buFont typeface="Georgia"/>
              <a:buNone/>
            </a:pPr>
            <a:r>
              <a:rPr b="1" lang="en-US" sz="2100">
                <a:solidFill>
                  <a:srgbClr val="0B1020"/>
                </a:solidFill>
                <a:latin typeface="Montserrat"/>
                <a:ea typeface="Montserrat"/>
                <a:cs typeface="Montserrat"/>
                <a:sym typeface="Montserrat"/>
              </a:rPr>
              <a:t>Train: ODIR-5K</a:t>
            </a:r>
            <a:endParaRPr b="1" sz="2100">
              <a:solidFill>
                <a:schemeClr val="dk1"/>
              </a:solidFill>
              <a:latin typeface="Montserrat"/>
              <a:ea typeface="Montserrat"/>
              <a:cs typeface="Montserrat"/>
              <a:sym typeface="Montserrat"/>
            </a:endParaRPr>
          </a:p>
        </p:txBody>
      </p:sp>
      <p:cxnSp>
        <p:nvCxnSpPr>
          <p:cNvPr id="453" name="Google Shape;453;p16"/>
          <p:cNvCxnSpPr/>
          <p:nvPr/>
        </p:nvCxnSpPr>
        <p:spPr>
          <a:xfrm>
            <a:off x="4183380" y="7899453"/>
            <a:ext cx="0" cy="480000"/>
          </a:xfrm>
          <a:prstGeom prst="straightConnector1">
            <a:avLst/>
          </a:prstGeom>
          <a:noFill/>
          <a:ln cap="flat" cmpd="sng" w="13950">
            <a:solidFill>
              <a:srgbClr val="DDE2E8"/>
            </a:solidFill>
            <a:prstDash val="solid"/>
            <a:round/>
            <a:headEnd len="sm" w="sm" type="none"/>
            <a:tailEnd len="sm" w="sm" type="none"/>
          </a:ln>
        </p:spPr>
      </p:cxnSp>
      <p:sp>
        <p:nvSpPr>
          <p:cNvPr id="454" name="Google Shape;454;p16"/>
          <p:cNvSpPr/>
          <p:nvPr/>
        </p:nvSpPr>
        <p:spPr>
          <a:xfrm>
            <a:off x="4594849" y="8187500"/>
            <a:ext cx="9916500" cy="35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1020"/>
              </a:buClr>
              <a:buSzPts val="1800"/>
              <a:buFont typeface="Georgia"/>
              <a:buNone/>
            </a:pPr>
            <a:r>
              <a:rPr lang="en-US" sz="1800">
                <a:solidFill>
                  <a:srgbClr val="0B1020"/>
                </a:solidFill>
                <a:latin typeface="Montserrat"/>
                <a:ea typeface="Montserrat"/>
                <a:cs typeface="Montserrat"/>
                <a:sym typeface="Montserrat"/>
              </a:rPr>
              <a:t>External validation / test-only:  ORIGA · DRISHTI-GS · ACRIMA · retina_dataset_2016</a:t>
            </a:r>
            <a:endParaRPr sz="1800">
              <a:solidFill>
                <a:schemeClr val="dk1"/>
              </a:solidFill>
              <a:latin typeface="Montserrat"/>
              <a:ea typeface="Montserrat"/>
              <a:cs typeface="Montserrat"/>
              <a:sym typeface="Montserrat"/>
            </a:endParaRPr>
          </a:p>
        </p:txBody>
      </p:sp>
      <p:cxnSp>
        <p:nvCxnSpPr>
          <p:cNvPr id="455" name="Google Shape;455;p16"/>
          <p:cNvCxnSpPr/>
          <p:nvPr/>
        </p:nvCxnSpPr>
        <p:spPr>
          <a:xfrm>
            <a:off x="15389352" y="7913169"/>
            <a:ext cx="0" cy="521100"/>
          </a:xfrm>
          <a:prstGeom prst="straightConnector1">
            <a:avLst/>
          </a:prstGeom>
          <a:noFill/>
          <a:ln cap="flat" cmpd="sng" w="12700">
            <a:solidFill>
              <a:srgbClr val="DDE2E8"/>
            </a:solidFill>
            <a:prstDash val="solid"/>
            <a:round/>
            <a:headEnd len="sm" w="sm" type="none"/>
            <a:tailEnd len="sm" w="sm" type="none"/>
          </a:ln>
        </p:spPr>
      </p:cxnSp>
      <p:sp>
        <p:nvSpPr>
          <p:cNvPr id="456" name="Google Shape;456;p16"/>
          <p:cNvSpPr/>
          <p:nvPr/>
        </p:nvSpPr>
        <p:spPr>
          <a:xfrm>
            <a:off x="15773400" y="7885737"/>
            <a:ext cx="15087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99AE"/>
              </a:buClr>
              <a:buSzPts val="1100"/>
              <a:buFont typeface="Inter"/>
              <a:buNone/>
            </a:pPr>
            <a:r>
              <a:rPr lang="en-US" sz="1100">
                <a:solidFill>
                  <a:srgbClr val="8A99AE"/>
                </a:solidFill>
                <a:latin typeface="Montserrat"/>
                <a:ea typeface="Montserrat"/>
                <a:cs typeface="Montserrat"/>
                <a:sym typeface="Montserrat"/>
              </a:rPr>
              <a:t>REAL DATA</a:t>
            </a:r>
            <a:endParaRPr sz="1100">
              <a:solidFill>
                <a:schemeClr val="dk1"/>
              </a:solidFill>
              <a:latin typeface="Montserrat"/>
              <a:ea typeface="Montserrat"/>
              <a:cs typeface="Montserrat"/>
              <a:sym typeface="Montserrat"/>
            </a:endParaRPr>
          </a:p>
          <a:p>
            <a:pPr indent="0" lvl="0" marL="0" marR="0" rtl="0" algn="l">
              <a:spcBef>
                <a:spcPts val="0"/>
              </a:spcBef>
              <a:spcAft>
                <a:spcPts val="0"/>
              </a:spcAft>
              <a:buClr>
                <a:srgbClr val="8A99AE"/>
              </a:buClr>
              <a:buSzPts val="1100"/>
              <a:buFont typeface="Inter"/>
              <a:buNone/>
            </a:pPr>
            <a:r>
              <a:rPr lang="en-US" sz="1100">
                <a:solidFill>
                  <a:srgbClr val="8A99AE"/>
                </a:solidFill>
                <a:latin typeface="Montserrat"/>
                <a:ea typeface="Montserrat"/>
                <a:cs typeface="Montserrat"/>
                <a:sym typeface="Montserrat"/>
              </a:rPr>
              <a:t>STRONGER MODELS</a:t>
            </a:r>
            <a:endParaRPr sz="1100">
              <a:solidFill>
                <a:schemeClr val="dk1"/>
              </a:solidFill>
              <a:latin typeface="Montserrat"/>
              <a:ea typeface="Montserrat"/>
              <a:cs typeface="Montserrat"/>
              <a:sym typeface="Montserrat"/>
            </a:endParaRPr>
          </a:p>
          <a:p>
            <a:pPr indent="0" lvl="0" marL="0" marR="0" rtl="0" algn="l">
              <a:spcBef>
                <a:spcPts val="0"/>
              </a:spcBef>
              <a:spcAft>
                <a:spcPts val="0"/>
              </a:spcAft>
              <a:buClr>
                <a:srgbClr val="8A99AE"/>
              </a:buClr>
              <a:buSzPts val="1100"/>
              <a:buFont typeface="Inter"/>
              <a:buNone/>
            </a:pPr>
            <a:r>
              <a:rPr lang="en-US" sz="1100">
                <a:solidFill>
                  <a:srgbClr val="8A99AE"/>
                </a:solidFill>
                <a:latin typeface="Montserrat"/>
                <a:ea typeface="Montserrat"/>
                <a:cs typeface="Montserrat"/>
                <a:sym typeface="Montserrat"/>
              </a:rPr>
              <a:t>BETTER OUTCOMES</a:t>
            </a:r>
            <a:endParaRPr sz="1100">
              <a:solidFill>
                <a:schemeClr val="dk1"/>
              </a:solidFill>
              <a:latin typeface="Montserrat"/>
              <a:ea typeface="Montserrat"/>
              <a:cs typeface="Montserrat"/>
              <a:sym typeface="Montserrat"/>
            </a:endParaRPr>
          </a:p>
        </p:txBody>
      </p:sp>
      <p:sp>
        <p:nvSpPr>
          <p:cNvPr id="457" name="Google Shape;457;p16"/>
          <p:cNvSpPr/>
          <p:nvPr/>
        </p:nvSpPr>
        <p:spPr>
          <a:xfrm>
            <a:off x="521208" y="9133893"/>
            <a:ext cx="24003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E82B7"/>
              </a:buClr>
              <a:buSzPts val="1200"/>
              <a:buFont typeface="Inter"/>
              <a:buNone/>
            </a:pPr>
            <a:r>
              <a:rPr lang="en-US" sz="1200">
                <a:solidFill>
                  <a:srgbClr val="4E82B7"/>
                </a:solidFill>
                <a:latin typeface="Montserrat SemiBold"/>
                <a:ea typeface="Montserrat SemiBold"/>
                <a:cs typeface="Montserrat SemiBold"/>
                <a:sym typeface="Montserrat SemiBold"/>
              </a:rPr>
              <a:t>END-TO-END  PIPELINE</a:t>
            </a:r>
            <a:endParaRPr sz="1200">
              <a:solidFill>
                <a:schemeClr val="dk1"/>
              </a:solidFill>
              <a:latin typeface="Montserrat SemiBold"/>
              <a:ea typeface="Montserrat SemiBold"/>
              <a:cs typeface="Montserrat SemiBold"/>
              <a:sym typeface="Montserrat SemiBold"/>
            </a:endParaRPr>
          </a:p>
        </p:txBody>
      </p:sp>
      <p:sp>
        <p:nvSpPr>
          <p:cNvPr id="458" name="Google Shape;458;p16"/>
          <p:cNvSpPr/>
          <p:nvPr/>
        </p:nvSpPr>
        <p:spPr>
          <a:xfrm>
            <a:off x="3236976" y="8914437"/>
            <a:ext cx="1700700" cy="576000"/>
          </a:xfrm>
          <a:prstGeom prst="roundRect">
            <a:avLst>
              <a:gd fmla="val 14286" name="adj"/>
            </a:avLst>
          </a:prstGeom>
          <a:solidFill>
            <a:srgbClr val="EAF8FB"/>
          </a:solidFill>
          <a:ln cap="flat" cmpd="sng" w="12700">
            <a:solidFill>
              <a:srgbClr val="2AA7B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59" name="Google Shape;459;p16"/>
          <p:cNvSpPr/>
          <p:nvPr/>
        </p:nvSpPr>
        <p:spPr>
          <a:xfrm>
            <a:off x="3346704" y="9092745"/>
            <a:ext cx="1481400" cy="233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500"/>
              <a:buFont typeface="Inter"/>
              <a:buNone/>
            </a:pPr>
            <a:r>
              <a:rPr lang="en-US" sz="1500">
                <a:solidFill>
                  <a:srgbClr val="152235"/>
                </a:solidFill>
                <a:latin typeface="Montserrat"/>
                <a:ea typeface="Montserrat"/>
                <a:cs typeface="Montserrat"/>
                <a:sym typeface="Montserrat"/>
              </a:rPr>
              <a:t>Fundus image</a:t>
            </a:r>
            <a:endParaRPr sz="1500">
              <a:solidFill>
                <a:schemeClr val="dk1"/>
              </a:solidFill>
              <a:latin typeface="Montserrat"/>
              <a:ea typeface="Montserrat"/>
              <a:cs typeface="Montserrat"/>
              <a:sym typeface="Montserrat"/>
            </a:endParaRPr>
          </a:p>
        </p:txBody>
      </p:sp>
      <p:cxnSp>
        <p:nvCxnSpPr>
          <p:cNvPr id="460" name="Google Shape;460;p16"/>
          <p:cNvCxnSpPr/>
          <p:nvPr/>
        </p:nvCxnSpPr>
        <p:spPr>
          <a:xfrm>
            <a:off x="5157216" y="9202473"/>
            <a:ext cx="246900" cy="0"/>
          </a:xfrm>
          <a:prstGeom prst="straightConnector1">
            <a:avLst/>
          </a:prstGeom>
          <a:noFill/>
          <a:ln cap="flat" cmpd="sng" w="12700">
            <a:solidFill>
              <a:srgbClr val="8AA3BC"/>
            </a:solidFill>
            <a:prstDash val="solid"/>
            <a:round/>
            <a:headEnd len="sm" w="sm" type="none"/>
            <a:tailEnd len="sm" w="sm" type="none"/>
          </a:ln>
        </p:spPr>
      </p:cxnSp>
      <p:sp>
        <p:nvSpPr>
          <p:cNvPr id="461" name="Google Shape;461;p16"/>
          <p:cNvSpPr/>
          <p:nvPr/>
        </p:nvSpPr>
        <p:spPr>
          <a:xfrm rot="5400000">
            <a:off x="5335542" y="9120051"/>
            <a:ext cx="123300" cy="164700"/>
          </a:xfrm>
          <a:prstGeom prst="triangle">
            <a:avLst>
              <a:gd fmla="val 50000" name="adj"/>
            </a:avLst>
          </a:prstGeom>
          <a:solidFill>
            <a:srgbClr val="8AA3BC"/>
          </a:solidFill>
          <a:ln cap="flat" cmpd="sng" w="12700">
            <a:solidFill>
              <a:srgbClr val="8AA3BC"/>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62" name="Google Shape;462;p16"/>
          <p:cNvSpPr/>
          <p:nvPr/>
        </p:nvSpPr>
        <p:spPr>
          <a:xfrm>
            <a:off x="5623560" y="8914437"/>
            <a:ext cx="1920300" cy="576000"/>
          </a:xfrm>
          <a:prstGeom prst="roundRect">
            <a:avLst>
              <a:gd fmla="val 14286" name="adj"/>
            </a:avLst>
          </a:prstGeom>
          <a:solidFill>
            <a:srgbClr val="F7FAFC"/>
          </a:solidFill>
          <a:ln cap="flat" cmpd="sng" w="12700">
            <a:solidFill>
              <a:srgbClr val="D0DBE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63" name="Google Shape;463;p16"/>
          <p:cNvSpPr/>
          <p:nvPr/>
        </p:nvSpPr>
        <p:spPr>
          <a:xfrm>
            <a:off x="5733288" y="9092745"/>
            <a:ext cx="1700700" cy="233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500"/>
              <a:buFont typeface="Inter"/>
              <a:buNone/>
            </a:pPr>
            <a:r>
              <a:rPr lang="en-US" sz="1500">
                <a:solidFill>
                  <a:srgbClr val="152235"/>
                </a:solidFill>
                <a:latin typeface="Montserrat"/>
                <a:ea typeface="Montserrat"/>
                <a:cs typeface="Montserrat"/>
                <a:sym typeface="Montserrat"/>
              </a:rPr>
              <a:t>React/Next.js UI</a:t>
            </a:r>
            <a:endParaRPr sz="1500">
              <a:solidFill>
                <a:schemeClr val="dk1"/>
              </a:solidFill>
              <a:latin typeface="Montserrat"/>
              <a:ea typeface="Montserrat"/>
              <a:cs typeface="Montserrat"/>
              <a:sym typeface="Montserrat"/>
            </a:endParaRPr>
          </a:p>
        </p:txBody>
      </p:sp>
      <p:cxnSp>
        <p:nvCxnSpPr>
          <p:cNvPr id="464" name="Google Shape;464;p16"/>
          <p:cNvCxnSpPr/>
          <p:nvPr/>
        </p:nvCxnSpPr>
        <p:spPr>
          <a:xfrm>
            <a:off x="7763256" y="9202473"/>
            <a:ext cx="219600" cy="0"/>
          </a:xfrm>
          <a:prstGeom prst="straightConnector1">
            <a:avLst/>
          </a:prstGeom>
          <a:noFill/>
          <a:ln cap="flat" cmpd="sng" w="12700">
            <a:solidFill>
              <a:srgbClr val="8AA3BC"/>
            </a:solidFill>
            <a:prstDash val="solid"/>
            <a:round/>
            <a:headEnd len="sm" w="sm" type="none"/>
            <a:tailEnd len="sm" w="sm" type="none"/>
          </a:ln>
        </p:spPr>
      </p:cxnSp>
      <p:sp>
        <p:nvSpPr>
          <p:cNvPr id="465" name="Google Shape;465;p16"/>
          <p:cNvSpPr/>
          <p:nvPr/>
        </p:nvSpPr>
        <p:spPr>
          <a:xfrm rot="5400000">
            <a:off x="7914150" y="9120051"/>
            <a:ext cx="123300" cy="164700"/>
          </a:xfrm>
          <a:prstGeom prst="triangle">
            <a:avLst>
              <a:gd fmla="val 50000" name="adj"/>
            </a:avLst>
          </a:prstGeom>
          <a:solidFill>
            <a:srgbClr val="8AA3BC"/>
          </a:solidFill>
          <a:ln cap="flat" cmpd="sng" w="12700">
            <a:solidFill>
              <a:srgbClr val="8AA3BC"/>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66" name="Google Shape;466;p16"/>
          <p:cNvSpPr/>
          <p:nvPr/>
        </p:nvSpPr>
        <p:spPr>
          <a:xfrm>
            <a:off x="8202168" y="8914437"/>
            <a:ext cx="1618500" cy="576000"/>
          </a:xfrm>
          <a:prstGeom prst="roundRect">
            <a:avLst>
              <a:gd fmla="val 14286" name="adj"/>
            </a:avLst>
          </a:prstGeom>
          <a:solidFill>
            <a:srgbClr val="F7FAFC"/>
          </a:solidFill>
          <a:ln cap="flat" cmpd="sng" w="12700">
            <a:solidFill>
              <a:srgbClr val="D0DBE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67" name="Google Shape;467;p16"/>
          <p:cNvSpPr/>
          <p:nvPr/>
        </p:nvSpPr>
        <p:spPr>
          <a:xfrm>
            <a:off x="8311896" y="9092745"/>
            <a:ext cx="1398900" cy="233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500"/>
              <a:buFont typeface="Inter"/>
              <a:buNone/>
            </a:pPr>
            <a:r>
              <a:rPr lang="en-US" sz="1500">
                <a:solidFill>
                  <a:srgbClr val="152235"/>
                </a:solidFill>
                <a:latin typeface="Montserrat"/>
                <a:ea typeface="Montserrat"/>
                <a:cs typeface="Montserrat"/>
                <a:sym typeface="Montserrat"/>
              </a:rPr>
              <a:t>FastAPI</a:t>
            </a:r>
            <a:endParaRPr sz="1500">
              <a:solidFill>
                <a:schemeClr val="dk1"/>
              </a:solidFill>
              <a:latin typeface="Montserrat"/>
              <a:ea typeface="Montserrat"/>
              <a:cs typeface="Montserrat"/>
              <a:sym typeface="Montserrat"/>
            </a:endParaRPr>
          </a:p>
        </p:txBody>
      </p:sp>
      <p:cxnSp>
        <p:nvCxnSpPr>
          <p:cNvPr id="468" name="Google Shape;468;p16"/>
          <p:cNvCxnSpPr/>
          <p:nvPr/>
        </p:nvCxnSpPr>
        <p:spPr>
          <a:xfrm>
            <a:off x="10040112" y="9202473"/>
            <a:ext cx="246900" cy="0"/>
          </a:xfrm>
          <a:prstGeom prst="straightConnector1">
            <a:avLst/>
          </a:prstGeom>
          <a:noFill/>
          <a:ln cap="flat" cmpd="sng" w="12700">
            <a:solidFill>
              <a:srgbClr val="8AA3BC"/>
            </a:solidFill>
            <a:prstDash val="solid"/>
            <a:round/>
            <a:headEnd len="sm" w="sm" type="none"/>
            <a:tailEnd len="sm" w="sm" type="none"/>
          </a:ln>
        </p:spPr>
      </p:cxnSp>
      <p:sp>
        <p:nvSpPr>
          <p:cNvPr id="469" name="Google Shape;469;p16"/>
          <p:cNvSpPr/>
          <p:nvPr/>
        </p:nvSpPr>
        <p:spPr>
          <a:xfrm rot="5400000">
            <a:off x="10218438" y="9120051"/>
            <a:ext cx="123300" cy="164700"/>
          </a:xfrm>
          <a:prstGeom prst="triangle">
            <a:avLst>
              <a:gd fmla="val 50000" name="adj"/>
            </a:avLst>
          </a:prstGeom>
          <a:solidFill>
            <a:srgbClr val="8AA3BC"/>
          </a:solidFill>
          <a:ln cap="flat" cmpd="sng" w="12700">
            <a:solidFill>
              <a:srgbClr val="8AA3BC"/>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70" name="Google Shape;470;p16"/>
          <p:cNvSpPr/>
          <p:nvPr/>
        </p:nvSpPr>
        <p:spPr>
          <a:xfrm>
            <a:off x="10506456" y="8914437"/>
            <a:ext cx="1920300" cy="576000"/>
          </a:xfrm>
          <a:prstGeom prst="roundRect">
            <a:avLst>
              <a:gd fmla="val 14286" name="adj"/>
            </a:avLst>
          </a:prstGeom>
          <a:solidFill>
            <a:srgbClr val="F7FAFC"/>
          </a:solidFill>
          <a:ln cap="flat" cmpd="sng" w="12700">
            <a:solidFill>
              <a:srgbClr val="D0DBE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71" name="Google Shape;471;p16"/>
          <p:cNvSpPr/>
          <p:nvPr/>
        </p:nvSpPr>
        <p:spPr>
          <a:xfrm>
            <a:off x="10616184" y="9092745"/>
            <a:ext cx="1700700" cy="233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500"/>
              <a:buFont typeface="Inter"/>
              <a:buNone/>
            </a:pPr>
            <a:r>
              <a:rPr lang="en-US" sz="1500">
                <a:solidFill>
                  <a:srgbClr val="152235"/>
                </a:solidFill>
                <a:latin typeface="Montserrat"/>
                <a:ea typeface="Montserrat"/>
                <a:cs typeface="Montserrat"/>
                <a:sym typeface="Montserrat"/>
              </a:rPr>
              <a:t>PyTorch model</a:t>
            </a:r>
            <a:endParaRPr sz="1500">
              <a:solidFill>
                <a:schemeClr val="dk1"/>
              </a:solidFill>
              <a:latin typeface="Montserrat"/>
              <a:ea typeface="Montserrat"/>
              <a:cs typeface="Montserrat"/>
              <a:sym typeface="Montserrat"/>
            </a:endParaRPr>
          </a:p>
        </p:txBody>
      </p:sp>
      <p:cxnSp>
        <p:nvCxnSpPr>
          <p:cNvPr id="472" name="Google Shape;472;p16"/>
          <p:cNvCxnSpPr/>
          <p:nvPr/>
        </p:nvCxnSpPr>
        <p:spPr>
          <a:xfrm>
            <a:off x="12646152" y="9202473"/>
            <a:ext cx="192000" cy="0"/>
          </a:xfrm>
          <a:prstGeom prst="straightConnector1">
            <a:avLst/>
          </a:prstGeom>
          <a:noFill/>
          <a:ln cap="flat" cmpd="sng" w="12700">
            <a:solidFill>
              <a:srgbClr val="8AA3BC"/>
            </a:solidFill>
            <a:prstDash val="solid"/>
            <a:round/>
            <a:headEnd len="sm" w="sm" type="none"/>
            <a:tailEnd len="sm" w="sm" type="none"/>
          </a:ln>
        </p:spPr>
      </p:cxnSp>
      <p:sp>
        <p:nvSpPr>
          <p:cNvPr id="473" name="Google Shape;473;p16"/>
          <p:cNvSpPr/>
          <p:nvPr/>
        </p:nvSpPr>
        <p:spPr>
          <a:xfrm rot="5400000">
            <a:off x="12769614" y="9120051"/>
            <a:ext cx="123300" cy="164700"/>
          </a:xfrm>
          <a:prstGeom prst="triangle">
            <a:avLst>
              <a:gd fmla="val 50000" name="adj"/>
            </a:avLst>
          </a:prstGeom>
          <a:solidFill>
            <a:srgbClr val="8AA3BC"/>
          </a:solidFill>
          <a:ln cap="flat" cmpd="sng" w="12700">
            <a:solidFill>
              <a:srgbClr val="8AA3BC"/>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74" name="Google Shape;474;p16"/>
          <p:cNvSpPr/>
          <p:nvPr/>
        </p:nvSpPr>
        <p:spPr>
          <a:xfrm>
            <a:off x="13057632" y="8914437"/>
            <a:ext cx="2030100" cy="576000"/>
          </a:xfrm>
          <a:prstGeom prst="roundRect">
            <a:avLst>
              <a:gd fmla="val 14286" name="adj"/>
            </a:avLst>
          </a:prstGeom>
          <a:solidFill>
            <a:srgbClr val="EAF8FB"/>
          </a:solidFill>
          <a:ln cap="flat" cmpd="sng" w="12700">
            <a:solidFill>
              <a:srgbClr val="2AA7B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Inter"/>
              <a:ea typeface="Inter"/>
              <a:cs typeface="Inter"/>
              <a:sym typeface="Inter"/>
            </a:endParaRPr>
          </a:p>
        </p:txBody>
      </p:sp>
      <p:sp>
        <p:nvSpPr>
          <p:cNvPr id="475" name="Google Shape;475;p16"/>
          <p:cNvSpPr/>
          <p:nvPr/>
        </p:nvSpPr>
        <p:spPr>
          <a:xfrm>
            <a:off x="13167360" y="9092745"/>
            <a:ext cx="1810500" cy="233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2235"/>
              </a:buClr>
              <a:buSzPts val="1500"/>
              <a:buFont typeface="Inter"/>
              <a:buNone/>
            </a:pPr>
            <a:r>
              <a:rPr lang="en-US" sz="1500">
                <a:solidFill>
                  <a:srgbClr val="152235"/>
                </a:solidFill>
                <a:latin typeface="Montserrat"/>
                <a:ea typeface="Montserrat"/>
                <a:cs typeface="Montserrat"/>
                <a:sym typeface="Montserrat"/>
              </a:rPr>
              <a:t>Screening result</a:t>
            </a:r>
            <a:endParaRPr sz="1500">
              <a:solidFill>
                <a:schemeClr val="dk1"/>
              </a:solidFill>
              <a:latin typeface="Montserrat"/>
              <a:ea typeface="Montserrat"/>
              <a:cs typeface="Montserrat"/>
              <a:sym typeface="Montserrat"/>
            </a:endParaRPr>
          </a:p>
        </p:txBody>
      </p:sp>
      <p:cxnSp>
        <p:nvCxnSpPr>
          <p:cNvPr id="476" name="Google Shape;476;p16"/>
          <p:cNvCxnSpPr/>
          <p:nvPr/>
        </p:nvCxnSpPr>
        <p:spPr>
          <a:xfrm>
            <a:off x="15430500" y="8887005"/>
            <a:ext cx="0" cy="576000"/>
          </a:xfrm>
          <a:prstGeom prst="straightConnector1">
            <a:avLst/>
          </a:prstGeom>
          <a:noFill/>
          <a:ln cap="flat" cmpd="sng" w="12700">
            <a:solidFill>
              <a:srgbClr val="DDE2E8"/>
            </a:solidFill>
            <a:prstDash val="solid"/>
            <a:round/>
            <a:headEnd len="sm" w="sm" type="none"/>
            <a:tailEnd len="sm" w="sm" type="none"/>
          </a:ln>
        </p:spPr>
      </p:cxnSp>
      <p:sp>
        <p:nvSpPr>
          <p:cNvPr id="477" name="Google Shape;477;p16"/>
          <p:cNvSpPr/>
          <p:nvPr/>
        </p:nvSpPr>
        <p:spPr>
          <a:xfrm>
            <a:off x="15841980" y="8887005"/>
            <a:ext cx="1536300" cy="57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99AE"/>
              </a:buClr>
              <a:buSzPts val="1100"/>
              <a:buFont typeface="Inter"/>
              <a:buNone/>
            </a:pPr>
            <a:r>
              <a:rPr lang="en-US" sz="1100">
                <a:solidFill>
                  <a:srgbClr val="8A99AE"/>
                </a:solidFill>
                <a:latin typeface="Montserrat"/>
                <a:ea typeface="Montserrat"/>
                <a:cs typeface="Montserrat"/>
                <a:sym typeface="Montserrat"/>
              </a:rPr>
              <a:t>FROM IMAGE</a:t>
            </a:r>
            <a:endParaRPr sz="1100">
              <a:solidFill>
                <a:schemeClr val="dk1"/>
              </a:solidFill>
              <a:latin typeface="Montserrat"/>
              <a:ea typeface="Montserrat"/>
              <a:cs typeface="Montserrat"/>
              <a:sym typeface="Montserrat"/>
            </a:endParaRPr>
          </a:p>
          <a:p>
            <a:pPr indent="0" lvl="0" marL="0" marR="0" rtl="0" algn="l">
              <a:spcBef>
                <a:spcPts val="0"/>
              </a:spcBef>
              <a:spcAft>
                <a:spcPts val="0"/>
              </a:spcAft>
              <a:buClr>
                <a:srgbClr val="8A99AE"/>
              </a:buClr>
              <a:buSzPts val="1100"/>
              <a:buFont typeface="Inter"/>
              <a:buNone/>
            </a:pPr>
            <a:r>
              <a:rPr lang="en-US" sz="1100">
                <a:solidFill>
                  <a:srgbClr val="8A99AE"/>
                </a:solidFill>
                <a:latin typeface="Montserrat"/>
                <a:ea typeface="Montserrat"/>
                <a:cs typeface="Montserrat"/>
                <a:sym typeface="Montserrat"/>
              </a:rPr>
              <a:t>TO INSIGHT</a:t>
            </a:r>
            <a:endParaRPr sz="1100">
              <a:solidFill>
                <a:schemeClr val="dk1"/>
              </a:solidFill>
              <a:latin typeface="Montserrat"/>
              <a:ea typeface="Montserrat"/>
              <a:cs typeface="Montserrat"/>
              <a:sym typeface="Montserrat"/>
            </a:endParaRPr>
          </a:p>
          <a:p>
            <a:pPr indent="0" lvl="0" marL="0" marR="0" rtl="0" algn="l">
              <a:spcBef>
                <a:spcPts val="0"/>
              </a:spcBef>
              <a:spcAft>
                <a:spcPts val="0"/>
              </a:spcAft>
              <a:buClr>
                <a:srgbClr val="8A99AE"/>
              </a:buClr>
              <a:buSzPts val="1100"/>
              <a:buFont typeface="Inter"/>
              <a:buNone/>
            </a:pPr>
            <a:r>
              <a:rPr lang="en-US" sz="1100">
                <a:solidFill>
                  <a:srgbClr val="8A99AE"/>
                </a:solidFill>
                <a:latin typeface="Montserrat"/>
                <a:ea typeface="Montserrat"/>
                <a:cs typeface="Montserrat"/>
                <a:sym typeface="Montserrat"/>
              </a:rPr>
              <a:t>FOR BRIGHTER LIVES</a:t>
            </a:r>
            <a:endParaRPr sz="1100">
              <a:solidFill>
                <a:schemeClr val="dk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2" name="Shape 482"/>
        <p:cNvGrpSpPr/>
        <p:nvPr/>
      </p:nvGrpSpPr>
      <p:grpSpPr>
        <a:xfrm>
          <a:off x="0" y="0"/>
          <a:ext cx="0" cy="0"/>
          <a:chOff x="0" y="0"/>
          <a:chExt cx="0" cy="0"/>
        </a:xfrm>
      </p:grpSpPr>
      <p:sp>
        <p:nvSpPr>
          <p:cNvPr id="483" name="Google Shape;483;p17"/>
          <p:cNvSpPr/>
          <p:nvPr/>
        </p:nvSpPr>
        <p:spPr>
          <a:xfrm>
            <a:off x="952500" y="2047875"/>
            <a:ext cx="163830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7"/>
          <p:cNvSpPr/>
          <p:nvPr/>
        </p:nvSpPr>
        <p:spPr>
          <a:xfrm>
            <a:off x="952500" y="762000"/>
            <a:ext cx="6859734"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08 · ALGORITHMS</a:t>
            </a:r>
            <a:endParaRPr b="0" i="0" sz="1800" u="none" cap="none" strike="noStrike">
              <a:solidFill>
                <a:schemeClr val="dk1"/>
              </a:solidFill>
              <a:latin typeface="Calibri"/>
              <a:ea typeface="Calibri"/>
              <a:cs typeface="Calibri"/>
              <a:sym typeface="Calibri"/>
            </a:endParaRPr>
          </a:p>
        </p:txBody>
      </p:sp>
      <p:sp>
        <p:nvSpPr>
          <p:cNvPr id="485" name="Google Shape;485;p17"/>
          <p:cNvSpPr/>
          <p:nvPr/>
        </p:nvSpPr>
        <p:spPr>
          <a:xfrm>
            <a:off x="952500" y="1171575"/>
            <a:ext cx="6859734"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Approach &amp; evaluation</a:t>
            </a:r>
            <a:endParaRPr b="0" i="0" sz="4200" u="none" cap="none" strike="noStrike">
              <a:solidFill>
                <a:schemeClr val="dk1"/>
              </a:solidFill>
              <a:latin typeface="Calibri"/>
              <a:ea typeface="Calibri"/>
              <a:cs typeface="Calibri"/>
              <a:sym typeface="Calibri"/>
            </a:endParaRPr>
          </a:p>
        </p:txBody>
      </p:sp>
      <p:pic>
        <p:nvPicPr>
          <p:cNvPr descr="preencoded.png" id="486" name="Google Shape;486;p17"/>
          <p:cNvPicPr preferRelativeResize="0"/>
          <p:nvPr/>
        </p:nvPicPr>
        <p:blipFill rotWithShape="1">
          <a:blip r:embed="rId3">
            <a:alphaModFix/>
          </a:blip>
          <a:srcRect b="-3807" l="0" r="0" t="-3807"/>
          <a:stretch/>
        </p:blipFill>
        <p:spPr>
          <a:xfrm>
            <a:off x="16725900" y="762000"/>
            <a:ext cx="609600" cy="609600"/>
          </a:xfrm>
          <a:prstGeom prst="rect">
            <a:avLst/>
          </a:prstGeom>
          <a:noFill/>
          <a:ln>
            <a:noFill/>
          </a:ln>
        </p:spPr>
      </p:pic>
      <p:sp>
        <p:nvSpPr>
          <p:cNvPr id="487" name="Google Shape;487;p17"/>
          <p:cNvSpPr/>
          <p:nvPr/>
        </p:nvSpPr>
        <p:spPr>
          <a:xfrm>
            <a:off x="952500" y="2343150"/>
            <a:ext cx="878014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CANDIDATE APPROACHES</a:t>
            </a:r>
            <a:endParaRPr b="0" i="0" sz="1800" u="none" cap="none" strike="noStrike">
              <a:solidFill>
                <a:schemeClr val="dk1"/>
              </a:solidFill>
              <a:latin typeface="Calibri"/>
              <a:ea typeface="Calibri"/>
              <a:cs typeface="Calibri"/>
              <a:sym typeface="Calibri"/>
            </a:endParaRPr>
          </a:p>
        </p:txBody>
      </p:sp>
      <p:sp>
        <p:nvSpPr>
          <p:cNvPr id="488" name="Google Shape;488;p17"/>
          <p:cNvSpPr/>
          <p:nvPr/>
        </p:nvSpPr>
        <p:spPr>
          <a:xfrm>
            <a:off x="952500" y="2790825"/>
            <a:ext cx="7981950" cy="1385888"/>
          </a:xfrm>
          <a:prstGeom prst="roundRect">
            <a:avLst>
              <a:gd fmla="val 8247"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p:nvPr/>
        </p:nvSpPr>
        <p:spPr>
          <a:xfrm>
            <a:off x="1181100" y="2981325"/>
            <a:ext cx="438150" cy="438150"/>
          </a:xfrm>
          <a:prstGeom prst="ellipse">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7"/>
          <p:cNvSpPr/>
          <p:nvPr/>
        </p:nvSpPr>
        <p:spPr>
          <a:xfrm>
            <a:off x="1143000" y="2981325"/>
            <a:ext cx="514350" cy="4762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01</a:t>
            </a:r>
            <a:endParaRPr b="0" i="0" sz="1800" u="none" cap="none" strike="noStrike">
              <a:solidFill>
                <a:schemeClr val="dk1"/>
              </a:solidFill>
              <a:latin typeface="Calibri"/>
              <a:ea typeface="Calibri"/>
              <a:cs typeface="Calibri"/>
              <a:sym typeface="Calibri"/>
            </a:endParaRPr>
          </a:p>
        </p:txBody>
      </p:sp>
      <p:sp>
        <p:nvSpPr>
          <p:cNvPr id="491" name="Google Shape;491;p17"/>
          <p:cNvSpPr/>
          <p:nvPr/>
        </p:nvSpPr>
        <p:spPr>
          <a:xfrm>
            <a:off x="1809750" y="2981325"/>
            <a:ext cx="7585710"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950"/>
              <a:buFont typeface="Montserrat"/>
              <a:buNone/>
            </a:pPr>
            <a:r>
              <a:rPr b="1" i="0" lang="en-US" sz="1950" u="none" cap="none" strike="noStrike">
                <a:solidFill>
                  <a:srgbClr val="111111"/>
                </a:solidFill>
                <a:latin typeface="Montserrat"/>
                <a:ea typeface="Montserrat"/>
                <a:cs typeface="Montserrat"/>
                <a:sym typeface="Montserrat"/>
              </a:rPr>
              <a:t>CNN transfer learning</a:t>
            </a:r>
            <a:endParaRPr b="0" i="0" sz="1950" u="none" cap="none" strike="noStrike">
              <a:solidFill>
                <a:schemeClr val="dk1"/>
              </a:solidFill>
              <a:latin typeface="Calibri"/>
              <a:ea typeface="Calibri"/>
              <a:cs typeface="Calibri"/>
              <a:sym typeface="Calibri"/>
            </a:endParaRPr>
          </a:p>
        </p:txBody>
      </p:sp>
      <p:sp>
        <p:nvSpPr>
          <p:cNvPr id="492" name="Google Shape;492;p17"/>
          <p:cNvSpPr/>
          <p:nvPr/>
        </p:nvSpPr>
        <p:spPr>
          <a:xfrm>
            <a:off x="1809750" y="3319463"/>
            <a:ext cx="7102983"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Use ResNet/EfficientNet to learn disease patterns from eye images.</a:t>
            </a:r>
            <a:endParaRPr b="0" i="0" sz="1875" u="none" cap="none" strike="noStrike">
              <a:solidFill>
                <a:schemeClr val="dk1"/>
              </a:solidFill>
              <a:latin typeface="Calibri"/>
              <a:ea typeface="Calibri"/>
              <a:cs typeface="Calibri"/>
              <a:sym typeface="Calibri"/>
            </a:endParaRPr>
          </a:p>
        </p:txBody>
      </p:sp>
      <p:sp>
        <p:nvSpPr>
          <p:cNvPr id="493" name="Google Shape;493;p17"/>
          <p:cNvSpPr/>
          <p:nvPr/>
        </p:nvSpPr>
        <p:spPr>
          <a:xfrm>
            <a:off x="952500" y="4310063"/>
            <a:ext cx="7981950" cy="1385888"/>
          </a:xfrm>
          <a:prstGeom prst="roundRect">
            <a:avLst>
              <a:gd fmla="val 8247"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7"/>
          <p:cNvSpPr/>
          <p:nvPr/>
        </p:nvSpPr>
        <p:spPr>
          <a:xfrm>
            <a:off x="1181100" y="4500563"/>
            <a:ext cx="438150" cy="438150"/>
          </a:xfrm>
          <a:prstGeom prst="ellipse">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7"/>
          <p:cNvSpPr/>
          <p:nvPr/>
        </p:nvSpPr>
        <p:spPr>
          <a:xfrm>
            <a:off x="1143000" y="4500563"/>
            <a:ext cx="514350" cy="4762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02</a:t>
            </a:r>
            <a:endParaRPr b="0" i="0" sz="1800" u="none" cap="none" strike="noStrike">
              <a:solidFill>
                <a:schemeClr val="dk1"/>
              </a:solidFill>
              <a:latin typeface="Calibri"/>
              <a:ea typeface="Calibri"/>
              <a:cs typeface="Calibri"/>
              <a:sym typeface="Calibri"/>
            </a:endParaRPr>
          </a:p>
        </p:txBody>
      </p:sp>
      <p:sp>
        <p:nvSpPr>
          <p:cNvPr id="496" name="Google Shape;496;p17"/>
          <p:cNvSpPr/>
          <p:nvPr/>
        </p:nvSpPr>
        <p:spPr>
          <a:xfrm>
            <a:off x="1809750" y="4500563"/>
            <a:ext cx="7585710"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950"/>
              <a:buFont typeface="Montserrat"/>
              <a:buNone/>
            </a:pPr>
            <a:r>
              <a:rPr b="1" i="0" lang="en-US" sz="1950" u="none" cap="none" strike="noStrike">
                <a:solidFill>
                  <a:srgbClr val="111111"/>
                </a:solidFill>
                <a:latin typeface="Montserrat"/>
                <a:ea typeface="Montserrat"/>
                <a:cs typeface="Montserrat"/>
                <a:sym typeface="Montserrat"/>
              </a:rPr>
              <a:t>Multi-task heads</a:t>
            </a:r>
            <a:endParaRPr b="0" i="0" sz="1950" u="none" cap="none" strike="noStrike">
              <a:solidFill>
                <a:schemeClr val="dk1"/>
              </a:solidFill>
              <a:latin typeface="Calibri"/>
              <a:ea typeface="Calibri"/>
              <a:cs typeface="Calibri"/>
              <a:sym typeface="Calibri"/>
            </a:endParaRPr>
          </a:p>
        </p:txBody>
      </p:sp>
      <p:sp>
        <p:nvSpPr>
          <p:cNvPr id="497" name="Google Shape;497;p17"/>
          <p:cNvSpPr/>
          <p:nvPr/>
        </p:nvSpPr>
        <p:spPr>
          <a:xfrm>
            <a:off x="1809750" y="4838700"/>
            <a:ext cx="7102983"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One model detects both cataract and glaucoma using shared features.</a:t>
            </a:r>
            <a:endParaRPr b="0" i="0" sz="1875" u="none" cap="none" strike="noStrike">
              <a:solidFill>
                <a:schemeClr val="dk1"/>
              </a:solidFill>
              <a:latin typeface="Calibri"/>
              <a:ea typeface="Calibri"/>
              <a:cs typeface="Calibri"/>
              <a:sym typeface="Calibri"/>
            </a:endParaRPr>
          </a:p>
        </p:txBody>
      </p:sp>
      <p:sp>
        <p:nvSpPr>
          <p:cNvPr id="498" name="Google Shape;498;p17"/>
          <p:cNvSpPr/>
          <p:nvPr/>
        </p:nvSpPr>
        <p:spPr>
          <a:xfrm>
            <a:off x="952500" y="5829300"/>
            <a:ext cx="7981950" cy="1385888"/>
          </a:xfrm>
          <a:prstGeom prst="roundRect">
            <a:avLst>
              <a:gd fmla="val 8247"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7"/>
          <p:cNvSpPr/>
          <p:nvPr/>
        </p:nvSpPr>
        <p:spPr>
          <a:xfrm>
            <a:off x="1181100" y="6019800"/>
            <a:ext cx="438150" cy="438150"/>
          </a:xfrm>
          <a:prstGeom prst="ellipse">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7"/>
          <p:cNvSpPr/>
          <p:nvPr/>
        </p:nvSpPr>
        <p:spPr>
          <a:xfrm>
            <a:off x="1143000" y="6019800"/>
            <a:ext cx="514350" cy="4762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03</a:t>
            </a:r>
            <a:endParaRPr b="0" i="0" sz="1800" u="none" cap="none" strike="noStrike">
              <a:solidFill>
                <a:schemeClr val="dk1"/>
              </a:solidFill>
              <a:latin typeface="Calibri"/>
              <a:ea typeface="Calibri"/>
              <a:cs typeface="Calibri"/>
              <a:sym typeface="Calibri"/>
            </a:endParaRPr>
          </a:p>
        </p:txBody>
      </p:sp>
      <p:sp>
        <p:nvSpPr>
          <p:cNvPr id="501" name="Google Shape;501;p17"/>
          <p:cNvSpPr/>
          <p:nvPr/>
        </p:nvSpPr>
        <p:spPr>
          <a:xfrm>
            <a:off x="1809750" y="6019800"/>
            <a:ext cx="7585710"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950"/>
              <a:buFont typeface="Montserrat"/>
              <a:buNone/>
            </a:pPr>
            <a:r>
              <a:rPr b="1" i="0" lang="en-US" sz="1950" u="none" cap="none" strike="noStrike">
                <a:solidFill>
                  <a:srgbClr val="111111"/>
                </a:solidFill>
                <a:latin typeface="Montserrat"/>
                <a:ea typeface="Montserrat"/>
                <a:cs typeface="Montserrat"/>
                <a:sym typeface="Montserrat"/>
              </a:rPr>
              <a:t>Baseline for comparison</a:t>
            </a:r>
            <a:endParaRPr b="0" i="0" sz="1950" u="none" cap="none" strike="noStrike">
              <a:solidFill>
                <a:schemeClr val="dk1"/>
              </a:solidFill>
              <a:latin typeface="Calibri"/>
              <a:ea typeface="Calibri"/>
              <a:cs typeface="Calibri"/>
              <a:sym typeface="Calibri"/>
            </a:endParaRPr>
          </a:p>
        </p:txBody>
      </p:sp>
      <p:sp>
        <p:nvSpPr>
          <p:cNvPr id="502" name="Google Shape;502;p17"/>
          <p:cNvSpPr/>
          <p:nvPr/>
        </p:nvSpPr>
        <p:spPr>
          <a:xfrm>
            <a:off x="1809750" y="6357938"/>
            <a:ext cx="7102983"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Use Logistic Regression as a simple model for comparison.</a:t>
            </a:r>
            <a:endParaRPr b="0" i="0" sz="1875" u="none" cap="none" strike="noStrike">
              <a:solidFill>
                <a:schemeClr val="dk1"/>
              </a:solidFill>
              <a:latin typeface="Calibri"/>
              <a:ea typeface="Calibri"/>
              <a:cs typeface="Calibri"/>
              <a:sym typeface="Calibri"/>
            </a:endParaRPr>
          </a:p>
        </p:txBody>
      </p:sp>
      <p:sp>
        <p:nvSpPr>
          <p:cNvPr id="503" name="Google Shape;503;p17"/>
          <p:cNvSpPr/>
          <p:nvPr/>
        </p:nvSpPr>
        <p:spPr>
          <a:xfrm>
            <a:off x="952500" y="7348538"/>
            <a:ext cx="7981950" cy="1385888"/>
          </a:xfrm>
          <a:prstGeom prst="roundRect">
            <a:avLst>
              <a:gd fmla="val 8247"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a:off x="1181100" y="7539037"/>
            <a:ext cx="438150" cy="438150"/>
          </a:xfrm>
          <a:prstGeom prst="ellipse">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7"/>
          <p:cNvSpPr/>
          <p:nvPr/>
        </p:nvSpPr>
        <p:spPr>
          <a:xfrm>
            <a:off x="1143000" y="7539037"/>
            <a:ext cx="514350" cy="4762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04</a:t>
            </a:r>
            <a:endParaRPr b="0" i="0" sz="1800" u="none" cap="none" strike="noStrike">
              <a:solidFill>
                <a:schemeClr val="dk1"/>
              </a:solidFill>
              <a:latin typeface="Calibri"/>
              <a:ea typeface="Calibri"/>
              <a:cs typeface="Calibri"/>
              <a:sym typeface="Calibri"/>
            </a:endParaRPr>
          </a:p>
        </p:txBody>
      </p:sp>
      <p:sp>
        <p:nvSpPr>
          <p:cNvPr id="506" name="Google Shape;506;p17"/>
          <p:cNvSpPr/>
          <p:nvPr/>
        </p:nvSpPr>
        <p:spPr>
          <a:xfrm>
            <a:off x="1809750" y="7539037"/>
            <a:ext cx="7585710"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1950"/>
              <a:buFont typeface="Montserrat"/>
              <a:buNone/>
            </a:pPr>
            <a:r>
              <a:rPr b="1" i="0" lang="en-US" sz="1950" u="none" cap="none" strike="noStrike">
                <a:solidFill>
                  <a:srgbClr val="111111"/>
                </a:solidFill>
                <a:latin typeface="Montserrat"/>
                <a:ea typeface="Montserrat"/>
                <a:cs typeface="Montserrat"/>
                <a:sym typeface="Montserrat"/>
              </a:rPr>
              <a:t>Image-quality classifier</a:t>
            </a:r>
            <a:endParaRPr b="0" i="0" sz="1950" u="none" cap="none" strike="noStrike">
              <a:solidFill>
                <a:schemeClr val="dk1"/>
              </a:solidFill>
              <a:latin typeface="Calibri"/>
              <a:ea typeface="Calibri"/>
              <a:cs typeface="Calibri"/>
              <a:sym typeface="Calibri"/>
            </a:endParaRPr>
          </a:p>
        </p:txBody>
      </p:sp>
      <p:sp>
        <p:nvSpPr>
          <p:cNvPr id="507" name="Google Shape;507;p17"/>
          <p:cNvSpPr/>
          <p:nvPr/>
        </p:nvSpPr>
        <p:spPr>
          <a:xfrm>
            <a:off x="1809750" y="7877175"/>
            <a:ext cx="7102983"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Detects ungradable or poor-quality eye images before prediction</a:t>
            </a:r>
            <a:endParaRPr b="0" i="0" sz="1875" u="none" cap="none" strike="noStrike">
              <a:solidFill>
                <a:schemeClr val="dk1"/>
              </a:solidFill>
              <a:latin typeface="Calibri"/>
              <a:ea typeface="Calibri"/>
              <a:cs typeface="Calibri"/>
              <a:sym typeface="Calibri"/>
            </a:endParaRPr>
          </a:p>
        </p:txBody>
      </p:sp>
      <p:sp>
        <p:nvSpPr>
          <p:cNvPr id="508" name="Google Shape;508;p17"/>
          <p:cNvSpPr/>
          <p:nvPr/>
        </p:nvSpPr>
        <p:spPr>
          <a:xfrm>
            <a:off x="9353550" y="2343150"/>
            <a:ext cx="878014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HOW WE WILL JUDGE IT</a:t>
            </a:r>
            <a:endParaRPr b="0" i="0" sz="1800" u="none" cap="none" strike="noStrike">
              <a:solidFill>
                <a:schemeClr val="dk1"/>
              </a:solidFill>
              <a:latin typeface="Calibri"/>
              <a:ea typeface="Calibri"/>
              <a:cs typeface="Calibri"/>
              <a:sym typeface="Calibri"/>
            </a:endParaRPr>
          </a:p>
        </p:txBody>
      </p:sp>
      <p:sp>
        <p:nvSpPr>
          <p:cNvPr id="509" name="Google Shape;509;p17"/>
          <p:cNvSpPr/>
          <p:nvPr/>
        </p:nvSpPr>
        <p:spPr>
          <a:xfrm>
            <a:off x="9353550" y="2790825"/>
            <a:ext cx="7981950" cy="5776913"/>
          </a:xfrm>
          <a:prstGeom prst="roundRect">
            <a:avLst>
              <a:gd fmla="val 2638"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a:off x="9620250" y="3038475"/>
            <a:ext cx="8193405"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Sensitivity</a:t>
            </a:r>
            <a:endParaRPr b="0" i="0" sz="1950" u="none" cap="none" strike="noStrike">
              <a:solidFill>
                <a:schemeClr val="dk1"/>
              </a:solidFill>
              <a:latin typeface="Calibri"/>
              <a:ea typeface="Calibri"/>
              <a:cs typeface="Calibri"/>
              <a:sym typeface="Calibri"/>
            </a:endParaRPr>
          </a:p>
        </p:txBody>
      </p:sp>
      <p:sp>
        <p:nvSpPr>
          <p:cNvPr id="511" name="Google Shape;511;p17"/>
          <p:cNvSpPr/>
          <p:nvPr/>
        </p:nvSpPr>
        <p:spPr>
          <a:xfrm>
            <a:off x="9620250" y="3376613"/>
            <a:ext cx="8193405" cy="371475"/>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How well the model detects actual cataract/glaucoma cases.</a:t>
            </a:r>
            <a:endParaRPr b="0" i="0" sz="1875" u="none" cap="none" strike="noStrike">
              <a:solidFill>
                <a:schemeClr val="dk1"/>
              </a:solidFill>
              <a:latin typeface="Calibri"/>
              <a:ea typeface="Calibri"/>
              <a:cs typeface="Calibri"/>
              <a:sym typeface="Calibri"/>
            </a:endParaRPr>
          </a:p>
        </p:txBody>
      </p:sp>
      <p:sp>
        <p:nvSpPr>
          <p:cNvPr id="512" name="Google Shape;512;p17"/>
          <p:cNvSpPr/>
          <p:nvPr/>
        </p:nvSpPr>
        <p:spPr>
          <a:xfrm>
            <a:off x="9620250" y="3862387"/>
            <a:ext cx="744855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7"/>
          <p:cNvSpPr/>
          <p:nvPr/>
        </p:nvSpPr>
        <p:spPr>
          <a:xfrm>
            <a:off x="9620250" y="4024313"/>
            <a:ext cx="8193405"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Specificity</a:t>
            </a:r>
            <a:endParaRPr b="0" i="0" sz="1950" u="none" cap="none" strike="noStrike">
              <a:solidFill>
                <a:schemeClr val="dk1"/>
              </a:solidFill>
              <a:latin typeface="Calibri"/>
              <a:ea typeface="Calibri"/>
              <a:cs typeface="Calibri"/>
              <a:sym typeface="Calibri"/>
            </a:endParaRPr>
          </a:p>
        </p:txBody>
      </p:sp>
      <p:sp>
        <p:nvSpPr>
          <p:cNvPr id="514" name="Google Shape;514;p17"/>
          <p:cNvSpPr/>
          <p:nvPr/>
        </p:nvSpPr>
        <p:spPr>
          <a:xfrm>
            <a:off x="9620250" y="4362450"/>
            <a:ext cx="8193405" cy="371475"/>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How well it identifies healthy eyes.</a:t>
            </a:r>
            <a:endParaRPr b="0" i="0" sz="1875" u="none" cap="none" strike="noStrike">
              <a:solidFill>
                <a:schemeClr val="dk1"/>
              </a:solidFill>
              <a:latin typeface="Calibri"/>
              <a:ea typeface="Calibri"/>
              <a:cs typeface="Calibri"/>
              <a:sym typeface="Calibri"/>
            </a:endParaRPr>
          </a:p>
        </p:txBody>
      </p:sp>
      <p:sp>
        <p:nvSpPr>
          <p:cNvPr id="515" name="Google Shape;515;p17"/>
          <p:cNvSpPr/>
          <p:nvPr/>
        </p:nvSpPr>
        <p:spPr>
          <a:xfrm>
            <a:off x="9620250" y="4848225"/>
            <a:ext cx="744855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7"/>
          <p:cNvSpPr/>
          <p:nvPr/>
        </p:nvSpPr>
        <p:spPr>
          <a:xfrm>
            <a:off x="9620250" y="5010150"/>
            <a:ext cx="8193405"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AUC (Area Under the Curve)</a:t>
            </a:r>
            <a:endParaRPr b="0" i="0" sz="1950" u="none" cap="none" strike="noStrike">
              <a:solidFill>
                <a:schemeClr val="dk1"/>
              </a:solidFill>
              <a:latin typeface="Calibri"/>
              <a:ea typeface="Calibri"/>
              <a:cs typeface="Calibri"/>
              <a:sym typeface="Calibri"/>
            </a:endParaRPr>
          </a:p>
        </p:txBody>
      </p:sp>
      <p:sp>
        <p:nvSpPr>
          <p:cNvPr id="517" name="Google Shape;517;p17"/>
          <p:cNvSpPr/>
          <p:nvPr/>
        </p:nvSpPr>
        <p:spPr>
          <a:xfrm>
            <a:off x="9620250" y="5348288"/>
            <a:ext cx="7672007"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Overall ability to distinguish between healthy and diseased eyes.</a:t>
            </a:r>
            <a:endParaRPr b="0" i="0" sz="1875" u="none" cap="none" strike="noStrike">
              <a:solidFill>
                <a:schemeClr val="dk1"/>
              </a:solidFill>
              <a:latin typeface="Calibri"/>
              <a:ea typeface="Calibri"/>
              <a:cs typeface="Calibri"/>
              <a:sym typeface="Calibri"/>
            </a:endParaRPr>
          </a:p>
        </p:txBody>
      </p:sp>
      <p:sp>
        <p:nvSpPr>
          <p:cNvPr id="518" name="Google Shape;518;p17"/>
          <p:cNvSpPr/>
          <p:nvPr/>
        </p:nvSpPr>
        <p:spPr>
          <a:xfrm>
            <a:off x="9620250" y="6167438"/>
            <a:ext cx="744855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7"/>
          <p:cNvSpPr/>
          <p:nvPr/>
        </p:nvSpPr>
        <p:spPr>
          <a:xfrm>
            <a:off x="9620250" y="6329363"/>
            <a:ext cx="8193405"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Confusion Matrix</a:t>
            </a:r>
            <a:endParaRPr b="0" i="0" sz="1950" u="none" cap="none" strike="noStrike">
              <a:solidFill>
                <a:schemeClr val="dk1"/>
              </a:solidFill>
              <a:latin typeface="Calibri"/>
              <a:ea typeface="Calibri"/>
              <a:cs typeface="Calibri"/>
              <a:sym typeface="Calibri"/>
            </a:endParaRPr>
          </a:p>
        </p:txBody>
      </p:sp>
      <p:sp>
        <p:nvSpPr>
          <p:cNvPr id="520" name="Google Shape;520;p17"/>
          <p:cNvSpPr/>
          <p:nvPr/>
        </p:nvSpPr>
        <p:spPr>
          <a:xfrm>
            <a:off x="9620250" y="6667500"/>
            <a:ext cx="8193405" cy="371475"/>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Shows correct and incorrect predictions for each condition.</a:t>
            </a:r>
            <a:endParaRPr b="0" i="0" sz="1875" u="none" cap="none" strike="noStrike">
              <a:solidFill>
                <a:schemeClr val="dk1"/>
              </a:solidFill>
              <a:latin typeface="Calibri"/>
              <a:ea typeface="Calibri"/>
              <a:cs typeface="Calibri"/>
              <a:sym typeface="Calibri"/>
            </a:endParaRPr>
          </a:p>
        </p:txBody>
      </p:sp>
      <p:sp>
        <p:nvSpPr>
          <p:cNvPr id="521" name="Google Shape;521;p17"/>
          <p:cNvSpPr/>
          <p:nvPr/>
        </p:nvSpPr>
        <p:spPr>
          <a:xfrm>
            <a:off x="9620250" y="7153275"/>
            <a:ext cx="744855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7"/>
          <p:cNvSpPr/>
          <p:nvPr/>
        </p:nvSpPr>
        <p:spPr>
          <a:xfrm>
            <a:off x="9620250" y="7315200"/>
            <a:ext cx="8193405"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Test Set</a:t>
            </a:r>
            <a:endParaRPr b="0" i="0" sz="1950" u="none" cap="none" strike="noStrike">
              <a:solidFill>
                <a:schemeClr val="dk1"/>
              </a:solidFill>
              <a:latin typeface="Calibri"/>
              <a:ea typeface="Calibri"/>
              <a:cs typeface="Calibri"/>
              <a:sym typeface="Calibri"/>
            </a:endParaRPr>
          </a:p>
        </p:txBody>
      </p:sp>
      <p:sp>
        <p:nvSpPr>
          <p:cNvPr id="523" name="Google Shape;523;p17"/>
          <p:cNvSpPr/>
          <p:nvPr/>
        </p:nvSpPr>
        <p:spPr>
          <a:xfrm>
            <a:off x="9620250" y="7653337"/>
            <a:ext cx="7672007"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Evaluate on unseen patient images to measure real-world performance.</a:t>
            </a:r>
            <a:endParaRPr b="0" i="0" sz="1875" u="none" cap="none" strike="noStrike">
              <a:solidFill>
                <a:schemeClr val="dk1"/>
              </a:solidFill>
              <a:latin typeface="Calibri"/>
              <a:ea typeface="Calibri"/>
              <a:cs typeface="Calibri"/>
              <a:sym typeface="Calibri"/>
            </a:endParaRPr>
          </a:p>
        </p:txBody>
      </p:sp>
      <p:sp>
        <p:nvSpPr>
          <p:cNvPr id="524" name="Google Shape;524;p17"/>
          <p:cNvSpPr/>
          <p:nvPr/>
        </p:nvSpPr>
        <p:spPr>
          <a:xfrm>
            <a:off x="952500" y="8759205"/>
            <a:ext cx="16383000" cy="765795"/>
          </a:xfrm>
          <a:prstGeom prst="roundRect">
            <a:avLst>
              <a:gd fmla="val 14926" name="adj"/>
            </a:avLst>
          </a:prstGeom>
          <a:solidFill>
            <a:srgbClr val="FDF4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p:nvPr/>
        </p:nvSpPr>
        <p:spPr>
          <a:xfrm>
            <a:off x="952500" y="8759205"/>
            <a:ext cx="38100" cy="765795"/>
          </a:xfrm>
          <a:prstGeom prst="rect">
            <a:avLst/>
          </a:prstGeom>
          <a:solidFill>
            <a:srgbClr val="B557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7"/>
          <p:cNvSpPr/>
          <p:nvPr/>
        </p:nvSpPr>
        <p:spPr>
          <a:xfrm>
            <a:off x="1257300" y="8968755"/>
            <a:ext cx="16302990" cy="384795"/>
          </a:xfrm>
          <a:prstGeom prst="rect">
            <a:avLst/>
          </a:prstGeom>
          <a:noFill/>
          <a:ln>
            <a:noFill/>
          </a:ln>
        </p:spPr>
        <p:txBody>
          <a:bodyPr anchorCtr="0" anchor="t" bIns="25400" lIns="25400" spcFirstLastPara="1" rIns="25400" wrap="square" tIns="25400">
            <a:noAutofit/>
          </a:bodyPr>
          <a:lstStyle/>
          <a:p>
            <a:pPr indent="0" lvl="0" marL="0" marR="0" rtl="0" algn="l">
              <a:lnSpc>
                <a:spcPct val="115556"/>
              </a:lnSpc>
              <a:spcBef>
                <a:spcPts val="0"/>
              </a:spcBef>
              <a:spcAft>
                <a:spcPts val="0"/>
              </a:spcAft>
              <a:buClr>
                <a:srgbClr val="9D4531"/>
              </a:buClr>
              <a:buSzPts val="1950"/>
              <a:buFont typeface="Montserrat"/>
              <a:buNone/>
            </a:pPr>
            <a:r>
              <a:rPr b="1" i="0" lang="en-US" sz="1950" u="none" cap="none" strike="noStrike">
                <a:solidFill>
                  <a:srgbClr val="9D4531"/>
                </a:solidFill>
                <a:latin typeface="Montserrat"/>
                <a:ea typeface="Montserrat"/>
                <a:cs typeface="Montserrat"/>
                <a:sym typeface="Montserrat"/>
              </a:rPr>
              <a:t>Key goal </a:t>
            </a:r>
            <a:r>
              <a:rPr b="0" i="0" lang="en-US" sz="1950" u="none" cap="none" strike="noStrike">
                <a:solidFill>
                  <a:srgbClr val="3D3D3D"/>
                </a:solidFill>
                <a:highlight>
                  <a:srgbClr val="FDF4F1"/>
                </a:highlight>
                <a:latin typeface="Montserrat"/>
                <a:ea typeface="Montserrat"/>
                <a:cs typeface="Montserrat"/>
                <a:sym typeface="Montserrat"/>
              </a:rPr>
              <a:t>• Minimize missed disease cases while maintaining reliable predictions.</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1" name="Shape 531"/>
        <p:cNvGrpSpPr/>
        <p:nvPr/>
      </p:nvGrpSpPr>
      <p:grpSpPr>
        <a:xfrm>
          <a:off x="0" y="0"/>
          <a:ext cx="0" cy="0"/>
          <a:chOff x="0" y="0"/>
          <a:chExt cx="0" cy="0"/>
        </a:xfrm>
      </p:grpSpPr>
      <p:sp>
        <p:nvSpPr>
          <p:cNvPr id="532" name="Google Shape;532;p18"/>
          <p:cNvSpPr/>
          <p:nvPr/>
        </p:nvSpPr>
        <p:spPr>
          <a:xfrm>
            <a:off x="952500" y="2047875"/>
            <a:ext cx="163830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8"/>
          <p:cNvSpPr/>
          <p:nvPr/>
        </p:nvSpPr>
        <p:spPr>
          <a:xfrm>
            <a:off x="952500" y="762000"/>
            <a:ext cx="7003881"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09 · SCHEDULE</a:t>
            </a:r>
            <a:endParaRPr b="0" i="0" sz="1800" u="none" cap="none" strike="noStrike">
              <a:solidFill>
                <a:schemeClr val="dk1"/>
              </a:solidFill>
              <a:latin typeface="Calibri"/>
              <a:ea typeface="Calibri"/>
              <a:cs typeface="Calibri"/>
              <a:sym typeface="Calibri"/>
            </a:endParaRPr>
          </a:p>
        </p:txBody>
      </p:sp>
      <p:sp>
        <p:nvSpPr>
          <p:cNvPr id="534" name="Google Shape;534;p18"/>
          <p:cNvSpPr/>
          <p:nvPr/>
        </p:nvSpPr>
        <p:spPr>
          <a:xfrm>
            <a:off x="952500" y="1171575"/>
            <a:ext cx="7003881"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Cadence &amp; deliverables</a:t>
            </a:r>
            <a:endParaRPr b="0" i="0" sz="4200" u="none" cap="none" strike="noStrike">
              <a:solidFill>
                <a:schemeClr val="dk1"/>
              </a:solidFill>
              <a:latin typeface="Calibri"/>
              <a:ea typeface="Calibri"/>
              <a:cs typeface="Calibri"/>
              <a:sym typeface="Calibri"/>
            </a:endParaRPr>
          </a:p>
        </p:txBody>
      </p:sp>
      <p:pic>
        <p:nvPicPr>
          <p:cNvPr descr="preencoded.png" id="535" name="Google Shape;535;p18"/>
          <p:cNvPicPr preferRelativeResize="0"/>
          <p:nvPr/>
        </p:nvPicPr>
        <p:blipFill rotWithShape="1">
          <a:blip r:embed="rId3">
            <a:alphaModFix/>
          </a:blip>
          <a:srcRect b="-3807" l="0" r="0" t="-3807"/>
          <a:stretch/>
        </p:blipFill>
        <p:spPr>
          <a:xfrm>
            <a:off x="16725900" y="762000"/>
            <a:ext cx="609600" cy="609600"/>
          </a:xfrm>
          <a:prstGeom prst="rect">
            <a:avLst/>
          </a:prstGeom>
          <a:noFill/>
          <a:ln>
            <a:noFill/>
          </a:ln>
        </p:spPr>
      </p:pic>
      <p:sp>
        <p:nvSpPr>
          <p:cNvPr id="536" name="Google Shape;536;p18"/>
          <p:cNvSpPr/>
          <p:nvPr/>
        </p:nvSpPr>
        <p:spPr>
          <a:xfrm>
            <a:off x="952500" y="2343150"/>
            <a:ext cx="700731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MEETING CADENCE</a:t>
            </a:r>
            <a:endParaRPr b="0" i="0" sz="1800" u="none" cap="none" strike="noStrike">
              <a:solidFill>
                <a:schemeClr val="dk1"/>
              </a:solidFill>
              <a:latin typeface="Calibri"/>
              <a:ea typeface="Calibri"/>
              <a:cs typeface="Calibri"/>
              <a:sym typeface="Calibri"/>
            </a:endParaRPr>
          </a:p>
        </p:txBody>
      </p:sp>
      <p:sp>
        <p:nvSpPr>
          <p:cNvPr id="537" name="Google Shape;537;p18"/>
          <p:cNvSpPr/>
          <p:nvPr/>
        </p:nvSpPr>
        <p:spPr>
          <a:xfrm>
            <a:off x="952500" y="2790825"/>
            <a:ext cx="6370290" cy="2505075"/>
          </a:xfrm>
          <a:prstGeom prst="roundRect">
            <a:avLst>
              <a:gd fmla="val 6084"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8"/>
          <p:cNvSpPr/>
          <p:nvPr/>
        </p:nvSpPr>
        <p:spPr>
          <a:xfrm>
            <a:off x="1200150" y="3038475"/>
            <a:ext cx="6462489"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11111"/>
              </a:buClr>
              <a:buSzPts val="1875"/>
              <a:buFont typeface="Montserrat"/>
              <a:buNone/>
            </a:pPr>
            <a:r>
              <a:rPr b="1" i="0" lang="en-US" sz="1875" u="none" cap="none" strike="noStrike">
                <a:solidFill>
                  <a:srgbClr val="111111"/>
                </a:solidFill>
                <a:latin typeface="Montserrat"/>
                <a:ea typeface="Montserrat"/>
                <a:cs typeface="Montserrat"/>
                <a:sym typeface="Montserrat"/>
              </a:rPr>
              <a:t>Standup </a:t>
            </a:r>
            <a:r>
              <a:rPr b="0" i="0" lang="en-US" sz="1875" u="none" cap="none" strike="noStrike">
                <a:solidFill>
                  <a:srgbClr val="3D3D3D"/>
                </a:solidFill>
                <a:latin typeface="Montserrat"/>
                <a:ea typeface="Montserrat"/>
                <a:cs typeface="Montserrat"/>
                <a:sym typeface="Montserrat"/>
              </a:rPr>
              <a:t>— Quick progress discussion after class.</a:t>
            </a:r>
            <a:endParaRPr b="0" i="0" sz="1875" u="none" cap="none" strike="noStrike">
              <a:solidFill>
                <a:schemeClr val="dk1"/>
              </a:solidFill>
              <a:latin typeface="Calibri"/>
              <a:ea typeface="Calibri"/>
              <a:cs typeface="Calibri"/>
              <a:sym typeface="Calibri"/>
            </a:endParaRPr>
          </a:p>
        </p:txBody>
      </p:sp>
      <p:sp>
        <p:nvSpPr>
          <p:cNvPr id="539" name="Google Shape;539;p18"/>
          <p:cNvSpPr/>
          <p:nvPr/>
        </p:nvSpPr>
        <p:spPr>
          <a:xfrm>
            <a:off x="1200150" y="3536156"/>
            <a:ext cx="587499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8"/>
          <p:cNvSpPr/>
          <p:nvPr/>
        </p:nvSpPr>
        <p:spPr>
          <a:xfrm>
            <a:off x="1200150" y="3698081"/>
            <a:ext cx="6051240"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11111"/>
              </a:buClr>
              <a:buSzPts val="1875"/>
              <a:buFont typeface="Montserrat"/>
              <a:buNone/>
            </a:pPr>
            <a:r>
              <a:rPr b="1" i="0" lang="en-US" sz="1875" u="none" cap="none" strike="noStrike">
                <a:solidFill>
                  <a:srgbClr val="111111"/>
                </a:solidFill>
                <a:latin typeface="Montserrat"/>
                <a:ea typeface="Montserrat"/>
                <a:cs typeface="Montserrat"/>
                <a:sym typeface="Montserrat"/>
              </a:rPr>
              <a:t>Working session </a:t>
            </a:r>
            <a:r>
              <a:rPr b="0" i="0" lang="en-US" sz="1875" u="none" cap="none" strike="noStrike">
                <a:solidFill>
                  <a:srgbClr val="3D3D3D"/>
                </a:solidFill>
                <a:latin typeface="Montserrat"/>
                <a:ea typeface="Montserrat"/>
                <a:cs typeface="Montserrat"/>
                <a:sym typeface="Montserrat"/>
              </a:rPr>
              <a:t>— Sunday 2-hour Zoom meeting + individual work throughout the week.</a:t>
            </a:r>
            <a:endParaRPr b="0" i="0" sz="1875" u="none" cap="none" strike="noStrike">
              <a:solidFill>
                <a:schemeClr val="dk1"/>
              </a:solidFill>
              <a:latin typeface="Calibri"/>
              <a:ea typeface="Calibri"/>
              <a:cs typeface="Calibri"/>
              <a:sym typeface="Calibri"/>
            </a:endParaRPr>
          </a:p>
        </p:txBody>
      </p:sp>
      <p:sp>
        <p:nvSpPr>
          <p:cNvPr id="541" name="Google Shape;541;p18"/>
          <p:cNvSpPr/>
          <p:nvPr/>
        </p:nvSpPr>
        <p:spPr>
          <a:xfrm>
            <a:off x="1200150" y="4541044"/>
            <a:ext cx="587499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8"/>
          <p:cNvSpPr/>
          <p:nvPr/>
        </p:nvSpPr>
        <p:spPr>
          <a:xfrm>
            <a:off x="1200150" y="4702969"/>
            <a:ext cx="6462489"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11111"/>
              </a:buClr>
              <a:buSzPts val="1875"/>
              <a:buFont typeface="Montserrat"/>
              <a:buNone/>
            </a:pPr>
            <a:r>
              <a:rPr b="1" i="0" lang="en-US" sz="1875" u="none" cap="none" strike="noStrike">
                <a:solidFill>
                  <a:srgbClr val="111111"/>
                </a:solidFill>
                <a:latin typeface="Montserrat"/>
                <a:ea typeface="Montserrat"/>
                <a:cs typeface="Montserrat"/>
                <a:sym typeface="Montserrat"/>
              </a:rPr>
              <a:t>Sprint Duration </a:t>
            </a:r>
            <a:r>
              <a:rPr b="0" i="0" lang="en-US" sz="1875" u="none" cap="none" strike="noStrike">
                <a:solidFill>
                  <a:srgbClr val="3D3D3D"/>
                </a:solidFill>
                <a:latin typeface="Montserrat"/>
                <a:ea typeface="Montserrat"/>
                <a:cs typeface="Montserrat"/>
                <a:sym typeface="Montserrat"/>
              </a:rPr>
              <a:t>— Approximately 4 weeks.</a:t>
            </a:r>
            <a:endParaRPr b="0" i="0" sz="1875" u="none" cap="none" strike="noStrike">
              <a:solidFill>
                <a:schemeClr val="dk1"/>
              </a:solidFill>
              <a:latin typeface="Calibri"/>
              <a:ea typeface="Calibri"/>
              <a:cs typeface="Calibri"/>
              <a:sym typeface="Calibri"/>
            </a:endParaRPr>
          </a:p>
        </p:txBody>
      </p:sp>
      <p:sp>
        <p:nvSpPr>
          <p:cNvPr id="543" name="Google Shape;543;p18"/>
          <p:cNvSpPr/>
          <p:nvPr/>
        </p:nvSpPr>
        <p:spPr>
          <a:xfrm>
            <a:off x="7779990" y="2343150"/>
            <a:ext cx="10510979"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SPRINT DELIVERABLES</a:t>
            </a:r>
            <a:endParaRPr b="0" i="0" sz="1800" u="none" cap="none" strike="noStrike">
              <a:solidFill>
                <a:schemeClr val="dk1"/>
              </a:solidFill>
              <a:latin typeface="Calibri"/>
              <a:ea typeface="Calibri"/>
              <a:cs typeface="Calibri"/>
              <a:sym typeface="Calibri"/>
            </a:endParaRPr>
          </a:p>
        </p:txBody>
      </p:sp>
      <p:sp>
        <p:nvSpPr>
          <p:cNvPr id="544" name="Google Shape;544;p18"/>
          <p:cNvSpPr/>
          <p:nvPr/>
        </p:nvSpPr>
        <p:spPr>
          <a:xfrm>
            <a:off x="7779990" y="2790825"/>
            <a:ext cx="19050" cy="5164931"/>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8"/>
          <p:cNvSpPr/>
          <p:nvPr/>
        </p:nvSpPr>
        <p:spPr>
          <a:xfrm>
            <a:off x="7722840" y="2867025"/>
            <a:ext cx="133350" cy="133350"/>
          </a:xfrm>
          <a:prstGeom prst="ellipse">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8"/>
          <p:cNvSpPr/>
          <p:nvPr/>
        </p:nvSpPr>
        <p:spPr>
          <a:xfrm>
            <a:off x="7722923" y="4175924"/>
            <a:ext cx="133200" cy="133500"/>
          </a:xfrm>
          <a:prstGeom prst="ellipse">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8"/>
          <p:cNvSpPr/>
          <p:nvPr/>
        </p:nvSpPr>
        <p:spPr>
          <a:xfrm>
            <a:off x="7722840" y="5405426"/>
            <a:ext cx="133500" cy="133500"/>
          </a:xfrm>
          <a:prstGeom prst="ellipse">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8"/>
          <p:cNvSpPr/>
          <p:nvPr/>
        </p:nvSpPr>
        <p:spPr>
          <a:xfrm>
            <a:off x="7722840" y="6691306"/>
            <a:ext cx="133500" cy="133500"/>
          </a:xfrm>
          <a:prstGeom prst="ellipse">
            <a:avLst/>
          </a:prstGeom>
          <a:solidFill>
            <a:srgbClr val="1E6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8"/>
          <p:cNvSpPr/>
          <p:nvPr/>
        </p:nvSpPr>
        <p:spPr>
          <a:xfrm>
            <a:off x="8008590" y="2790825"/>
            <a:ext cx="10259519"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Sprint 0 — SEP-1 to SEP-21</a:t>
            </a:r>
            <a:endParaRPr b="0" i="0" sz="2025" u="none" cap="none" strike="noStrike">
              <a:solidFill>
                <a:schemeClr val="dk1"/>
              </a:solidFill>
              <a:latin typeface="Calibri"/>
              <a:ea typeface="Calibri"/>
              <a:cs typeface="Calibri"/>
              <a:sym typeface="Calibri"/>
            </a:endParaRPr>
          </a:p>
        </p:txBody>
      </p:sp>
      <p:sp>
        <p:nvSpPr>
          <p:cNvPr id="550" name="Google Shape;550;p18"/>
          <p:cNvSpPr/>
          <p:nvPr/>
        </p:nvSpPr>
        <p:spPr>
          <a:xfrm>
            <a:off x="8008590" y="3162300"/>
            <a:ext cx="9606640"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Finalize the project scope, team responsibilities, personas, technology stack, datasets, and overall development plan.</a:t>
            </a:r>
            <a:endParaRPr b="0" i="0" sz="1875" u="none" cap="none" strike="noStrike">
              <a:solidFill>
                <a:schemeClr val="dk1"/>
              </a:solidFill>
              <a:latin typeface="Calibri"/>
              <a:ea typeface="Calibri"/>
              <a:cs typeface="Calibri"/>
              <a:sym typeface="Calibri"/>
            </a:endParaRPr>
          </a:p>
        </p:txBody>
      </p:sp>
      <p:sp>
        <p:nvSpPr>
          <p:cNvPr id="551" name="Google Shape;551;p18"/>
          <p:cNvSpPr/>
          <p:nvPr/>
        </p:nvSpPr>
        <p:spPr>
          <a:xfrm>
            <a:off x="8008590" y="4043363"/>
            <a:ext cx="10259519"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Sprint 1 — SEP-21 to OCT-19</a:t>
            </a:r>
            <a:endParaRPr b="0" i="0" sz="2025" u="none" cap="none" strike="noStrike">
              <a:solidFill>
                <a:schemeClr val="dk1"/>
              </a:solidFill>
              <a:latin typeface="Calibri"/>
              <a:ea typeface="Calibri"/>
              <a:cs typeface="Calibri"/>
              <a:sym typeface="Calibri"/>
            </a:endParaRPr>
          </a:p>
        </p:txBody>
      </p:sp>
      <p:sp>
        <p:nvSpPr>
          <p:cNvPr id="552" name="Google Shape;552;p18"/>
          <p:cNvSpPr/>
          <p:nvPr/>
        </p:nvSpPr>
        <p:spPr>
          <a:xfrm>
            <a:off x="8008590" y="4414838"/>
            <a:ext cx="9606640"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Prepare and preprocess retinal images, create the basic user interface, and build initial cataract and glaucoma model functionality.</a:t>
            </a:r>
            <a:endParaRPr b="0" i="0" sz="1875" u="none" cap="none" strike="noStrike">
              <a:solidFill>
                <a:schemeClr val="dk1"/>
              </a:solidFill>
              <a:latin typeface="Calibri"/>
              <a:ea typeface="Calibri"/>
              <a:cs typeface="Calibri"/>
              <a:sym typeface="Calibri"/>
            </a:endParaRPr>
          </a:p>
        </p:txBody>
      </p:sp>
      <p:sp>
        <p:nvSpPr>
          <p:cNvPr id="553" name="Google Shape;553;p18"/>
          <p:cNvSpPr/>
          <p:nvPr/>
        </p:nvSpPr>
        <p:spPr>
          <a:xfrm>
            <a:off x="8008590" y="5295900"/>
            <a:ext cx="10259519"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Sprint 2 — OCT-19 to NOV-16</a:t>
            </a:r>
            <a:endParaRPr b="0" i="0" sz="2025" u="none" cap="none" strike="noStrike">
              <a:solidFill>
                <a:schemeClr val="dk1"/>
              </a:solidFill>
              <a:latin typeface="Calibri"/>
              <a:ea typeface="Calibri"/>
              <a:cs typeface="Calibri"/>
              <a:sym typeface="Calibri"/>
            </a:endParaRPr>
          </a:p>
        </p:txBody>
      </p:sp>
      <p:sp>
        <p:nvSpPr>
          <p:cNvPr id="554" name="Google Shape;554;p18"/>
          <p:cNvSpPr/>
          <p:nvPr/>
        </p:nvSpPr>
        <p:spPr>
          <a:xfrm>
            <a:off x="8008590" y="5667375"/>
            <a:ext cx="9606640"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Develop the shared dual-head model, evaluate both disease predictions, integrate the model with the application, and begin external validation.</a:t>
            </a:r>
            <a:endParaRPr b="0" i="0" sz="1875" u="none" cap="none" strike="noStrike">
              <a:solidFill>
                <a:schemeClr val="dk1"/>
              </a:solidFill>
              <a:latin typeface="Calibri"/>
              <a:ea typeface="Calibri"/>
              <a:cs typeface="Calibri"/>
              <a:sym typeface="Calibri"/>
            </a:endParaRPr>
          </a:p>
        </p:txBody>
      </p:sp>
      <p:sp>
        <p:nvSpPr>
          <p:cNvPr id="555" name="Google Shape;555;p18"/>
          <p:cNvSpPr/>
          <p:nvPr/>
        </p:nvSpPr>
        <p:spPr>
          <a:xfrm>
            <a:off x="8008590" y="6548438"/>
            <a:ext cx="10259519"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Sprint 3 — NOV-16 to DEC-14</a:t>
            </a:r>
            <a:endParaRPr b="0" i="0" sz="2025" u="none" cap="none" strike="noStrike">
              <a:solidFill>
                <a:schemeClr val="dk1"/>
              </a:solidFill>
              <a:latin typeface="Calibri"/>
              <a:ea typeface="Calibri"/>
              <a:cs typeface="Calibri"/>
              <a:sym typeface="Calibri"/>
            </a:endParaRPr>
          </a:p>
        </p:txBody>
      </p:sp>
      <p:sp>
        <p:nvSpPr>
          <p:cNvPr id="556" name="Google Shape;556;p18"/>
          <p:cNvSpPr/>
          <p:nvPr/>
        </p:nvSpPr>
        <p:spPr>
          <a:xfrm>
            <a:off x="8008590" y="6919913"/>
            <a:ext cx="9606640" cy="1073944"/>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Complete the end-to-end application, perform final model testing and validation, improve the interface, and finalize project documentation and presentation</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1" name="Shape 561"/>
        <p:cNvGrpSpPr/>
        <p:nvPr/>
      </p:nvGrpSpPr>
      <p:grpSpPr>
        <a:xfrm>
          <a:off x="0" y="0"/>
          <a:ext cx="0" cy="0"/>
          <a:chOff x="0" y="0"/>
          <a:chExt cx="0" cy="0"/>
        </a:xfrm>
      </p:grpSpPr>
      <p:sp>
        <p:nvSpPr>
          <p:cNvPr id="562" name="Google Shape;562;p19"/>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9"/>
          <p:cNvSpPr/>
          <p:nvPr/>
        </p:nvSpPr>
        <p:spPr>
          <a:xfrm>
            <a:off x="1047750" y="857250"/>
            <a:ext cx="694118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10 · WORKING AGREEMENT</a:t>
            </a:r>
            <a:endParaRPr b="0" i="0" sz="1800" u="none" cap="none" strike="noStrike">
              <a:solidFill>
                <a:schemeClr val="dk1"/>
              </a:solidFill>
              <a:latin typeface="Calibri"/>
              <a:ea typeface="Calibri"/>
              <a:cs typeface="Calibri"/>
              <a:sym typeface="Calibri"/>
            </a:endParaRPr>
          </a:p>
        </p:txBody>
      </p:sp>
      <p:sp>
        <p:nvSpPr>
          <p:cNvPr id="564" name="Google Shape;564;p19"/>
          <p:cNvSpPr/>
          <p:nvPr/>
        </p:nvSpPr>
        <p:spPr>
          <a:xfrm>
            <a:off x="1047750" y="1266825"/>
            <a:ext cx="6941180"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How we work together</a:t>
            </a:r>
            <a:endParaRPr b="0" i="0" sz="4200" u="none" cap="none" strike="noStrike">
              <a:solidFill>
                <a:schemeClr val="dk1"/>
              </a:solidFill>
              <a:latin typeface="Calibri"/>
              <a:ea typeface="Calibri"/>
              <a:cs typeface="Calibri"/>
              <a:sym typeface="Calibri"/>
            </a:endParaRPr>
          </a:p>
        </p:txBody>
      </p:sp>
      <p:pic>
        <p:nvPicPr>
          <p:cNvPr descr="preencoded.png" id="565" name="Google Shape;565;p19"/>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566" name="Google Shape;566;p19"/>
          <p:cNvSpPr/>
          <p:nvPr/>
        </p:nvSpPr>
        <p:spPr>
          <a:xfrm>
            <a:off x="1047750" y="2495550"/>
            <a:ext cx="7972425" cy="2974181"/>
          </a:xfrm>
          <a:prstGeom prst="roundRect">
            <a:avLst>
              <a:gd fmla="val 5124"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9"/>
          <p:cNvSpPr/>
          <p:nvPr/>
        </p:nvSpPr>
        <p:spPr>
          <a:xfrm>
            <a:off x="1333500" y="2781300"/>
            <a:ext cx="8141017"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Where &amp; when we meet</a:t>
            </a:r>
            <a:endParaRPr b="0" i="0" sz="2100" u="none" cap="none" strike="noStrike">
              <a:solidFill>
                <a:schemeClr val="dk1"/>
              </a:solidFill>
              <a:latin typeface="Calibri"/>
              <a:ea typeface="Calibri"/>
              <a:cs typeface="Calibri"/>
              <a:sym typeface="Calibri"/>
            </a:endParaRPr>
          </a:p>
        </p:txBody>
      </p:sp>
      <p:sp>
        <p:nvSpPr>
          <p:cNvPr id="568" name="Google Shape;568;p19"/>
          <p:cNvSpPr/>
          <p:nvPr/>
        </p:nvSpPr>
        <p:spPr>
          <a:xfrm>
            <a:off x="1333500" y="3238500"/>
            <a:ext cx="7622953" cy="776287"/>
          </a:xfrm>
          <a:prstGeom prst="rect">
            <a:avLst/>
          </a:prstGeom>
          <a:noFill/>
          <a:ln>
            <a:noFill/>
          </a:ln>
        </p:spPr>
        <p:txBody>
          <a:bodyPr anchorCtr="0" anchor="t" bIns="25400" lIns="25400" spcFirstLastPara="1" rIns="25400" wrap="square" tIns="25400">
            <a:noAutofit/>
          </a:bodyPr>
          <a:lstStyle/>
          <a:p>
            <a:pPr indent="0" lvl="0" marL="0" marR="0" rtl="0" algn="l">
              <a:lnSpc>
                <a:spcPct val="127049"/>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Two-hour Zoom meeting every Sunday for project work and planning. Brief follow-up discussions after Tuesday's class.</a:t>
            </a:r>
            <a:endParaRPr b="0" i="0" sz="1875" u="none" cap="none" strike="noStrike">
              <a:solidFill>
                <a:schemeClr val="dk1"/>
              </a:solidFill>
              <a:latin typeface="Calibri"/>
              <a:ea typeface="Calibri"/>
              <a:cs typeface="Calibri"/>
              <a:sym typeface="Calibri"/>
            </a:endParaRPr>
          </a:p>
        </p:txBody>
      </p:sp>
      <p:sp>
        <p:nvSpPr>
          <p:cNvPr id="569" name="Google Shape;569;p19"/>
          <p:cNvSpPr/>
          <p:nvPr/>
        </p:nvSpPr>
        <p:spPr>
          <a:xfrm>
            <a:off x="9267825" y="2495550"/>
            <a:ext cx="7972425" cy="2974181"/>
          </a:xfrm>
          <a:prstGeom prst="roundRect">
            <a:avLst>
              <a:gd fmla="val 5124"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9"/>
          <p:cNvSpPr/>
          <p:nvPr/>
        </p:nvSpPr>
        <p:spPr>
          <a:xfrm>
            <a:off x="9553575" y="2781300"/>
            <a:ext cx="8141017"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Communication</a:t>
            </a:r>
            <a:endParaRPr b="0" i="0" sz="2100" u="none" cap="none" strike="noStrike">
              <a:solidFill>
                <a:schemeClr val="dk1"/>
              </a:solidFill>
              <a:latin typeface="Calibri"/>
              <a:ea typeface="Calibri"/>
              <a:cs typeface="Calibri"/>
              <a:sym typeface="Calibri"/>
            </a:endParaRPr>
          </a:p>
        </p:txBody>
      </p:sp>
      <p:sp>
        <p:nvSpPr>
          <p:cNvPr id="571" name="Google Shape;571;p19"/>
          <p:cNvSpPr/>
          <p:nvPr/>
        </p:nvSpPr>
        <p:spPr>
          <a:xfrm>
            <a:off x="9553575" y="3238500"/>
            <a:ext cx="7622953" cy="776287"/>
          </a:xfrm>
          <a:prstGeom prst="rect">
            <a:avLst/>
          </a:prstGeom>
          <a:noFill/>
          <a:ln>
            <a:noFill/>
          </a:ln>
        </p:spPr>
        <p:txBody>
          <a:bodyPr anchorCtr="0" anchor="t" bIns="25400" lIns="25400" spcFirstLastPara="1" rIns="25400" wrap="square" tIns="25400">
            <a:noAutofit/>
          </a:bodyPr>
          <a:lstStyle/>
          <a:p>
            <a:pPr indent="0" lvl="0" marL="0" marR="0" rtl="0" algn="l">
              <a:lnSpc>
                <a:spcPct val="127049"/>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For Primary channel, use the team group chat for regular updates and coordination. Respond within 24 hour.</a:t>
            </a:r>
            <a:endParaRPr b="0" i="0" sz="1875" u="none" cap="none" strike="noStrike">
              <a:solidFill>
                <a:schemeClr val="dk1"/>
              </a:solidFill>
              <a:latin typeface="Calibri"/>
              <a:ea typeface="Calibri"/>
              <a:cs typeface="Calibri"/>
              <a:sym typeface="Calibri"/>
            </a:endParaRPr>
          </a:p>
        </p:txBody>
      </p:sp>
      <p:sp>
        <p:nvSpPr>
          <p:cNvPr id="572" name="Google Shape;572;p19"/>
          <p:cNvSpPr/>
          <p:nvPr/>
        </p:nvSpPr>
        <p:spPr>
          <a:xfrm>
            <a:off x="1047750" y="5717381"/>
            <a:ext cx="7972425" cy="3712369"/>
          </a:xfrm>
          <a:prstGeom prst="roundRect">
            <a:avLst>
              <a:gd fmla="val 4105"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9"/>
          <p:cNvSpPr/>
          <p:nvPr/>
        </p:nvSpPr>
        <p:spPr>
          <a:xfrm>
            <a:off x="1333500" y="6003131"/>
            <a:ext cx="8141017"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If someone doesn't commit</a:t>
            </a:r>
            <a:endParaRPr b="0" i="0" sz="2100" u="none" cap="none" strike="noStrike">
              <a:solidFill>
                <a:schemeClr val="dk1"/>
              </a:solidFill>
              <a:latin typeface="Calibri"/>
              <a:ea typeface="Calibri"/>
              <a:cs typeface="Calibri"/>
              <a:sym typeface="Calibri"/>
            </a:endParaRPr>
          </a:p>
        </p:txBody>
      </p:sp>
      <p:sp>
        <p:nvSpPr>
          <p:cNvPr id="574" name="Google Shape;574;p19"/>
          <p:cNvSpPr/>
          <p:nvPr/>
        </p:nvSpPr>
        <p:spPr>
          <a:xfrm>
            <a:off x="1333500" y="6460331"/>
            <a:ext cx="7622953" cy="1145381"/>
          </a:xfrm>
          <a:prstGeom prst="rect">
            <a:avLst/>
          </a:prstGeom>
          <a:noFill/>
          <a:ln>
            <a:noFill/>
          </a:ln>
        </p:spPr>
        <p:txBody>
          <a:bodyPr anchorCtr="0" anchor="t" bIns="25400" lIns="25400" spcFirstLastPara="1" rIns="25400" wrap="square" tIns="25400">
            <a:noAutofit/>
          </a:bodyPr>
          <a:lstStyle/>
          <a:p>
            <a:pPr indent="0" lvl="0" marL="0" marR="0" rtl="0" algn="l">
              <a:lnSpc>
                <a:spcPct val="127049"/>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Talk with the member first and work together to resolve the issue. Repeated problems will be discussed as a team and, if necessary, brought to the instructor.</a:t>
            </a:r>
            <a:endParaRPr b="0" i="0" sz="1875" u="none" cap="none" strike="noStrike">
              <a:solidFill>
                <a:schemeClr val="dk1"/>
              </a:solidFill>
              <a:latin typeface="Calibri"/>
              <a:ea typeface="Calibri"/>
              <a:cs typeface="Calibri"/>
              <a:sym typeface="Calibri"/>
            </a:endParaRPr>
          </a:p>
        </p:txBody>
      </p:sp>
      <p:sp>
        <p:nvSpPr>
          <p:cNvPr id="575" name="Google Shape;575;p19"/>
          <p:cNvSpPr/>
          <p:nvPr/>
        </p:nvSpPr>
        <p:spPr>
          <a:xfrm>
            <a:off x="9267825" y="5717381"/>
            <a:ext cx="7972425" cy="3712369"/>
          </a:xfrm>
          <a:prstGeom prst="roundRect">
            <a:avLst>
              <a:gd fmla="val 4105"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9"/>
          <p:cNvSpPr/>
          <p:nvPr/>
        </p:nvSpPr>
        <p:spPr>
          <a:xfrm>
            <a:off x="9553575" y="6003131"/>
            <a:ext cx="8141017"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Deadlines &amp; reminders</a:t>
            </a:r>
            <a:endParaRPr b="0" i="0" sz="2100" u="none" cap="none" strike="noStrike">
              <a:solidFill>
                <a:schemeClr val="dk1"/>
              </a:solidFill>
              <a:latin typeface="Calibri"/>
              <a:ea typeface="Calibri"/>
              <a:cs typeface="Calibri"/>
              <a:sym typeface="Calibri"/>
            </a:endParaRPr>
          </a:p>
        </p:txBody>
      </p:sp>
      <p:sp>
        <p:nvSpPr>
          <p:cNvPr id="577" name="Google Shape;577;p19"/>
          <p:cNvSpPr/>
          <p:nvPr/>
        </p:nvSpPr>
        <p:spPr>
          <a:xfrm>
            <a:off x="9553575" y="6460331"/>
            <a:ext cx="7622953" cy="1514475"/>
          </a:xfrm>
          <a:prstGeom prst="rect">
            <a:avLst/>
          </a:prstGeom>
          <a:noFill/>
          <a:ln>
            <a:noFill/>
          </a:ln>
        </p:spPr>
        <p:txBody>
          <a:bodyPr anchorCtr="0" anchor="t" bIns="25400" lIns="25400" spcFirstLastPara="1" rIns="25400" wrap="square" tIns="25400">
            <a:noAutofit/>
          </a:bodyPr>
          <a:lstStyle/>
          <a:p>
            <a:pPr indent="0" lvl="0" marL="0" marR="0" rtl="0" algn="l">
              <a:lnSpc>
                <a:spcPct val="127049"/>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Set internal deadlines ahead of official due dates. The team leader sends reminders before deadlines. Work is considered complete when it is finished, tested, reviewed, and submitted to the team repository.</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2" name="Shape 582"/>
        <p:cNvGrpSpPr/>
        <p:nvPr/>
      </p:nvGrpSpPr>
      <p:grpSpPr>
        <a:xfrm>
          <a:off x="0" y="0"/>
          <a:ext cx="0" cy="0"/>
          <a:chOff x="0" y="0"/>
          <a:chExt cx="0" cy="0"/>
        </a:xfrm>
      </p:grpSpPr>
      <p:sp>
        <p:nvSpPr>
          <p:cNvPr id="583" name="Google Shape;583;p20"/>
          <p:cNvSpPr/>
          <p:nvPr/>
        </p:nvSpPr>
        <p:spPr>
          <a:xfrm>
            <a:off x="952500" y="2047875"/>
            <a:ext cx="16383000" cy="9525"/>
          </a:xfrm>
          <a:prstGeom prst="rect">
            <a:avLst/>
          </a:pr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0"/>
          <p:cNvSpPr/>
          <p:nvPr/>
        </p:nvSpPr>
        <p:spPr>
          <a:xfrm>
            <a:off x="952500" y="762000"/>
            <a:ext cx="402778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11 · RETROSPECTIVE</a:t>
            </a:r>
            <a:endParaRPr b="0" i="0" sz="1800" u="none" cap="none" strike="noStrike">
              <a:solidFill>
                <a:schemeClr val="dk1"/>
              </a:solidFill>
              <a:latin typeface="Calibri"/>
              <a:ea typeface="Calibri"/>
              <a:cs typeface="Calibri"/>
              <a:sym typeface="Calibri"/>
            </a:endParaRPr>
          </a:p>
        </p:txBody>
      </p:sp>
      <p:sp>
        <p:nvSpPr>
          <p:cNvPr id="585" name="Google Shape;585;p20"/>
          <p:cNvSpPr/>
          <p:nvPr/>
        </p:nvSpPr>
        <p:spPr>
          <a:xfrm>
            <a:off x="952500" y="1171575"/>
            <a:ext cx="4027780" cy="685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Sprint 0 retro</a:t>
            </a:r>
            <a:endParaRPr b="0" i="0" sz="4200" u="none" cap="none" strike="noStrike">
              <a:solidFill>
                <a:schemeClr val="dk1"/>
              </a:solidFill>
              <a:latin typeface="Calibri"/>
              <a:ea typeface="Calibri"/>
              <a:cs typeface="Calibri"/>
              <a:sym typeface="Calibri"/>
            </a:endParaRPr>
          </a:p>
        </p:txBody>
      </p:sp>
      <p:pic>
        <p:nvPicPr>
          <p:cNvPr descr="preencoded.png" id="586" name="Google Shape;586;p20"/>
          <p:cNvPicPr preferRelativeResize="0"/>
          <p:nvPr/>
        </p:nvPicPr>
        <p:blipFill rotWithShape="1">
          <a:blip r:embed="rId3">
            <a:alphaModFix/>
          </a:blip>
          <a:srcRect b="-3807" l="0" r="0" t="-3807"/>
          <a:stretch/>
        </p:blipFill>
        <p:spPr>
          <a:xfrm>
            <a:off x="16725900" y="762000"/>
            <a:ext cx="609600" cy="609600"/>
          </a:xfrm>
          <a:prstGeom prst="rect">
            <a:avLst/>
          </a:prstGeom>
          <a:noFill/>
          <a:ln>
            <a:noFill/>
          </a:ln>
        </p:spPr>
      </p:pic>
      <p:sp>
        <p:nvSpPr>
          <p:cNvPr id="587" name="Google Shape;587;p20"/>
          <p:cNvSpPr/>
          <p:nvPr/>
        </p:nvSpPr>
        <p:spPr>
          <a:xfrm>
            <a:off x="952500" y="2324100"/>
            <a:ext cx="5125045" cy="7200900"/>
          </a:xfrm>
          <a:prstGeom prst="roundRect">
            <a:avLst>
              <a:gd fmla="val 2974" name="adj"/>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0"/>
          <p:cNvSpPr/>
          <p:nvPr/>
        </p:nvSpPr>
        <p:spPr>
          <a:xfrm>
            <a:off x="1219200" y="2590800"/>
            <a:ext cx="505081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What went well</a:t>
            </a:r>
            <a:endParaRPr b="0" i="0" sz="2100" u="none" cap="none" strike="noStrike">
              <a:solidFill>
                <a:schemeClr val="dk1"/>
              </a:solidFill>
              <a:latin typeface="Calibri"/>
              <a:ea typeface="Calibri"/>
              <a:cs typeface="Calibri"/>
              <a:sym typeface="Calibri"/>
            </a:endParaRPr>
          </a:p>
        </p:txBody>
      </p:sp>
      <p:sp>
        <p:nvSpPr>
          <p:cNvPr id="589" name="Google Shape;589;p20"/>
          <p:cNvSpPr/>
          <p:nvPr/>
        </p:nvSpPr>
        <p:spPr>
          <a:xfrm>
            <a:off x="1219200" y="3048000"/>
            <a:ext cx="472939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We successfully defined the Dual Ocular Disease Screener and its scope.</a:t>
            </a:r>
            <a:endParaRPr b="0" i="0" sz="1875" u="none" cap="none" strike="noStrike">
              <a:solidFill>
                <a:schemeClr val="dk1"/>
              </a:solidFill>
              <a:latin typeface="Calibri"/>
              <a:ea typeface="Calibri"/>
              <a:cs typeface="Calibri"/>
              <a:sym typeface="Calibri"/>
            </a:endParaRPr>
          </a:p>
        </p:txBody>
      </p:sp>
      <p:sp>
        <p:nvSpPr>
          <p:cNvPr id="590" name="Google Shape;590;p20"/>
          <p:cNvSpPr/>
          <p:nvPr/>
        </p:nvSpPr>
        <p:spPr>
          <a:xfrm>
            <a:off x="1219200" y="3871913"/>
            <a:ext cx="4729395" cy="1073944"/>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We identified our target users/personas and initial technology/algorithm approach.</a:t>
            </a:r>
            <a:endParaRPr b="0" i="0" sz="1875" u="none" cap="none" strike="noStrike">
              <a:solidFill>
                <a:schemeClr val="dk1"/>
              </a:solidFill>
              <a:latin typeface="Calibri"/>
              <a:ea typeface="Calibri"/>
              <a:cs typeface="Calibri"/>
              <a:sym typeface="Calibri"/>
            </a:endParaRPr>
          </a:p>
        </p:txBody>
      </p:sp>
      <p:sp>
        <p:nvSpPr>
          <p:cNvPr id="591" name="Google Shape;591;p20"/>
          <p:cNvSpPr/>
          <p:nvPr/>
        </p:nvSpPr>
        <p:spPr>
          <a:xfrm>
            <a:off x="1219200" y="5041106"/>
            <a:ext cx="4729395" cy="1073944"/>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Team members divided Sprint 0 responsibilities across the presentation deliverables.</a:t>
            </a:r>
            <a:endParaRPr b="0" i="0" sz="1875" u="none" cap="none" strike="noStrike">
              <a:solidFill>
                <a:schemeClr val="dk1"/>
              </a:solidFill>
              <a:latin typeface="Calibri"/>
              <a:ea typeface="Calibri"/>
              <a:cs typeface="Calibri"/>
              <a:sym typeface="Calibri"/>
            </a:endParaRPr>
          </a:p>
        </p:txBody>
      </p:sp>
      <p:sp>
        <p:nvSpPr>
          <p:cNvPr id="592" name="Google Shape;592;p20"/>
          <p:cNvSpPr/>
          <p:nvPr/>
        </p:nvSpPr>
        <p:spPr>
          <a:xfrm>
            <a:off x="6325195" y="2324100"/>
            <a:ext cx="5125045" cy="7200900"/>
          </a:xfrm>
          <a:prstGeom prst="roundRect">
            <a:avLst>
              <a:gd fmla="val 2974" name="adj"/>
            </a:avLst>
          </a:prstGeom>
          <a:noFill/>
          <a:ln cap="flat" cmpd="sng" w="9525">
            <a:solidFill>
              <a:srgbClr val="C7D2D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0"/>
          <p:cNvSpPr/>
          <p:nvPr/>
        </p:nvSpPr>
        <p:spPr>
          <a:xfrm>
            <a:off x="6601420" y="2600325"/>
            <a:ext cx="5029855"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What can improve</a:t>
            </a:r>
            <a:endParaRPr b="0" i="0" sz="2100" u="none" cap="none" strike="noStrike">
              <a:solidFill>
                <a:schemeClr val="dk1"/>
              </a:solidFill>
              <a:latin typeface="Calibri"/>
              <a:ea typeface="Calibri"/>
              <a:cs typeface="Calibri"/>
              <a:sym typeface="Calibri"/>
            </a:endParaRPr>
          </a:p>
        </p:txBody>
      </p:sp>
      <p:sp>
        <p:nvSpPr>
          <p:cNvPr id="594" name="Google Shape;594;p20"/>
          <p:cNvSpPr/>
          <p:nvPr/>
        </p:nvSpPr>
        <p:spPr>
          <a:xfrm>
            <a:off x="6601420" y="3057525"/>
            <a:ext cx="4709773"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We could communicate more consistently when tasks or plans change.</a:t>
            </a:r>
            <a:br>
              <a:rPr b="0" i="0" lang="en-US" sz="1875" u="none" cap="none" strike="noStrike">
                <a:solidFill>
                  <a:srgbClr val="3D3D3D"/>
                </a:solidFill>
                <a:latin typeface="Montserrat"/>
                <a:ea typeface="Montserrat"/>
                <a:cs typeface="Montserrat"/>
                <a:sym typeface="Montserrat"/>
              </a:rPr>
            </a:br>
            <a:endParaRPr b="0" i="0" sz="1875" u="none" cap="none" strike="noStrike">
              <a:solidFill>
                <a:srgbClr val="3D3D3D"/>
              </a:solidFill>
              <a:latin typeface="Montserrat"/>
              <a:ea typeface="Montserrat"/>
              <a:cs typeface="Montserrat"/>
              <a:sym typeface="Montserrat"/>
            </a:endParaRPr>
          </a:p>
          <a:p>
            <a:pPr indent="0" lvl="0" marL="0" rtl="0" algn="l">
              <a:lnSpc>
                <a:spcPct val="118852"/>
              </a:lnSpc>
              <a:spcBef>
                <a:spcPts val="0"/>
              </a:spcBef>
              <a:spcAft>
                <a:spcPts val="0"/>
              </a:spcAft>
              <a:buClr>
                <a:schemeClr val="dk1"/>
              </a:buClr>
              <a:buSzPts val="1100"/>
              <a:buFont typeface="Arial"/>
              <a:buNone/>
            </a:pPr>
            <a:r>
              <a:rPr b="0" i="0" lang="en-US" sz="1875" u="none" cap="none" strike="noStrike">
                <a:solidFill>
                  <a:srgbClr val="3D3D3D"/>
                </a:solidFill>
                <a:latin typeface="Montserrat"/>
                <a:ea typeface="Montserrat"/>
                <a:cs typeface="Montserrat"/>
                <a:sym typeface="Montserrat"/>
              </a:rPr>
              <a:t>We could assign responsibilities earlier so everyone knows their focus from the start.</a:t>
            </a:r>
            <a:br>
              <a:rPr b="0" i="0" lang="en-US" sz="1875" u="none" cap="none" strike="noStrike">
                <a:solidFill>
                  <a:srgbClr val="3D3D3D"/>
                </a:solidFill>
                <a:latin typeface="Montserrat"/>
                <a:ea typeface="Montserrat"/>
                <a:cs typeface="Montserrat"/>
                <a:sym typeface="Montserrat"/>
              </a:rPr>
            </a:br>
            <a:endParaRPr b="0" i="0" sz="1875" u="none" cap="none" strike="noStrike">
              <a:solidFill>
                <a:srgbClr val="3D3D3D"/>
              </a:solidFill>
              <a:latin typeface="Montserrat"/>
              <a:ea typeface="Montserrat"/>
              <a:cs typeface="Montserrat"/>
              <a:sym typeface="Montserrat"/>
            </a:endParaRPr>
          </a:p>
          <a:p>
            <a:pPr indent="0" lvl="0" marL="0" rtl="0" algn="l">
              <a:lnSpc>
                <a:spcPct val="118852"/>
              </a:lnSpc>
              <a:spcBef>
                <a:spcPts val="0"/>
              </a:spcBef>
              <a:spcAft>
                <a:spcPts val="0"/>
              </a:spcAft>
              <a:buClr>
                <a:schemeClr val="dk1"/>
              </a:buClr>
              <a:buSzPts val="1100"/>
              <a:buFont typeface="Arial"/>
              <a:buNone/>
            </a:pPr>
            <a:r>
              <a:rPr b="0" i="0" lang="en-US" sz="1875" u="none" cap="none" strike="noStrike">
                <a:solidFill>
                  <a:srgbClr val="3D3D3D"/>
                </a:solidFill>
                <a:latin typeface="Montserrat"/>
                <a:ea typeface="Montserrat"/>
                <a:cs typeface="Montserrat"/>
                <a:sym typeface="Montserrat"/>
              </a:rPr>
              <a:t>We could review the dataset and technical approach sooner to make the transition into Sprint 1 smoother.</a:t>
            </a:r>
            <a:endParaRPr b="0" i="0" sz="1875" u="none" cap="none" strike="noStrike">
              <a:solidFill>
                <a:srgbClr val="3D3D3D"/>
              </a:solidFill>
              <a:latin typeface="Montserrat"/>
              <a:ea typeface="Montserrat"/>
              <a:cs typeface="Montserrat"/>
              <a:sym typeface="Montserrat"/>
            </a:endParaRPr>
          </a:p>
          <a:p>
            <a:pPr indent="0" lvl="0" marL="0" marR="0" rtl="0" algn="l">
              <a:lnSpc>
                <a:spcPct val="118852"/>
              </a:lnSpc>
              <a:spcBef>
                <a:spcPts val="0"/>
              </a:spcBef>
              <a:spcAft>
                <a:spcPts val="0"/>
              </a:spcAft>
              <a:buClr>
                <a:srgbClr val="3D3D3D"/>
              </a:buClr>
              <a:buSzPts val="1875"/>
              <a:buFont typeface="Montserrat"/>
              <a:buNone/>
            </a:pPr>
            <a:r>
              <a:t/>
            </a:r>
            <a:endParaRPr sz="1875">
              <a:solidFill>
                <a:srgbClr val="3D3D3D"/>
              </a:solidFill>
              <a:latin typeface="Montserrat"/>
              <a:ea typeface="Montserrat"/>
              <a:cs typeface="Montserrat"/>
              <a:sym typeface="Montserrat"/>
            </a:endParaRPr>
          </a:p>
        </p:txBody>
      </p:sp>
      <p:sp>
        <p:nvSpPr>
          <p:cNvPr id="595" name="Google Shape;595;p20"/>
          <p:cNvSpPr/>
          <p:nvPr/>
        </p:nvSpPr>
        <p:spPr>
          <a:xfrm>
            <a:off x="11697891" y="2324100"/>
            <a:ext cx="5637609" cy="3505200"/>
          </a:xfrm>
          <a:prstGeom prst="roundRect">
            <a:avLst>
              <a:gd fmla="val 4348" name="adj"/>
            </a:avLst>
          </a:prstGeom>
          <a:solidFill>
            <a:srgbClr val="FDF4F1"/>
          </a:solidFill>
          <a:ln cap="flat" cmpd="sng" w="19050">
            <a:solidFill>
              <a:srgbClr val="B557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0"/>
          <p:cNvSpPr/>
          <p:nvPr/>
        </p:nvSpPr>
        <p:spPr>
          <a:xfrm>
            <a:off x="11974116" y="2600325"/>
            <a:ext cx="559367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D4531"/>
              </a:buClr>
              <a:buSzPts val="1800"/>
              <a:buFont typeface="Montserrat"/>
              <a:buNone/>
            </a:pPr>
            <a:r>
              <a:rPr b="1" i="0" lang="en-US" sz="1800" u="none" cap="none" strike="noStrike">
                <a:solidFill>
                  <a:srgbClr val="9D4531"/>
                </a:solidFill>
                <a:latin typeface="Montserrat"/>
                <a:ea typeface="Montserrat"/>
                <a:cs typeface="Montserrat"/>
                <a:sym typeface="Montserrat"/>
              </a:rPr>
              <a:t>ACTION 1 → SPRINT 1 BACKLOG</a:t>
            </a:r>
            <a:endParaRPr b="0" i="0" sz="1800" u="none" cap="none" strike="noStrike">
              <a:solidFill>
                <a:schemeClr val="dk1"/>
              </a:solidFill>
              <a:latin typeface="Calibri"/>
              <a:ea typeface="Calibri"/>
              <a:cs typeface="Calibri"/>
              <a:sym typeface="Calibri"/>
            </a:endParaRPr>
          </a:p>
        </p:txBody>
      </p:sp>
      <p:sp>
        <p:nvSpPr>
          <p:cNvPr id="597" name="Google Shape;597;p20"/>
          <p:cNvSpPr/>
          <p:nvPr/>
        </p:nvSpPr>
        <p:spPr>
          <a:xfrm>
            <a:off x="11974116" y="2990850"/>
            <a:ext cx="5237714"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11111"/>
              </a:buClr>
              <a:buSzPts val="1875"/>
              <a:buFont typeface="Montserrat"/>
              <a:buNone/>
            </a:pPr>
            <a:r>
              <a:rPr b="0" i="0" lang="en-US" sz="1875" u="none" cap="none" strike="noStrike">
                <a:solidFill>
                  <a:srgbClr val="111111"/>
                </a:solidFill>
                <a:latin typeface="Montserrat"/>
                <a:ea typeface="Montserrat"/>
                <a:cs typeface="Montserrat"/>
                <a:sym typeface="Montserrat"/>
              </a:rPr>
              <a:t>Finalize Sprint 1 task ownership and deadlines.</a:t>
            </a:r>
            <a:endParaRPr b="0" i="0" sz="1875" u="none" cap="none" strike="noStrike">
              <a:solidFill>
                <a:schemeClr val="dk1"/>
              </a:solidFill>
              <a:latin typeface="Calibri"/>
              <a:ea typeface="Calibri"/>
              <a:cs typeface="Calibri"/>
              <a:sym typeface="Calibri"/>
            </a:endParaRPr>
          </a:p>
        </p:txBody>
      </p:sp>
      <p:sp>
        <p:nvSpPr>
          <p:cNvPr id="598" name="Google Shape;598;p20"/>
          <p:cNvSpPr/>
          <p:nvPr/>
        </p:nvSpPr>
        <p:spPr>
          <a:xfrm>
            <a:off x="11974116" y="3795713"/>
            <a:ext cx="5593675"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Owner: Team Lead + all team members</a:t>
            </a:r>
            <a:endParaRPr b="0" i="0" sz="1875" u="none" cap="none" strike="noStrike">
              <a:solidFill>
                <a:schemeClr val="dk1"/>
              </a:solidFill>
              <a:latin typeface="Calibri"/>
              <a:ea typeface="Calibri"/>
              <a:cs typeface="Calibri"/>
              <a:sym typeface="Calibri"/>
            </a:endParaRPr>
          </a:p>
        </p:txBody>
      </p:sp>
      <p:sp>
        <p:nvSpPr>
          <p:cNvPr id="599" name="Google Shape;599;p20"/>
          <p:cNvSpPr/>
          <p:nvPr/>
        </p:nvSpPr>
        <p:spPr>
          <a:xfrm>
            <a:off x="11974116" y="4255294"/>
            <a:ext cx="5237714"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By when: Before Sprint 1 development begins.</a:t>
            </a:r>
            <a:endParaRPr b="0" i="0" sz="1875" u="none" cap="none" strike="noStrike">
              <a:solidFill>
                <a:schemeClr val="dk1"/>
              </a:solidFill>
              <a:latin typeface="Calibri"/>
              <a:ea typeface="Calibri"/>
              <a:cs typeface="Calibri"/>
              <a:sym typeface="Calibri"/>
            </a:endParaRPr>
          </a:p>
        </p:txBody>
      </p:sp>
      <p:sp>
        <p:nvSpPr>
          <p:cNvPr id="600" name="Google Shape;600;p20"/>
          <p:cNvSpPr/>
          <p:nvPr/>
        </p:nvSpPr>
        <p:spPr>
          <a:xfrm>
            <a:off x="11697891" y="6019800"/>
            <a:ext cx="5637609" cy="3505200"/>
          </a:xfrm>
          <a:prstGeom prst="roundRect">
            <a:avLst>
              <a:gd fmla="val 4348" name="adj"/>
            </a:avLst>
          </a:prstGeom>
          <a:solidFill>
            <a:srgbClr val="FDF4F1"/>
          </a:solidFill>
          <a:ln cap="flat" cmpd="sng" w="19050">
            <a:solidFill>
              <a:srgbClr val="B557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0"/>
          <p:cNvSpPr/>
          <p:nvPr/>
        </p:nvSpPr>
        <p:spPr>
          <a:xfrm>
            <a:off x="11974116" y="6296025"/>
            <a:ext cx="559367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D4531"/>
              </a:buClr>
              <a:buSzPts val="1800"/>
              <a:buFont typeface="Montserrat"/>
              <a:buNone/>
            </a:pPr>
            <a:r>
              <a:rPr b="1" i="0" lang="en-US" sz="1800" u="none" cap="none" strike="noStrike">
                <a:solidFill>
                  <a:srgbClr val="9D4531"/>
                </a:solidFill>
                <a:latin typeface="Montserrat"/>
                <a:ea typeface="Montserrat"/>
                <a:cs typeface="Montserrat"/>
                <a:sym typeface="Montserrat"/>
              </a:rPr>
              <a:t>ACTION 2 → SPRINT 1 BACKLOG</a:t>
            </a:r>
            <a:endParaRPr b="0" i="0" sz="1800" u="none" cap="none" strike="noStrike">
              <a:solidFill>
                <a:schemeClr val="dk1"/>
              </a:solidFill>
              <a:latin typeface="Calibri"/>
              <a:ea typeface="Calibri"/>
              <a:cs typeface="Calibri"/>
              <a:sym typeface="Calibri"/>
            </a:endParaRPr>
          </a:p>
        </p:txBody>
      </p:sp>
      <p:sp>
        <p:nvSpPr>
          <p:cNvPr id="602" name="Google Shape;602;p20"/>
          <p:cNvSpPr/>
          <p:nvPr/>
        </p:nvSpPr>
        <p:spPr>
          <a:xfrm>
            <a:off x="11974116" y="6686550"/>
            <a:ext cx="5237714"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11111"/>
              </a:buClr>
              <a:buSzPts val="1875"/>
              <a:buFont typeface="Montserrat"/>
              <a:buNone/>
            </a:pPr>
            <a:r>
              <a:rPr b="0" i="0" lang="en-US" sz="1875" u="none" cap="none" strike="noStrike">
                <a:solidFill>
                  <a:srgbClr val="111111"/>
                </a:solidFill>
                <a:latin typeface="Montserrat"/>
                <a:ea typeface="Montserrat"/>
                <a:cs typeface="Montserrat"/>
                <a:sym typeface="Montserrat"/>
              </a:rPr>
              <a:t>Review the dataset and establish the initial data pipeline/model baseline.</a:t>
            </a:r>
            <a:endParaRPr b="0" i="0" sz="1875" u="none" cap="none" strike="noStrike">
              <a:solidFill>
                <a:schemeClr val="dk1"/>
              </a:solidFill>
              <a:latin typeface="Calibri"/>
              <a:ea typeface="Calibri"/>
              <a:cs typeface="Calibri"/>
              <a:sym typeface="Calibri"/>
            </a:endParaRPr>
          </a:p>
        </p:txBody>
      </p:sp>
      <p:sp>
        <p:nvSpPr>
          <p:cNvPr id="603" name="Google Shape;603;p20"/>
          <p:cNvSpPr/>
          <p:nvPr/>
        </p:nvSpPr>
        <p:spPr>
          <a:xfrm>
            <a:off x="11974116" y="7491413"/>
            <a:ext cx="5593675"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Owner: Assigned ML/Data team members</a:t>
            </a:r>
            <a:endParaRPr b="0" i="0" sz="1875" u="none" cap="none" strike="noStrike">
              <a:solidFill>
                <a:schemeClr val="dk1"/>
              </a:solidFill>
              <a:latin typeface="Calibri"/>
              <a:ea typeface="Calibri"/>
              <a:cs typeface="Calibri"/>
              <a:sym typeface="Calibri"/>
            </a:endParaRPr>
          </a:p>
        </p:txBody>
      </p:sp>
      <p:sp>
        <p:nvSpPr>
          <p:cNvPr id="604" name="Google Shape;604;p20"/>
          <p:cNvSpPr/>
          <p:nvPr/>
        </p:nvSpPr>
        <p:spPr>
          <a:xfrm>
            <a:off x="11974116" y="7950994"/>
            <a:ext cx="5593675"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By when: During Sprint 1.</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111"/>
        </a:solidFill>
      </p:bgPr>
    </p:bg>
    <p:spTree>
      <p:nvGrpSpPr>
        <p:cNvPr id="609" name="Shape 609"/>
        <p:cNvGrpSpPr/>
        <p:nvPr/>
      </p:nvGrpSpPr>
      <p:grpSpPr>
        <a:xfrm>
          <a:off x="0" y="0"/>
          <a:ext cx="0" cy="0"/>
          <a:chOff x="0" y="0"/>
          <a:chExt cx="0" cy="0"/>
        </a:xfrm>
      </p:grpSpPr>
      <p:pic>
        <p:nvPicPr>
          <p:cNvPr descr="preencoded.png" id="610" name="Google Shape;610;p21"/>
          <p:cNvPicPr preferRelativeResize="0"/>
          <p:nvPr/>
        </p:nvPicPr>
        <p:blipFill rotWithShape="1">
          <a:blip r:embed="rId3">
            <a:alphaModFix/>
          </a:blip>
          <a:srcRect b="-3807" l="0" r="0" t="-3807"/>
          <a:stretch/>
        </p:blipFill>
        <p:spPr>
          <a:xfrm>
            <a:off x="857250" y="3459956"/>
            <a:ext cx="952500" cy="952500"/>
          </a:xfrm>
          <a:prstGeom prst="rect">
            <a:avLst/>
          </a:prstGeom>
          <a:noFill/>
          <a:ln>
            <a:noFill/>
          </a:ln>
        </p:spPr>
      </p:pic>
      <p:sp>
        <p:nvSpPr>
          <p:cNvPr id="611" name="Google Shape;611;p21"/>
          <p:cNvSpPr/>
          <p:nvPr/>
        </p:nvSpPr>
        <p:spPr>
          <a:xfrm>
            <a:off x="857250" y="4736306"/>
            <a:ext cx="817245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DB7F6"/>
              </a:buClr>
              <a:buSzPts val="1800"/>
              <a:buFont typeface="Montserrat"/>
              <a:buNone/>
            </a:pPr>
            <a:r>
              <a:rPr b="1" i="0" lang="en-US" sz="1800" u="none" cap="none" strike="noStrike">
                <a:solidFill>
                  <a:srgbClr val="7DB7F6"/>
                </a:solidFill>
                <a:latin typeface="Montserrat"/>
                <a:ea typeface="Montserrat"/>
                <a:cs typeface="Montserrat"/>
                <a:sym typeface="Montserrat"/>
              </a:rPr>
              <a:t>GROUP WIKI</a:t>
            </a:r>
            <a:endParaRPr b="0" i="0" sz="1800" u="none" cap="none" strike="noStrike">
              <a:solidFill>
                <a:schemeClr val="dk1"/>
              </a:solidFill>
              <a:latin typeface="Calibri"/>
              <a:ea typeface="Calibri"/>
              <a:cs typeface="Calibri"/>
              <a:sym typeface="Calibri"/>
            </a:endParaRPr>
          </a:p>
        </p:txBody>
      </p:sp>
      <p:sp>
        <p:nvSpPr>
          <p:cNvPr id="612" name="Google Shape;612;p21"/>
          <p:cNvSpPr/>
          <p:nvPr/>
        </p:nvSpPr>
        <p:spPr>
          <a:xfrm>
            <a:off x="857250" y="5336381"/>
            <a:ext cx="7429500" cy="866775"/>
          </a:xfrm>
          <a:prstGeom prst="roundRect">
            <a:avLst>
              <a:gd fmla="val 17582" name="adj"/>
            </a:avLst>
          </a:prstGeom>
          <a:noFill/>
          <a:ln cap="flat" cmpd="sng" w="9525">
            <a:solidFill>
              <a:srgbClr val="3D3D3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1"/>
          <p:cNvSpPr/>
          <p:nvPr/>
        </p:nvSpPr>
        <p:spPr>
          <a:xfrm>
            <a:off x="1190625" y="5612606"/>
            <a:ext cx="6985635"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5E5E5"/>
              </a:buClr>
              <a:buSzPts val="2025"/>
              <a:buFont typeface="Montserrat"/>
              <a:buNone/>
            </a:pPr>
            <a:r>
              <a:rPr b="0" i="0" lang="en-US" sz="2025" u="none" cap="none" strike="noStrike">
                <a:solidFill>
                  <a:srgbClr val="E5E5E5"/>
                </a:solidFill>
                <a:latin typeface="Montserrat"/>
                <a:ea typeface="Montserrat"/>
                <a:cs typeface="Montserrat"/>
                <a:sym typeface="Montserrat"/>
              </a:rPr>
              <a:t>https://github.com/htmw/F2026-Team1/wiki</a:t>
            </a:r>
            <a:endParaRPr b="0" i="0" sz="2025" u="none" cap="none" strike="noStrike">
              <a:solidFill>
                <a:schemeClr val="dk1"/>
              </a:solidFill>
              <a:latin typeface="Calibri"/>
              <a:ea typeface="Calibri"/>
              <a:cs typeface="Calibri"/>
              <a:sym typeface="Calibri"/>
            </a:endParaRPr>
          </a:p>
        </p:txBody>
      </p:sp>
      <p:sp>
        <p:nvSpPr>
          <p:cNvPr id="614" name="Google Shape;614;p21"/>
          <p:cNvSpPr/>
          <p:nvPr/>
        </p:nvSpPr>
        <p:spPr>
          <a:xfrm>
            <a:off x="857250" y="6527006"/>
            <a:ext cx="8172450"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5E5E5"/>
              </a:buClr>
              <a:buSzPts val="1950"/>
              <a:buFont typeface="Montserrat"/>
              <a:buNone/>
            </a:pPr>
            <a:r>
              <a:rPr b="0" i="0" lang="en-US" sz="1950" u="none" cap="none" strike="noStrike">
                <a:solidFill>
                  <a:srgbClr val="E5E5E5"/>
                </a:solidFill>
                <a:latin typeface="Montserrat"/>
                <a:ea typeface="Montserrat"/>
                <a:cs typeface="Montserrat"/>
                <a:sym typeface="Montserrat"/>
              </a:rPr>
              <a:t>Earlier Detection. Brighter Tomorrows.</a:t>
            </a:r>
            <a:endParaRPr b="0" i="0" sz="1950" u="none" cap="none" strike="noStrike">
              <a:solidFill>
                <a:schemeClr val="dk1"/>
              </a:solidFill>
              <a:latin typeface="Calibri"/>
              <a:ea typeface="Calibri"/>
              <a:cs typeface="Calibri"/>
              <a:sym typeface="Calibri"/>
            </a:endParaRPr>
          </a:p>
        </p:txBody>
      </p:sp>
      <p:sp>
        <p:nvSpPr>
          <p:cNvPr id="615" name="Google Shape;615;p21"/>
          <p:cNvSpPr/>
          <p:nvPr/>
        </p:nvSpPr>
        <p:spPr>
          <a:xfrm>
            <a:off x="11163300" y="3933825"/>
            <a:ext cx="2419350" cy="2419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6" name="Google Shape;616;p21"/>
          <p:cNvPicPr preferRelativeResize="0"/>
          <p:nvPr/>
        </p:nvPicPr>
        <p:blipFill rotWithShape="1">
          <a:blip r:embed="rId4">
            <a:alphaModFix/>
          </a:blip>
          <a:srcRect b="0" l="0" r="0" t="0"/>
          <a:stretch/>
        </p:blipFill>
        <p:spPr>
          <a:xfrm>
            <a:off x="11182350" y="3952875"/>
            <a:ext cx="2381250" cy="2381250"/>
          </a:xfrm>
          <a:prstGeom prst="rect">
            <a:avLst/>
          </a:prstGeom>
          <a:noFill/>
          <a:ln>
            <a:noFill/>
          </a:ln>
        </p:spPr>
      </p:pic>
      <p:sp>
        <p:nvSpPr>
          <p:cNvPr id="617" name="Google Shape;617;p21"/>
          <p:cNvSpPr/>
          <p:nvPr/>
        </p:nvSpPr>
        <p:spPr>
          <a:xfrm>
            <a:off x="13849350" y="3933825"/>
            <a:ext cx="2419350" cy="2419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8" name="Google Shape;618;p21"/>
          <p:cNvPicPr preferRelativeResize="0"/>
          <p:nvPr/>
        </p:nvPicPr>
        <p:blipFill rotWithShape="1">
          <a:blip r:embed="rId5">
            <a:alphaModFix/>
          </a:blip>
          <a:srcRect b="0" l="0" r="0" t="0"/>
          <a:stretch/>
        </p:blipFill>
        <p:spPr>
          <a:xfrm>
            <a:off x="13868400" y="3952875"/>
            <a:ext cx="2381250" cy="2381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111"/>
        </a:solidFill>
      </p:bgPr>
    </p:bg>
    <p:spTree>
      <p:nvGrpSpPr>
        <p:cNvPr id="623" name="Shape 623"/>
        <p:cNvGrpSpPr/>
        <p:nvPr/>
      </p:nvGrpSpPr>
      <p:grpSpPr>
        <a:xfrm>
          <a:off x="0" y="0"/>
          <a:ext cx="0" cy="0"/>
          <a:chOff x="0" y="0"/>
          <a:chExt cx="0" cy="0"/>
        </a:xfrm>
      </p:grpSpPr>
      <p:pic>
        <p:nvPicPr>
          <p:cNvPr descr="preencoded.png" id="624" name="Google Shape;624;p22"/>
          <p:cNvPicPr preferRelativeResize="0"/>
          <p:nvPr/>
        </p:nvPicPr>
        <p:blipFill rotWithShape="1">
          <a:blip r:embed="rId3">
            <a:alphaModFix/>
          </a:blip>
          <a:srcRect b="-3807" l="0" r="0" t="-3807"/>
          <a:stretch/>
        </p:blipFill>
        <p:spPr>
          <a:xfrm>
            <a:off x="8572500" y="3355181"/>
            <a:ext cx="1143000" cy="1143000"/>
          </a:xfrm>
          <a:prstGeom prst="rect">
            <a:avLst/>
          </a:prstGeom>
          <a:noFill/>
          <a:ln>
            <a:noFill/>
          </a:ln>
        </p:spPr>
      </p:pic>
      <p:sp>
        <p:nvSpPr>
          <p:cNvPr id="625" name="Google Shape;625;p22"/>
          <p:cNvSpPr/>
          <p:nvPr/>
        </p:nvSpPr>
        <p:spPr>
          <a:xfrm>
            <a:off x="6520011" y="4879181"/>
            <a:ext cx="5772693" cy="952500"/>
          </a:xfrm>
          <a:prstGeom prst="rect">
            <a:avLst/>
          </a:prstGeom>
          <a:noFill/>
          <a:ln>
            <a:noFill/>
          </a:ln>
        </p:spPr>
        <p:txBody>
          <a:bodyPr anchorCtr="0" anchor="t" bIns="25400" lIns="25400" spcFirstLastPara="1" rIns="25400" wrap="square" tIns="25400">
            <a:noAutofit/>
          </a:bodyPr>
          <a:lstStyle/>
          <a:p>
            <a:pPr indent="0" lvl="0" marL="0" marR="0" rtl="0" algn="l">
              <a:lnSpc>
                <a:spcPct val="82051"/>
              </a:lnSpc>
              <a:spcBef>
                <a:spcPts val="0"/>
              </a:spcBef>
              <a:spcAft>
                <a:spcPts val="0"/>
              </a:spcAft>
              <a:buClr>
                <a:srgbClr val="FFFFFF"/>
              </a:buClr>
              <a:buSzPts val="7200"/>
              <a:buFont typeface="Montserrat"/>
              <a:buNone/>
            </a:pPr>
            <a:r>
              <a:rPr b="1" i="0" lang="en-US" sz="7200" u="none" cap="none" strike="noStrike">
                <a:solidFill>
                  <a:srgbClr val="FFFFFF"/>
                </a:solidFill>
                <a:latin typeface="Montserrat"/>
                <a:ea typeface="Montserrat"/>
                <a:cs typeface="Montserrat"/>
                <a:sym typeface="Montserrat"/>
              </a:rPr>
              <a:t>Thank you</a:t>
            </a:r>
            <a:endParaRPr b="0" i="0" sz="7200" u="none" cap="none" strike="noStrike">
              <a:solidFill>
                <a:schemeClr val="dk1"/>
              </a:solidFill>
              <a:latin typeface="Calibri"/>
              <a:ea typeface="Calibri"/>
              <a:cs typeface="Calibri"/>
              <a:sym typeface="Calibri"/>
            </a:endParaRPr>
          </a:p>
        </p:txBody>
      </p:sp>
      <p:sp>
        <p:nvSpPr>
          <p:cNvPr id="626" name="Google Shape;626;p22"/>
          <p:cNvSpPr/>
          <p:nvPr/>
        </p:nvSpPr>
        <p:spPr>
          <a:xfrm>
            <a:off x="8572500" y="6174581"/>
            <a:ext cx="1143000" cy="28575"/>
          </a:xfrm>
          <a:prstGeom prst="rect">
            <a:avLst/>
          </a:prstGeom>
          <a:solidFill>
            <a:srgbClr val="7DB7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2"/>
          <p:cNvSpPr/>
          <p:nvPr/>
        </p:nvSpPr>
        <p:spPr>
          <a:xfrm>
            <a:off x="8111728" y="6584156"/>
            <a:ext cx="2270916" cy="385763"/>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5E5E5"/>
              </a:buClr>
              <a:buSzPts val="2250"/>
              <a:buFont typeface="Montserrat"/>
              <a:buNone/>
            </a:pPr>
            <a:r>
              <a:rPr b="0" i="0" lang="en-US" sz="2250" u="none" cap="none" strike="noStrike">
                <a:solidFill>
                  <a:srgbClr val="E5E5E5"/>
                </a:solidFill>
                <a:latin typeface="Montserrat"/>
                <a:ea typeface="Montserrat"/>
                <a:cs typeface="Montserrat"/>
                <a:sym typeface="Montserrat"/>
              </a:rPr>
              <a:t>TEAM EYEQ</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